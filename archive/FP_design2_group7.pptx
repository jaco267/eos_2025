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3.png" ContentType="image/png"/>
  <Override PartName="/ppt/media/image22.png" ContentType="image/png"/>
  <Override PartName="/ppt/media/image21.png" ContentType="image/png"/>
  <Override PartName="/ppt/media/image19.png" ContentType="image/png"/>
  <Override PartName="/ppt/media/image11.png" ContentType="image/png"/>
  <Override PartName="/ppt/media/image2.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7.png" ContentType="image/png"/>
  <Override PartName="/ppt/media/image1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E2019348-9E16-492C-9245-8C5B968E41AD}"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E028080B-E633-4ED7-A2D0-FCCA0CE2B0E1}"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7C438066-1884-4B69-85EB-10B047EC7969}"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2A37D66F-D0AA-49A1-9D53-F68FF2F52DB0}"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D0C519C4-E440-4DF2-8D9C-3E9A65D1FAE1}"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9"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19ABC3DF-A5A3-43EC-A486-80332E00FF73}"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7"/>
          </p:nvPr>
        </p:nvSpPr>
        <p:spPr/>
        <p:txBody>
          <a:bodyPr/>
          <a:p>
            <a:fld id="{09121CA8-D122-45AE-9833-3B373D035CDC}"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C27B380B-9451-4146-93F2-BFBE360EC8F2}"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4F8BC663-8D22-4D20-A843-C48F1998ED68}"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464F83FF-D97D-4A99-B428-811525F224DD}"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6EC50570-FB78-4199-B8BB-E7AA65059FC0}"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buNone/>
            </a:pPr>
            <a:r>
              <a:rPr b="0" lang="en-US" sz="5200" spc="-1" strike="noStrike">
                <a:solidFill>
                  <a:srgbClr val="000000"/>
                </a:solidFill>
                <a:latin typeface="Arial"/>
              </a:rPr>
              <a:t>Cli</a:t>
            </a:r>
            <a:r>
              <a:rPr b="0" lang="en-US" sz="5200" spc="-1" strike="noStrike">
                <a:solidFill>
                  <a:srgbClr val="000000"/>
                </a:solidFill>
                <a:latin typeface="Arial"/>
              </a:rPr>
              <a:t>ck </a:t>
            </a:r>
            <a:r>
              <a:rPr b="0" lang="en-US" sz="5200" spc="-1" strike="noStrike">
                <a:solidFill>
                  <a:srgbClr val="000000"/>
                </a:solidFill>
                <a:latin typeface="Arial"/>
              </a:rPr>
              <a:t>to </a:t>
            </a:r>
            <a:r>
              <a:rPr b="0" lang="en-US" sz="5200" spc="-1" strike="noStrike">
                <a:solidFill>
                  <a:srgbClr val="000000"/>
                </a:solidFill>
                <a:latin typeface="Arial"/>
              </a:rPr>
              <a:t>ed</a:t>
            </a:r>
            <a:r>
              <a:rPr b="0" lang="en-US" sz="5200" spc="-1" strike="noStrike">
                <a:solidFill>
                  <a:srgbClr val="000000"/>
                </a:solidFill>
                <a:latin typeface="Arial"/>
              </a:rPr>
              <a:t>it </a:t>
            </a:r>
            <a:r>
              <a:rPr b="0" lang="en-US" sz="5200" spc="-1" strike="noStrike">
                <a:solidFill>
                  <a:srgbClr val="000000"/>
                </a:solidFill>
                <a:latin typeface="Arial"/>
              </a:rPr>
              <a:t>th</a:t>
            </a:r>
            <a:r>
              <a:rPr b="0" lang="en-US" sz="5200" spc="-1" strike="noStrike">
                <a:solidFill>
                  <a:srgbClr val="000000"/>
                </a:solidFill>
                <a:latin typeface="Arial"/>
              </a:rPr>
              <a:t>e </a:t>
            </a:r>
            <a:r>
              <a:rPr b="0" lang="en-US" sz="5200" spc="-1" strike="noStrike">
                <a:solidFill>
                  <a:srgbClr val="000000"/>
                </a:solidFill>
                <a:latin typeface="Arial"/>
              </a:rPr>
              <a:t>titl</a:t>
            </a:r>
            <a:r>
              <a:rPr b="0" lang="en-US" sz="5200" spc="-1" strike="noStrike">
                <a:solidFill>
                  <a:srgbClr val="000000"/>
                </a:solidFill>
                <a:latin typeface="Arial"/>
              </a:rPr>
              <a:t>e </a:t>
            </a:r>
            <a:r>
              <a:rPr b="0" lang="en-US" sz="5200" spc="-1" strike="noStrike">
                <a:solidFill>
                  <a:srgbClr val="000000"/>
                </a:solidFill>
                <a:latin typeface="Arial"/>
              </a:rPr>
              <a:t>te</a:t>
            </a:r>
            <a:r>
              <a:rPr b="0" lang="en-US" sz="5200" spc="-1" strike="noStrike">
                <a:solidFill>
                  <a:srgbClr val="000000"/>
                </a:solidFill>
                <a:latin typeface="Arial"/>
              </a:rPr>
              <a:t>xt </a:t>
            </a:r>
            <a:r>
              <a:rPr b="0" lang="en-US" sz="5200" spc="-1" strike="noStrike">
                <a:solidFill>
                  <a:srgbClr val="000000"/>
                </a:solidFill>
                <a:latin typeface="Arial"/>
              </a:rPr>
              <a:t>for</a:t>
            </a:r>
            <a:r>
              <a:rPr b="0" lang="en-US" sz="5200" spc="-1" strike="noStrike">
                <a:solidFill>
                  <a:srgbClr val="000000"/>
                </a:solidFill>
                <a:latin typeface="Arial"/>
              </a:rPr>
              <a:t>m</a:t>
            </a:r>
            <a:r>
              <a:rPr b="0" lang="en-US" sz="5200" spc="-1" strike="noStrike">
                <a:solidFill>
                  <a:srgbClr val="000000"/>
                </a:solidFill>
                <a:latin typeface="Arial"/>
              </a:rPr>
              <a:t>at</a:t>
            </a:r>
            <a:endParaRPr b="0" lang="en-US" sz="5200" spc="-1" strike="noStrike">
              <a:solidFill>
                <a:srgbClr val="000000"/>
              </a:solidFill>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9B13C82E-45FE-4A38-A8C5-62B35840C5A8}"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rmAutofit fontScale="98341"/>
          </a:bodyPr>
          <a:p>
            <a:pPr indent="0" algn="ctr">
              <a:lnSpc>
                <a:spcPct val="100000"/>
              </a:lnSpc>
              <a:buNone/>
            </a:pPr>
            <a:r>
              <a:rPr b="0" lang="en-US" sz="12000" spc="-1" strike="noStrike">
                <a:solidFill>
                  <a:schemeClr val="dk1"/>
                </a:solidFill>
                <a:latin typeface="Arial"/>
                <a:ea typeface="Arial"/>
              </a:rPr>
              <a:t>xx%</a:t>
            </a:r>
            <a:endParaRPr b="0" lang="en-US" sz="12000" spc="-1" strike="noStrike">
              <a:solidFill>
                <a:srgbClr val="000000"/>
              </a:solidFill>
              <a:latin typeface="Arial"/>
            </a:endParaRPr>
          </a:p>
        </p:txBody>
      </p:sp>
      <p:sp>
        <p:nvSpPr>
          <p:cNvPr id="5"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7A3ECF82-24B8-4AA9-B071-A4CAE86ED63D}"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B779FB7A-9C2C-420F-A992-8426AD03060F}"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rmAutofit/>
          </a:bodyPr>
          <a:p>
            <a:pPr indent="0">
              <a:buNone/>
            </a:pPr>
            <a:r>
              <a:rPr b="0" lang="en-US" sz="3600" spc="-1" strike="noStrike">
                <a:solidFill>
                  <a:srgbClr val="000000"/>
                </a:solidFill>
                <a:latin typeface="Arial"/>
              </a:rPr>
              <a:t>Click to </a:t>
            </a:r>
            <a:r>
              <a:rPr b="0" lang="en-US" sz="3600" spc="-1" strike="noStrike">
                <a:solidFill>
                  <a:srgbClr val="000000"/>
                </a:solidFill>
                <a:latin typeface="Arial"/>
              </a:rPr>
              <a:t>edit the title </a:t>
            </a:r>
            <a:r>
              <a:rPr b="0" lang="en-US" sz="3600" spc="-1" strike="noStrike">
                <a:solidFill>
                  <a:srgbClr val="000000"/>
                </a:solidFill>
                <a:latin typeface="Arial"/>
              </a:rPr>
              <a:t>text format</a:t>
            </a:r>
            <a:endParaRPr b="0" lang="en-US" sz="3600" spc="-1" strike="noStrike">
              <a:solidFill>
                <a:srgbClr val="000000"/>
              </a:solidFill>
              <a:latin typeface="Arial"/>
            </a:endParaRPr>
          </a:p>
        </p:txBody>
      </p:sp>
      <p:sp>
        <p:nvSpPr>
          <p:cNvPr id="9"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081DDBC8-10E6-46AC-B2CD-542989B8AC97}"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a:t>
            </a:r>
            <a:r>
              <a:rPr b="0" lang="en-US" sz="2800" spc="-1" strike="noStrike">
                <a:solidFill>
                  <a:srgbClr val="000000"/>
                </a:solidFill>
                <a:latin typeface="Arial"/>
              </a:rPr>
              <a:t>l</a:t>
            </a:r>
            <a:r>
              <a:rPr b="0" lang="en-US" sz="2800" spc="-1" strike="noStrike">
                <a:solidFill>
                  <a:srgbClr val="000000"/>
                </a:solidFill>
                <a:latin typeface="Arial"/>
              </a:rPr>
              <a:t>i</a:t>
            </a:r>
            <a:r>
              <a:rPr b="0" lang="en-US" sz="2800" spc="-1" strike="noStrike">
                <a:solidFill>
                  <a:srgbClr val="000000"/>
                </a:solidFill>
                <a:latin typeface="Arial"/>
              </a:rPr>
              <a:t>c</a:t>
            </a:r>
            <a:r>
              <a:rPr b="0" lang="en-US" sz="2800" spc="-1" strike="noStrike">
                <a:solidFill>
                  <a:srgbClr val="000000"/>
                </a:solidFill>
                <a:latin typeface="Arial"/>
              </a:rPr>
              <a:t>k</a:t>
            </a:r>
            <a:r>
              <a:rPr b="0" lang="en-US" sz="2800" spc="-1" strike="noStrike">
                <a:solidFill>
                  <a:srgbClr val="000000"/>
                </a:solidFill>
                <a:latin typeface="Arial"/>
              </a:rPr>
              <a:t> </a:t>
            </a:r>
            <a:r>
              <a:rPr b="0" lang="en-US" sz="2800" spc="-1" strike="noStrike">
                <a:solidFill>
                  <a:srgbClr val="000000"/>
                </a:solidFill>
                <a:latin typeface="Arial"/>
              </a:rPr>
              <a:t>t</a:t>
            </a:r>
            <a:r>
              <a:rPr b="0" lang="en-US" sz="2800" spc="-1" strike="noStrike">
                <a:solidFill>
                  <a:srgbClr val="000000"/>
                </a:solidFill>
                <a:latin typeface="Arial"/>
              </a:rPr>
              <a:t>o</a:t>
            </a:r>
            <a:r>
              <a:rPr b="0" lang="en-US" sz="2800" spc="-1" strike="noStrike">
                <a:solidFill>
                  <a:srgbClr val="000000"/>
                </a:solidFill>
                <a:latin typeface="Arial"/>
              </a:rPr>
              <a:t> </a:t>
            </a:r>
            <a:r>
              <a:rPr b="0" lang="en-US" sz="2800" spc="-1" strike="noStrike">
                <a:solidFill>
                  <a:srgbClr val="000000"/>
                </a:solidFill>
                <a:latin typeface="Arial"/>
              </a:rPr>
              <a:t>e</a:t>
            </a:r>
            <a:r>
              <a:rPr b="0" lang="en-US" sz="2800" spc="-1" strike="noStrike">
                <a:solidFill>
                  <a:srgbClr val="000000"/>
                </a:solidFill>
                <a:latin typeface="Arial"/>
              </a:rPr>
              <a:t>d</a:t>
            </a:r>
            <a:r>
              <a:rPr b="0" lang="en-US" sz="2800" spc="-1" strike="noStrike">
                <a:solidFill>
                  <a:srgbClr val="000000"/>
                </a:solidFill>
                <a:latin typeface="Arial"/>
              </a:rPr>
              <a:t>i</a:t>
            </a:r>
            <a:r>
              <a:rPr b="0" lang="en-US" sz="2800" spc="-1" strike="noStrike">
                <a:solidFill>
                  <a:srgbClr val="000000"/>
                </a:solidFill>
                <a:latin typeface="Arial"/>
              </a:rPr>
              <a:t>t</a:t>
            </a:r>
            <a:r>
              <a:rPr b="0" lang="en-US" sz="2800" spc="-1" strike="noStrike">
                <a:solidFill>
                  <a:srgbClr val="000000"/>
                </a:solidFill>
                <a:latin typeface="Arial"/>
              </a:rPr>
              <a:t> </a:t>
            </a:r>
            <a:r>
              <a:rPr b="0" lang="en-US" sz="2800" spc="-1" strike="noStrike">
                <a:solidFill>
                  <a:srgbClr val="000000"/>
                </a:solidFill>
                <a:latin typeface="Arial"/>
              </a:rPr>
              <a:t>t</a:t>
            </a:r>
            <a:r>
              <a:rPr b="0" lang="en-US" sz="2800" spc="-1" strike="noStrike">
                <a:solidFill>
                  <a:srgbClr val="000000"/>
                </a:solidFill>
                <a:latin typeface="Arial"/>
              </a:rPr>
              <a:t>h</a:t>
            </a:r>
            <a:r>
              <a:rPr b="0" lang="en-US" sz="2800" spc="-1" strike="noStrike">
                <a:solidFill>
                  <a:srgbClr val="000000"/>
                </a:solidFill>
                <a:latin typeface="Arial"/>
              </a:rPr>
              <a:t>e</a:t>
            </a:r>
            <a:r>
              <a:rPr b="0" lang="en-US" sz="2800" spc="-1" strike="noStrike">
                <a:solidFill>
                  <a:srgbClr val="000000"/>
                </a:solidFill>
                <a:latin typeface="Arial"/>
              </a:rPr>
              <a:t> </a:t>
            </a:r>
            <a:r>
              <a:rPr b="0" lang="en-US" sz="2800" spc="-1" strike="noStrike">
                <a:solidFill>
                  <a:srgbClr val="000000"/>
                </a:solidFill>
                <a:latin typeface="Arial"/>
              </a:rPr>
              <a:t>t</a:t>
            </a:r>
            <a:r>
              <a:rPr b="0" lang="en-US" sz="2800" spc="-1" strike="noStrike">
                <a:solidFill>
                  <a:srgbClr val="000000"/>
                </a:solidFill>
                <a:latin typeface="Arial"/>
              </a:rPr>
              <a:t>i</a:t>
            </a:r>
            <a:r>
              <a:rPr b="0" lang="en-US" sz="2800" spc="-1" strike="noStrike">
                <a:solidFill>
                  <a:srgbClr val="000000"/>
                </a:solidFill>
                <a:latin typeface="Arial"/>
              </a:rPr>
              <a:t>t</a:t>
            </a:r>
            <a:r>
              <a:rPr b="0" lang="en-US" sz="2800" spc="-1" strike="noStrike">
                <a:solidFill>
                  <a:srgbClr val="000000"/>
                </a:solidFill>
                <a:latin typeface="Arial"/>
              </a:rPr>
              <a:t>l</a:t>
            </a:r>
            <a:r>
              <a:rPr b="0" lang="en-US" sz="2800" spc="-1" strike="noStrike">
                <a:solidFill>
                  <a:srgbClr val="000000"/>
                </a:solidFill>
                <a:latin typeface="Arial"/>
              </a:rPr>
              <a:t>e</a:t>
            </a:r>
            <a:r>
              <a:rPr b="0" lang="en-US" sz="2800" spc="-1" strike="noStrike">
                <a:solidFill>
                  <a:srgbClr val="000000"/>
                </a:solidFill>
                <a:latin typeface="Arial"/>
              </a:rPr>
              <a:t> </a:t>
            </a:r>
            <a:r>
              <a:rPr b="0" lang="en-US" sz="2800" spc="-1" strike="noStrike">
                <a:solidFill>
                  <a:srgbClr val="000000"/>
                </a:solidFill>
                <a:latin typeface="Arial"/>
              </a:rPr>
              <a:t>t</a:t>
            </a:r>
            <a:r>
              <a:rPr b="0" lang="en-US" sz="2800" spc="-1" strike="noStrike">
                <a:solidFill>
                  <a:srgbClr val="000000"/>
                </a:solidFill>
                <a:latin typeface="Arial"/>
              </a:rPr>
              <a:t>e</a:t>
            </a:r>
            <a:r>
              <a:rPr b="0" lang="en-US" sz="2800" spc="-1" strike="noStrike">
                <a:solidFill>
                  <a:srgbClr val="000000"/>
                </a:solidFill>
                <a:latin typeface="Arial"/>
              </a:rPr>
              <a:t>x</a:t>
            </a:r>
            <a:r>
              <a:rPr b="0" lang="en-US" sz="2800" spc="-1" strike="noStrike">
                <a:solidFill>
                  <a:srgbClr val="000000"/>
                </a:solidFill>
                <a:latin typeface="Arial"/>
              </a:rPr>
              <a:t>t</a:t>
            </a:r>
            <a:r>
              <a:rPr b="0" lang="en-US" sz="2800" spc="-1" strike="noStrike">
                <a:solidFill>
                  <a:srgbClr val="000000"/>
                </a:solidFill>
                <a:latin typeface="Arial"/>
              </a:rPr>
              <a:t> </a:t>
            </a:r>
            <a:r>
              <a:rPr b="0" lang="en-US" sz="2800" spc="-1" strike="noStrike">
                <a:solidFill>
                  <a:srgbClr val="000000"/>
                </a:solidFill>
                <a:latin typeface="Arial"/>
              </a:rPr>
              <a:t>f</a:t>
            </a:r>
            <a:r>
              <a:rPr b="0" lang="en-US" sz="2800" spc="-1" strike="noStrike">
                <a:solidFill>
                  <a:srgbClr val="000000"/>
                </a:solidFill>
                <a:latin typeface="Arial"/>
              </a:rPr>
              <a:t>o</a:t>
            </a:r>
            <a:r>
              <a:rPr b="0" lang="en-US" sz="2800" spc="-1" strike="noStrike">
                <a:solidFill>
                  <a:srgbClr val="000000"/>
                </a:solidFill>
                <a:latin typeface="Arial"/>
              </a:rPr>
              <a:t>r</a:t>
            </a:r>
            <a:r>
              <a:rPr b="0" lang="en-US" sz="2800" spc="-1" strike="noStrike">
                <a:solidFill>
                  <a:srgbClr val="000000"/>
                </a:solidFill>
                <a:latin typeface="Arial"/>
              </a:rPr>
              <a:t>m</a:t>
            </a:r>
            <a:r>
              <a:rPr b="0" lang="en-US" sz="2800" spc="-1" strike="noStrike">
                <a:solidFill>
                  <a:srgbClr val="000000"/>
                </a:solidFill>
                <a:latin typeface="Arial"/>
              </a:rPr>
              <a:t>a</a:t>
            </a:r>
            <a:r>
              <a:rPr b="0" lang="en-US" sz="2800" spc="-1" strike="noStrike">
                <a:solidFill>
                  <a:srgbClr val="000000"/>
                </a:solidFill>
                <a:latin typeface="Arial"/>
              </a:rPr>
              <a:t>t</a:t>
            </a:r>
            <a:endParaRPr b="0" lang="en-US" sz="2800" spc="-1" strike="noStrike">
              <a:solidFill>
                <a:srgbClr val="000000"/>
              </a:solidFill>
              <a:latin typeface="Arial"/>
            </a:endParaRPr>
          </a:p>
        </p:txBody>
      </p:sp>
      <p:sp>
        <p:nvSpPr>
          <p:cNvPr id="11"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166BCC52-6FE6-4FF5-866D-8D1DB193A509}"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16"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7" name="PlaceHolder 3"/>
          <p:cNvSpPr>
            <a:spLocks noGrp="1"/>
          </p:cNvSpPr>
          <p:nvPr>
            <p:ph type="body"/>
          </p:nvPr>
        </p:nvSpPr>
        <p:spPr>
          <a:xfrm>
            <a:off x="483228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8"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B57E6556-012F-42EF-BED7-78C407D837C0}"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23"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EB2C2FDE-4969-4722-BD32-19DF52954BBB}"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81218"/>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26"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rmAutofit fontScale="35861"/>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27"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5552D5AD-2043-4FC1-B4C8-7086450E7287}"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29"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7EA43DCF-610D-4B5F-90F3-65C331D4BC51}"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0"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1"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32"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F512F174-497A-40BF-9A09-75FAC8A4C7DF}"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3FF2D724-0C48-4417-AF2C-08E5F99BEB1B}"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311760" y="1140840"/>
            <a:ext cx="8520120" cy="2059920"/>
          </a:xfrm>
          <a:prstGeom prst="rect">
            <a:avLst/>
          </a:prstGeom>
          <a:noFill/>
          <a:ln w="0">
            <a:noFill/>
          </a:ln>
        </p:spPr>
        <p:txBody>
          <a:bodyPr lIns="91440" rIns="91440" tIns="91440" bIns="91440" anchor="t">
            <a:normAutofit/>
          </a:bodyPr>
          <a:p>
            <a:pPr indent="0">
              <a:lnSpc>
                <a:spcPct val="100000"/>
              </a:lnSpc>
              <a:buNone/>
              <a:tabLst>
                <a:tab algn="l" pos="0"/>
              </a:tabLst>
            </a:pPr>
            <a:r>
              <a:rPr b="1" lang="zh-TW" sz="3600" spc="-1" strike="noStrike">
                <a:solidFill>
                  <a:schemeClr val="dk1"/>
                </a:solidFill>
                <a:latin typeface="Arial"/>
                <a:ea typeface="Arial"/>
              </a:rPr>
              <a:t>期末專題</a:t>
            </a:r>
            <a:endParaRPr b="0" lang="en-US" sz="3600" spc="-1" strike="noStrike">
              <a:solidFill>
                <a:srgbClr val="000000"/>
              </a:solidFill>
              <a:latin typeface="Arial"/>
            </a:endParaRPr>
          </a:p>
          <a:p>
            <a:pPr indent="0">
              <a:lnSpc>
                <a:spcPct val="115000"/>
              </a:lnSpc>
              <a:buNone/>
              <a:tabLst>
                <a:tab algn="l" pos="0"/>
              </a:tabLst>
            </a:pPr>
            <a:r>
              <a:rPr b="1" lang="zh-TW" sz="3600" spc="-1" strike="noStrike">
                <a:solidFill>
                  <a:schemeClr val="dk1"/>
                </a:solidFill>
                <a:latin typeface="Arial"/>
                <a:ea typeface="Arial"/>
              </a:rPr>
              <a:t>讀書室預約系統   </a:t>
            </a:r>
            <a:endParaRPr b="0" lang="en-US" sz="3600" spc="-1" strike="noStrike">
              <a:solidFill>
                <a:srgbClr val="000000"/>
              </a:solidFill>
              <a:latin typeface="Arial"/>
            </a:endParaRPr>
          </a:p>
          <a:p>
            <a:pPr indent="0">
              <a:lnSpc>
                <a:spcPct val="100000"/>
              </a:lnSpc>
              <a:spcBef>
                <a:spcPts val="1199"/>
              </a:spcBef>
              <a:buNone/>
              <a:tabLst>
                <a:tab algn="l" pos="0"/>
              </a:tabLst>
            </a:pPr>
            <a:endParaRPr b="0" lang="en-US" sz="2800" spc="-1" strike="noStrike">
              <a:solidFill>
                <a:srgbClr val="000000"/>
              </a:solidFill>
              <a:latin typeface="Arial"/>
            </a:endParaRPr>
          </a:p>
        </p:txBody>
      </p:sp>
      <p:sp>
        <p:nvSpPr>
          <p:cNvPr id="37" name="PlaceHolder 2"/>
          <p:cNvSpPr>
            <a:spLocks noGrp="1"/>
          </p:cNvSpPr>
          <p:nvPr>
            <p:ph/>
          </p:nvPr>
        </p:nvSpPr>
        <p:spPr>
          <a:xfrm>
            <a:off x="1709280" y="4212720"/>
            <a:ext cx="7351200" cy="464400"/>
          </a:xfrm>
          <a:prstGeom prst="rect">
            <a:avLst/>
          </a:prstGeom>
          <a:noFill/>
          <a:ln w="0">
            <a:noFill/>
          </a:ln>
        </p:spPr>
        <p:txBody>
          <a:bodyPr lIns="91440" rIns="91440" tIns="91440" bIns="91440" anchor="t">
            <a:noAutofit/>
          </a:bodyPr>
          <a:p>
            <a:pPr indent="0" algn="ctr">
              <a:lnSpc>
                <a:spcPct val="95000"/>
              </a:lnSpc>
              <a:spcAft>
                <a:spcPts val="1199"/>
              </a:spcAft>
              <a:buNone/>
              <a:tabLst>
                <a:tab algn="l" pos="0"/>
              </a:tabLst>
            </a:pPr>
            <a:r>
              <a:rPr b="0" lang="en-US" sz="1850" spc="-1" strike="noStrike">
                <a:solidFill>
                  <a:schemeClr val="dk1"/>
                </a:solidFill>
                <a:latin typeface="Arial"/>
                <a:ea typeface="Arial"/>
              </a:rPr>
              <a:t>Members(group7) : </a:t>
            </a:r>
            <a:r>
              <a:rPr b="0" lang="zh-TW" sz="1850" spc="-1" strike="noStrike">
                <a:solidFill>
                  <a:schemeClr val="dk1"/>
                </a:solidFill>
                <a:latin typeface="Arial"/>
                <a:ea typeface="Arial"/>
              </a:rPr>
              <a:t>洪翊庭 朱嘉祥 謝佳鴻      授課教授 </a:t>
            </a:r>
            <a:r>
              <a:rPr b="0" lang="en-US" sz="1850" spc="-1" strike="noStrike">
                <a:solidFill>
                  <a:schemeClr val="dk1"/>
                </a:solidFill>
                <a:latin typeface="Arial"/>
                <a:ea typeface="Arial"/>
              </a:rPr>
              <a:t>: </a:t>
            </a:r>
            <a:r>
              <a:rPr b="0" lang="zh-TW" sz="1850" spc="-1" strike="noStrike">
                <a:solidFill>
                  <a:schemeClr val="dk1"/>
                </a:solidFill>
                <a:latin typeface="Arial"/>
                <a:ea typeface="Arial"/>
              </a:rPr>
              <a:t>黃育綸 </a:t>
            </a:r>
            <a:endParaRPr b="0" lang="en-US" sz="1850" spc="-1" strike="noStrike">
              <a:solidFill>
                <a:srgbClr val="000000"/>
              </a:solidFill>
              <a:latin typeface="Arial"/>
            </a:endParaRPr>
          </a:p>
        </p:txBody>
      </p:sp>
      <p:cxnSp>
        <p:nvCxnSpPr>
          <p:cNvPr id="38" name="Google Shape;56;p13"/>
          <p:cNvCxnSpPr/>
          <p:nvPr/>
        </p:nvCxnSpPr>
        <p:spPr>
          <a:xfrm flipV="1">
            <a:off x="230400" y="2983680"/>
            <a:ext cx="8699760" cy="11160"/>
          </a:xfrm>
          <a:prstGeom prst="straightConnector1">
            <a:avLst/>
          </a:prstGeom>
          <a:ln w="9525">
            <a:solidFill>
              <a:srgbClr val="000000"/>
            </a:solidFill>
            <a:round/>
          </a:ln>
        </p:spPr>
      </p:cxnSp>
      <p:sp>
        <p:nvSpPr>
          <p:cNvPr id="39" name="Google Shape;57;p13"/>
          <p:cNvSpPr/>
          <p:nvPr/>
        </p:nvSpPr>
        <p:spPr>
          <a:xfrm>
            <a:off x="6164280" y="2556000"/>
            <a:ext cx="2999520" cy="497880"/>
          </a:xfrm>
          <a:prstGeom prst="rect">
            <a:avLst/>
          </a:prstGeom>
          <a:noFill/>
          <a:ln w="0">
            <a:noFill/>
          </a:ln>
        </p:spPr>
        <p:style>
          <a:lnRef idx="0"/>
          <a:fillRef idx="0"/>
          <a:effectRef idx="0"/>
          <a:fontRef idx="minor"/>
        </p:style>
        <p:txBody>
          <a:bodyPr tIns="91440" bIns="91440" anchor="t">
            <a:spAutoFit/>
          </a:bodyPr>
          <a:p>
            <a:pPr algn="ctr">
              <a:lnSpc>
                <a:spcPct val="115000"/>
              </a:lnSpc>
              <a:spcAft>
                <a:spcPts val="1199"/>
              </a:spcAft>
              <a:tabLst>
                <a:tab algn="l" pos="0"/>
              </a:tabLst>
            </a:pPr>
            <a:r>
              <a:rPr b="0" lang="en-US" sz="1800" spc="-1" strike="noStrike">
                <a:solidFill>
                  <a:schemeClr val="dk1"/>
                </a:solidFill>
                <a:latin typeface="Arial"/>
                <a:ea typeface="Arial"/>
              </a:rPr>
              <a:t>Date: 2025/12/19</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442080" y="369000"/>
            <a:ext cx="144072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3020" spc="-1" strike="noStrike">
                <a:solidFill>
                  <a:schemeClr val="dk1"/>
                </a:solidFill>
                <a:latin typeface="Arial"/>
                <a:ea typeface="Arial"/>
              </a:rPr>
              <a:t>大綱</a:t>
            </a:r>
            <a:endParaRPr b="0" lang="en-US" sz="3020" spc="-1" strike="noStrike">
              <a:solidFill>
                <a:srgbClr val="000000"/>
              </a:solidFill>
              <a:latin typeface="Arial"/>
            </a:endParaRPr>
          </a:p>
        </p:txBody>
      </p:sp>
      <p:sp>
        <p:nvSpPr>
          <p:cNvPr id="41" name="PlaceHolder 2"/>
          <p:cNvSpPr>
            <a:spLocks noGrp="1"/>
          </p:cNvSpPr>
          <p:nvPr>
            <p:ph/>
          </p:nvPr>
        </p:nvSpPr>
        <p:spPr>
          <a:xfrm>
            <a:off x="3345480" y="434880"/>
            <a:ext cx="3028320" cy="2189880"/>
          </a:xfrm>
          <a:prstGeom prst="rect">
            <a:avLst/>
          </a:prstGeom>
          <a:noFill/>
          <a:ln w="0">
            <a:noFill/>
          </a:ln>
        </p:spPr>
        <p:txBody>
          <a:bodyPr lIns="91440" rIns="91440" tIns="91440" bIns="91440" anchor="t">
            <a:normAutofit fontScale="93333"/>
          </a:bodyPr>
          <a:p>
            <a:pPr marL="457200" indent="-380880">
              <a:lnSpc>
                <a:spcPct val="200000"/>
              </a:lnSpc>
              <a:buClr>
                <a:srgbClr val="595959"/>
              </a:buClr>
              <a:buFont typeface="Arial"/>
              <a:buChar char="●"/>
            </a:pPr>
            <a:r>
              <a:rPr b="0" lang="zh-TW" sz="2400" spc="-1" strike="noStrike">
                <a:solidFill>
                  <a:schemeClr val="dk2"/>
                </a:solidFill>
                <a:latin typeface="Arial"/>
                <a:ea typeface="Arial"/>
              </a:rPr>
              <a:t>系統說明</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硬體架構</a:t>
            </a:r>
            <a:r>
              <a:rPr b="0" lang="en-US" sz="2400" spc="-1" strike="noStrike">
                <a:solidFill>
                  <a:schemeClr val="dk2"/>
                </a:solidFill>
                <a:latin typeface="Arial"/>
                <a:ea typeface="Arial"/>
              </a:rPr>
              <a:t>(</a:t>
            </a:r>
            <a:r>
              <a:rPr b="0" lang="zh-TW" sz="2400" spc="-1" strike="noStrike">
                <a:solidFill>
                  <a:schemeClr val="dk2"/>
                </a:solidFill>
                <a:latin typeface="Arial"/>
                <a:ea typeface="Arial"/>
              </a:rPr>
              <a:t>含</a:t>
            </a:r>
            <a:r>
              <a:rPr b="0" lang="en-US" sz="2400" spc="-1" strike="noStrike">
                <a:solidFill>
                  <a:schemeClr val="dk2"/>
                </a:solidFill>
                <a:latin typeface="Arial"/>
                <a:ea typeface="Arial"/>
              </a:rPr>
              <a:t>I/O)</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軟體設計</a:t>
            </a:r>
            <a:endParaRPr b="0" lang="en-US" sz="2400" spc="-1" strike="noStrike">
              <a:solidFill>
                <a:srgbClr val="000000"/>
              </a:solidFill>
              <a:latin typeface="Arial"/>
            </a:endParaRPr>
          </a:p>
        </p:txBody>
      </p:sp>
      <p:sp>
        <p:nvSpPr>
          <p:cNvPr id="42" name="PlaceHolder 3"/>
          <p:cNvSpPr>
            <a:spLocks noGrp="1"/>
          </p:cNvSpPr>
          <p:nvPr>
            <p:ph/>
          </p:nvPr>
        </p:nvSpPr>
        <p:spPr>
          <a:xfrm>
            <a:off x="3345840" y="2625120"/>
            <a:ext cx="3028320" cy="2037600"/>
          </a:xfrm>
          <a:prstGeom prst="rect">
            <a:avLst/>
          </a:prstGeom>
          <a:noFill/>
          <a:ln w="0">
            <a:noFill/>
          </a:ln>
        </p:spPr>
        <p:txBody>
          <a:bodyPr lIns="91440" rIns="91440" tIns="91440" bIns="91440" anchor="t">
            <a:normAutofit fontScale="83888"/>
          </a:bodyPr>
          <a:p>
            <a:pPr marL="457200" indent="-380880">
              <a:lnSpc>
                <a:spcPct val="200000"/>
              </a:lnSpc>
              <a:buClr>
                <a:srgbClr val="595959"/>
              </a:buClr>
              <a:buFont typeface="Arial"/>
              <a:buChar char="●"/>
            </a:pPr>
            <a:r>
              <a:rPr b="0" lang="zh-TW" sz="2400" spc="-1" strike="noStrike">
                <a:solidFill>
                  <a:schemeClr val="dk2"/>
                </a:solidFill>
                <a:latin typeface="Arial"/>
                <a:ea typeface="Arial"/>
              </a:rPr>
              <a:t>結合上課所學</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可能遇到的困難</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團隊分工</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105120" y="-45000"/>
            <a:ext cx="1930320" cy="37332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800" spc="-1" strike="noStrike">
                <a:solidFill>
                  <a:schemeClr val="dk2"/>
                </a:solidFill>
                <a:latin typeface="Arial"/>
                <a:ea typeface="Arial"/>
              </a:rPr>
              <a:t>系統</a:t>
            </a:r>
            <a:r>
              <a:rPr b="0" lang="zh-TW" sz="2800" spc="-1" strike="noStrike">
                <a:solidFill>
                  <a:schemeClr val="dk2"/>
                </a:solidFill>
                <a:latin typeface="Arial"/>
                <a:ea typeface="Arial"/>
              </a:rPr>
              <a:t>說明</a:t>
            </a:r>
            <a:endParaRPr b="0" lang="en-US" sz="2800" spc="-1" strike="noStrike">
              <a:solidFill>
                <a:srgbClr val="000000"/>
              </a:solidFill>
              <a:latin typeface="Arial"/>
            </a:endParaRPr>
          </a:p>
        </p:txBody>
      </p:sp>
      <p:sp>
        <p:nvSpPr>
          <p:cNvPr id="44" name="PlaceHolder 2"/>
          <p:cNvSpPr>
            <a:spLocks noGrp="1"/>
          </p:cNvSpPr>
          <p:nvPr>
            <p:ph/>
          </p:nvPr>
        </p:nvSpPr>
        <p:spPr>
          <a:xfrm>
            <a:off x="311760" y="1123200"/>
            <a:ext cx="8520120" cy="3746880"/>
          </a:xfrm>
          <a:prstGeom prst="rect">
            <a:avLst/>
          </a:prstGeom>
          <a:noFill/>
          <a:ln w="0">
            <a:noFill/>
          </a:ln>
        </p:spPr>
        <p:txBody>
          <a:bodyPr lIns="91440" rIns="91440" tIns="91440" bIns="91440" anchor="t">
            <a:normAutofit fontScale="93333"/>
          </a:bodyPr>
          <a:p>
            <a:pPr indent="0">
              <a:lnSpc>
                <a:spcPct val="95000"/>
              </a:lnSpc>
              <a:buNone/>
              <a:tabLst>
                <a:tab algn="l" pos="0"/>
              </a:tabLst>
            </a:pPr>
            <a:r>
              <a:rPr b="1" lang="zh-TW" sz="1400" spc="-1" strike="noStrike">
                <a:solidFill>
                  <a:schemeClr val="dk1"/>
                </a:solidFill>
                <a:latin typeface="Arial"/>
                <a:ea typeface="Arial"/>
              </a:rPr>
              <a:t>讀書室預約與使用管理系統</a:t>
            </a:r>
            <a:r>
              <a:rPr b="0" lang="zh-TW" sz="1400" spc="-1" strike="noStrike">
                <a:solidFill>
                  <a:schemeClr val="dk1"/>
                </a:solidFill>
                <a:latin typeface="Arial"/>
                <a:ea typeface="Arial"/>
              </a:rPr>
              <a:t>：提供讀書室資訊、預約、報到、釋放、延長、到時提醒。</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1"/>
                </a:solidFill>
                <a:latin typeface="Arial"/>
                <a:ea typeface="Arial"/>
              </a:rPr>
              <a:t>三色</a:t>
            </a:r>
            <a:r>
              <a:rPr b="0" lang="en-US" sz="1400" spc="-1" strike="noStrike">
                <a:solidFill>
                  <a:schemeClr val="dk1"/>
                </a:solidFill>
                <a:latin typeface="Arial"/>
                <a:ea typeface="Arial"/>
              </a:rPr>
              <a:t>LED</a:t>
            </a:r>
            <a:r>
              <a:rPr b="0" lang="zh-TW" sz="1400" spc="-1" strike="noStrike">
                <a:solidFill>
                  <a:schemeClr val="dk1"/>
                </a:solidFill>
                <a:latin typeface="Arial"/>
                <a:ea typeface="Arial"/>
              </a:rPr>
              <a:t>顯示讀書室使用狀態  </a:t>
            </a:r>
            <a:r>
              <a:rPr b="0" lang="en-US" sz="1400" spc="-1" strike="noStrike">
                <a:solidFill>
                  <a:schemeClr val="dk1"/>
                </a:solidFill>
                <a:latin typeface="Arial"/>
                <a:ea typeface="Arial"/>
              </a:rPr>
              <a:t>(🟢=</a:t>
            </a:r>
            <a:r>
              <a:rPr b="0" lang="zh-TW" sz="1400" spc="-1" strike="noStrike">
                <a:solidFill>
                  <a:schemeClr val="dk1"/>
                </a:solidFill>
                <a:latin typeface="Arial"/>
                <a:ea typeface="Arial"/>
              </a:rPr>
              <a:t>空閒</a:t>
            </a:r>
            <a:r>
              <a:rPr b="0" lang="en-US" sz="1400" spc="-1" strike="noStrike">
                <a:solidFill>
                  <a:schemeClr val="dk1"/>
                </a:solidFill>
                <a:latin typeface="Arial"/>
                <a:ea typeface="Arial"/>
              </a:rPr>
              <a:t>, 🟡= </a:t>
            </a:r>
            <a:r>
              <a:rPr b="0" lang="zh-TW" sz="1400" spc="-1" strike="noStrike">
                <a:solidFill>
                  <a:schemeClr val="dk1"/>
                </a:solidFill>
                <a:latin typeface="Arial"/>
                <a:ea typeface="Arial"/>
              </a:rPr>
              <a:t>已預約 </a:t>
            </a:r>
            <a:r>
              <a:rPr b="0" lang="en-US" sz="1400" spc="-1" strike="noStrike">
                <a:solidFill>
                  <a:schemeClr val="dk1"/>
                </a:solidFill>
                <a:latin typeface="Arial"/>
                <a:ea typeface="Arial"/>
              </a:rPr>
              <a:t>, 🔴=</a:t>
            </a:r>
            <a:r>
              <a:rPr b="0" lang="zh-TW" sz="1400" spc="-1" strike="noStrike">
                <a:solidFill>
                  <a:schemeClr val="dk1"/>
                </a:solidFill>
                <a:latin typeface="Arial"/>
                <a:ea typeface="Arial"/>
              </a:rPr>
              <a:t>使用中）</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1"/>
                </a:solidFill>
                <a:latin typeface="Arial"/>
                <a:ea typeface="Arial"/>
              </a:rPr>
              <a:t>七段顯示器：顯示目前選取的房間號</a:t>
            </a:r>
            <a:endParaRPr b="0" lang="en-US" sz="1400" spc="-1" strike="noStrike">
              <a:solidFill>
                <a:srgbClr val="000000"/>
              </a:solidFill>
              <a:latin typeface="Arial"/>
            </a:endParaRPr>
          </a:p>
          <a:p>
            <a:pPr indent="0">
              <a:lnSpc>
                <a:spcPct val="95000"/>
              </a:lnSpc>
              <a:spcBef>
                <a:spcPts val="1199"/>
              </a:spcBef>
              <a:buNone/>
              <a:tabLst>
                <a:tab algn="l" pos="0"/>
              </a:tabLst>
            </a:pPr>
            <a:r>
              <a:rPr b="1" lang="zh-TW" sz="1430" spc="-1" strike="noStrike">
                <a:solidFill>
                  <a:schemeClr val="dk1"/>
                </a:solidFill>
                <a:latin typeface="Arial"/>
                <a:ea typeface="Arial"/>
              </a:rPr>
              <a:t>提供給客人的功能：</a:t>
            </a:r>
            <a:endParaRPr b="0" lang="en-US" sz="1430" spc="-1" strike="noStrike">
              <a:solidFill>
                <a:srgbClr val="000000"/>
              </a:solidFill>
              <a:latin typeface="Arial"/>
            </a:endParaRPr>
          </a:p>
          <a:p>
            <a:pPr marL="457200" indent="-319320">
              <a:lnSpc>
                <a:spcPct val="95000"/>
              </a:lnSpc>
              <a:spcBef>
                <a:spcPts val="1199"/>
              </a:spcBef>
              <a:buClr>
                <a:srgbClr val="000000"/>
              </a:buClr>
              <a:buFont typeface="Arial"/>
              <a:buChar char="●"/>
              <a:tabLst>
                <a:tab algn="l" pos="0"/>
              </a:tabLst>
            </a:pPr>
            <a:r>
              <a:rPr b="0" lang="zh-TW" sz="1400" spc="-1" strike="noStrike">
                <a:solidFill>
                  <a:srgbClr val="ff0000"/>
                </a:solidFill>
                <a:latin typeface="Arial"/>
                <a:ea typeface="Arial"/>
              </a:rPr>
              <a:t>查看讀書室資訊：看板或網頁即時顯示</a:t>
            </a:r>
            <a:r>
              <a:rPr b="0" lang="en-US" sz="1400" spc="-1" strike="noStrike">
                <a:solidFill>
                  <a:srgbClr val="ff0000"/>
                </a:solidFill>
                <a:latin typeface="Arial"/>
                <a:ea typeface="Arial"/>
              </a:rPr>
              <a:t>?</a:t>
            </a:r>
            <a:r>
              <a:rPr b="0" lang="zh-TW" sz="1400" spc="-1" strike="noStrike">
                <a:solidFill>
                  <a:srgbClr val="ff0000"/>
                </a:solidFill>
                <a:latin typeface="Arial"/>
                <a:ea typeface="Arial"/>
              </a:rPr>
              <a:t>。</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立即預約：選擇讀書室與時段送出。</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報到</a:t>
            </a:r>
            <a:r>
              <a:rPr b="0" lang="en-US" sz="1430" spc="-1" strike="noStrike">
                <a:solidFill>
                  <a:schemeClr val="dk1"/>
                </a:solidFill>
                <a:latin typeface="Arial"/>
                <a:ea typeface="Arial"/>
              </a:rPr>
              <a:t>/</a:t>
            </a:r>
            <a:r>
              <a:rPr b="0" lang="zh-TW" sz="1430" spc="-1" strike="noStrike">
                <a:solidFill>
                  <a:schemeClr val="dk1"/>
                </a:solidFill>
                <a:latin typeface="Arial"/>
                <a:ea typeface="Arial"/>
              </a:rPr>
              <a:t>開始使用：現場按</a:t>
            </a:r>
            <a:r>
              <a:rPr b="0" lang="en-US" sz="1430" spc="-1" strike="noStrike">
                <a:solidFill>
                  <a:schemeClr val="dk1"/>
                </a:solidFill>
                <a:latin typeface="Arial"/>
                <a:ea typeface="Arial"/>
              </a:rPr>
              <a:t>Check-in (</a:t>
            </a:r>
            <a:r>
              <a:rPr b="0" lang="zh-TW" sz="1430" spc="-1" strike="noStrike">
                <a:solidFill>
                  <a:schemeClr val="dk1"/>
                </a:solidFill>
                <a:latin typeface="Arial"/>
                <a:ea typeface="Arial"/>
              </a:rPr>
              <a:t>按鈕</a:t>
            </a:r>
            <a:r>
              <a:rPr b="0" lang="en-US" sz="1430" spc="-1" strike="noStrike">
                <a:solidFill>
                  <a:schemeClr val="dk1"/>
                </a:solidFill>
                <a:latin typeface="Arial"/>
                <a:ea typeface="Arial"/>
              </a:rPr>
              <a:t>) </a:t>
            </a:r>
            <a:r>
              <a:rPr b="0" lang="zh-TW" sz="1430" spc="-1" strike="noStrike">
                <a:solidFill>
                  <a:schemeClr val="dk1"/>
                </a:solidFill>
                <a:latin typeface="Arial"/>
                <a:ea typeface="Arial"/>
              </a:rPr>
              <a:t>與刷卡 </a:t>
            </a:r>
            <a:r>
              <a:rPr b="0" lang="en-US" sz="1430" spc="-1" strike="noStrike">
                <a:solidFill>
                  <a:schemeClr val="dk1"/>
                </a:solidFill>
                <a:latin typeface="Arial"/>
                <a:ea typeface="Arial"/>
              </a:rPr>
              <a:t>(RFID) </a:t>
            </a:r>
            <a:r>
              <a:rPr b="0" lang="zh-TW" sz="1430" spc="-1" strike="noStrike">
                <a:solidFill>
                  <a:schemeClr val="dk1"/>
                </a:solidFill>
                <a:latin typeface="Arial"/>
                <a:ea typeface="Arial"/>
              </a:rPr>
              <a:t>後開始計時。</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提前釋放</a:t>
            </a:r>
            <a:r>
              <a:rPr b="0" lang="en-US" sz="1430" spc="-1" strike="noStrike">
                <a:solidFill>
                  <a:schemeClr val="dk1"/>
                </a:solidFill>
                <a:latin typeface="Arial"/>
                <a:ea typeface="Arial"/>
              </a:rPr>
              <a:t>/</a:t>
            </a:r>
            <a:r>
              <a:rPr b="0" lang="zh-TW" sz="1430" spc="-1" strike="noStrike">
                <a:solidFill>
                  <a:schemeClr val="dk1"/>
                </a:solidFill>
                <a:latin typeface="Arial"/>
                <a:ea typeface="Arial"/>
              </a:rPr>
              <a:t>取消：按「</a:t>
            </a:r>
            <a:r>
              <a:rPr b="0" lang="en-US" sz="1430" spc="-1" strike="noStrike">
                <a:solidFill>
                  <a:schemeClr val="dk1"/>
                </a:solidFill>
                <a:latin typeface="Arial"/>
                <a:ea typeface="Arial"/>
              </a:rPr>
              <a:t>Release</a:t>
            </a:r>
            <a:r>
              <a:rPr b="0" lang="zh-TW" sz="1430" spc="-1" strike="noStrike">
                <a:solidFill>
                  <a:schemeClr val="dk1"/>
                </a:solidFill>
                <a:latin typeface="Arial"/>
                <a:ea typeface="Arial"/>
              </a:rPr>
              <a:t>」或於頁面取消並釋出剩餘時段。</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延長申請：無人候補時可延長一次（時長可設定）。</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到時提醒：即將到時 </a:t>
            </a:r>
            <a:r>
              <a:rPr b="0" lang="en-US" sz="1430" spc="-1" strike="noStrike">
                <a:solidFill>
                  <a:schemeClr val="dk1"/>
                </a:solidFill>
                <a:latin typeface="Arial"/>
                <a:ea typeface="Arial"/>
              </a:rPr>
              <a:t>(</a:t>
            </a:r>
            <a:r>
              <a:rPr b="0" lang="zh-TW" sz="1430" spc="-1" strike="noStrike">
                <a:solidFill>
                  <a:schemeClr val="dk1"/>
                </a:solidFill>
                <a:latin typeface="Arial"/>
                <a:ea typeface="Arial"/>
              </a:rPr>
              <a:t>剩餘</a:t>
            </a:r>
            <a:r>
              <a:rPr b="0" lang="en-US" sz="1430" spc="-1" strike="noStrike">
                <a:solidFill>
                  <a:schemeClr val="dk1"/>
                </a:solidFill>
                <a:latin typeface="Arial"/>
                <a:ea typeface="Arial"/>
              </a:rPr>
              <a:t>5</a:t>
            </a:r>
            <a:r>
              <a:rPr b="0" lang="zh-TW" sz="1430" spc="-1" strike="noStrike">
                <a:solidFill>
                  <a:schemeClr val="dk1"/>
                </a:solidFill>
                <a:latin typeface="Arial"/>
                <a:ea typeface="Arial"/>
              </a:rPr>
              <a:t>秒</a:t>
            </a:r>
            <a:r>
              <a:rPr b="0" lang="en-US" sz="1430" spc="-1" strike="noStrike">
                <a:solidFill>
                  <a:schemeClr val="dk1"/>
                </a:solidFill>
                <a:latin typeface="Arial"/>
                <a:ea typeface="Arial"/>
              </a:rPr>
              <a:t>) </a:t>
            </a:r>
            <a:r>
              <a:rPr b="0" lang="zh-TW" sz="1430" spc="-1" strike="noStrike">
                <a:solidFill>
                  <a:schemeClr val="dk1"/>
                </a:solidFill>
                <a:latin typeface="Arial"/>
                <a:ea typeface="Arial"/>
              </a:rPr>
              <a:t>與逾時通知</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105120" y="-59760"/>
            <a:ext cx="1930320" cy="37332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900" spc="-1" strike="noStrike">
                <a:solidFill>
                  <a:schemeClr val="dk2"/>
                </a:solidFill>
                <a:latin typeface="Arial"/>
                <a:ea typeface="Arial"/>
              </a:rPr>
              <a:t>系統</a:t>
            </a:r>
            <a:r>
              <a:rPr b="0" lang="zh-TW" sz="2900" spc="-1" strike="noStrike">
                <a:solidFill>
                  <a:schemeClr val="dk2"/>
                </a:solidFill>
                <a:latin typeface="Arial"/>
                <a:ea typeface="Arial"/>
              </a:rPr>
              <a:t>說明</a:t>
            </a:r>
            <a:endParaRPr b="0" lang="en-US" sz="2900" spc="-1" strike="noStrike">
              <a:solidFill>
                <a:srgbClr val="000000"/>
              </a:solidFill>
              <a:latin typeface="Arial"/>
            </a:endParaRPr>
          </a:p>
        </p:txBody>
      </p:sp>
      <p:sp>
        <p:nvSpPr>
          <p:cNvPr id="46" name="PlaceHolder 2"/>
          <p:cNvSpPr>
            <a:spLocks noGrp="1"/>
          </p:cNvSpPr>
          <p:nvPr>
            <p:ph/>
          </p:nvPr>
        </p:nvSpPr>
        <p:spPr>
          <a:xfrm>
            <a:off x="402840" y="920880"/>
            <a:ext cx="8520120" cy="3609360"/>
          </a:xfrm>
          <a:prstGeom prst="rect">
            <a:avLst/>
          </a:prstGeom>
          <a:noFill/>
          <a:ln w="0">
            <a:noFill/>
          </a:ln>
        </p:spPr>
        <p:txBody>
          <a:bodyPr lIns="91440" rIns="91440" tIns="91440" bIns="91440" anchor="t">
            <a:normAutofit fontScale="93333" lnSpcReduction="10000"/>
          </a:bodyPr>
          <a:p>
            <a:pPr indent="0">
              <a:lnSpc>
                <a:spcPct val="115000"/>
              </a:lnSpc>
              <a:spcBef>
                <a:spcPts val="1199"/>
              </a:spcBef>
              <a:buNone/>
              <a:tabLst>
                <a:tab algn="l" pos="0"/>
              </a:tabLst>
            </a:pPr>
            <a:r>
              <a:rPr b="1" lang="zh-TW" sz="1600" spc="-1" strike="noStrike">
                <a:solidFill>
                  <a:schemeClr val="dk1"/>
                </a:solidFill>
                <a:latin typeface="Arial"/>
                <a:ea typeface="Arial"/>
              </a:rPr>
              <a:t>預約規則</a:t>
            </a:r>
            <a:endParaRPr b="0" lang="en-US" sz="1600" spc="-1" strike="noStrike">
              <a:solidFill>
                <a:srgbClr val="000000"/>
              </a:solidFill>
              <a:latin typeface="Arial"/>
            </a:endParaRPr>
          </a:p>
          <a:p>
            <a:pPr marL="457200" indent="-322560">
              <a:lnSpc>
                <a:spcPct val="115000"/>
              </a:lnSpc>
              <a:spcBef>
                <a:spcPts val="1199"/>
              </a:spcBef>
              <a:buClr>
                <a:srgbClr val="000000"/>
              </a:buClr>
              <a:buFont typeface="Arial"/>
              <a:buChar char="●"/>
              <a:tabLst>
                <a:tab algn="l" pos="0"/>
              </a:tabLst>
            </a:pPr>
            <a:r>
              <a:rPr b="0" lang="zh-TW" sz="1600" spc="-1" strike="noStrike">
                <a:solidFill>
                  <a:schemeClr val="dk1"/>
                </a:solidFill>
                <a:latin typeface="Arial"/>
                <a:ea typeface="Arial"/>
              </a:rPr>
              <a:t>時段單位：</a:t>
            </a:r>
            <a:r>
              <a:rPr b="0" lang="en-US" sz="1600" spc="-1" strike="noStrike">
                <a:solidFill>
                  <a:schemeClr val="dk1"/>
                </a:solidFill>
                <a:latin typeface="Arial"/>
                <a:ea typeface="Arial"/>
              </a:rPr>
              <a:t>30</a:t>
            </a:r>
            <a:r>
              <a:rPr b="0" lang="zh-TW" sz="1600" spc="-1" strike="noStrike">
                <a:solidFill>
                  <a:schemeClr val="dk1"/>
                </a:solidFill>
                <a:latin typeface="Arial"/>
                <a:ea typeface="Arial"/>
              </a:rPr>
              <a:t>分鐘 （可調整）。</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取用時限：預約後</a:t>
            </a:r>
            <a:r>
              <a:rPr b="0" lang="en-US" sz="1600" spc="-1" strike="noStrike">
                <a:solidFill>
                  <a:schemeClr val="dk1"/>
                </a:solidFill>
                <a:latin typeface="Arial"/>
                <a:ea typeface="Arial"/>
              </a:rPr>
              <a:t>5</a:t>
            </a:r>
            <a:r>
              <a:rPr b="0" lang="zh-TW" sz="1600" spc="-1" strike="noStrike">
                <a:solidFill>
                  <a:schemeClr val="dk1"/>
                </a:solidFill>
                <a:latin typeface="Arial"/>
                <a:ea typeface="Arial"/>
              </a:rPr>
              <a:t>分鐘內需報到；逾時自動取消並釋出。</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使用上限：單日最多</a:t>
            </a:r>
            <a:r>
              <a:rPr b="0" lang="en-US" sz="1600" spc="-1" strike="noStrike">
                <a:solidFill>
                  <a:schemeClr val="dk1"/>
                </a:solidFill>
                <a:latin typeface="Arial"/>
                <a:ea typeface="Arial"/>
              </a:rPr>
              <a:t>2</a:t>
            </a:r>
            <a:r>
              <a:rPr b="0" lang="zh-TW" sz="1600" spc="-1" strike="noStrike">
                <a:solidFill>
                  <a:schemeClr val="dk1"/>
                </a:solidFill>
                <a:latin typeface="Arial"/>
                <a:ea typeface="Arial"/>
              </a:rPr>
              <a:t>次；不得同時持有多筆預約。</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延長規則：無人候補可延長</a:t>
            </a:r>
            <a:r>
              <a:rPr b="0" lang="en-US" sz="1600" spc="-1" strike="noStrike">
                <a:solidFill>
                  <a:schemeClr val="dk1"/>
                </a:solidFill>
                <a:latin typeface="Arial"/>
                <a:ea typeface="Arial"/>
              </a:rPr>
              <a:t>1</a:t>
            </a:r>
            <a:r>
              <a:rPr b="0" lang="zh-TW" sz="1600" spc="-1" strike="noStrike">
                <a:solidFill>
                  <a:schemeClr val="dk1"/>
                </a:solidFill>
                <a:latin typeface="Arial"/>
                <a:ea typeface="Arial"/>
              </a:rPr>
              <a:t>次。</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釋放規則：提前釋放立即開放；逾時未釋放由系統自動釋放。</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候補機制 </a:t>
            </a:r>
            <a:r>
              <a:rPr b="0" lang="en-US" sz="1600" spc="-1" strike="noStrike">
                <a:solidFill>
                  <a:schemeClr val="dk1"/>
                </a:solidFill>
                <a:latin typeface="Arial"/>
                <a:ea typeface="Arial"/>
              </a:rPr>
              <a:t>: </a:t>
            </a:r>
            <a:r>
              <a:rPr b="0" lang="zh-TW" sz="1600" spc="-1" strike="noStrike">
                <a:solidFill>
                  <a:schemeClr val="dk1"/>
                </a:solidFill>
                <a:latin typeface="Arial"/>
                <a:ea typeface="Arial"/>
              </a:rPr>
              <a:t>所有讀書室有人使用時，一旦有讀書室釋出將依序通知分配給隊列中最早等待者之後讀書室開放後使用順序採</a:t>
            </a:r>
            <a:r>
              <a:rPr b="0" lang="en-US" sz="1600" spc="-1" strike="noStrike">
                <a:solidFill>
                  <a:schemeClr val="dk1"/>
                </a:solidFill>
                <a:latin typeface="Arial"/>
                <a:ea typeface="Arial"/>
              </a:rPr>
              <a:t>(FIFO)</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34920" y="6372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訂房機制</a:t>
            </a:r>
            <a:endParaRPr b="0" lang="en-US" sz="2800" spc="-1" strike="noStrike">
              <a:solidFill>
                <a:srgbClr val="000000"/>
              </a:solidFill>
              <a:latin typeface="Arial"/>
            </a:endParaRPr>
          </a:p>
        </p:txBody>
      </p:sp>
      <p:sp>
        <p:nvSpPr>
          <p:cNvPr id="48" name="Google Shape;89;p18"/>
          <p:cNvSpPr/>
          <p:nvPr/>
        </p:nvSpPr>
        <p:spPr>
          <a:xfrm>
            <a:off x="1836360" y="673920"/>
            <a:ext cx="1649520" cy="4568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Reserve</a:t>
            </a:r>
            <a:endParaRPr b="0" lang="en-US" sz="1800" spc="-1" strike="noStrike">
              <a:solidFill>
                <a:srgbClr val="000000"/>
              </a:solidFill>
              <a:latin typeface="Arial"/>
            </a:endParaRPr>
          </a:p>
        </p:txBody>
      </p:sp>
      <p:sp>
        <p:nvSpPr>
          <p:cNvPr id="49" name="Google Shape;90;p18"/>
          <p:cNvSpPr/>
          <p:nvPr/>
        </p:nvSpPr>
        <p:spPr>
          <a:xfrm>
            <a:off x="5685840" y="454320"/>
            <a:ext cx="1649520" cy="4568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Timer</a:t>
            </a:r>
            <a:endParaRPr b="0" lang="en-US" sz="1800" spc="-1" strike="noStrike">
              <a:solidFill>
                <a:srgbClr val="000000"/>
              </a:solidFill>
              <a:latin typeface="Arial"/>
            </a:endParaRPr>
          </a:p>
        </p:txBody>
      </p:sp>
      <p:pic>
        <p:nvPicPr>
          <p:cNvPr id="50" name="Google Shape;91;p18" descr=""/>
          <p:cNvPicPr/>
          <p:nvPr/>
        </p:nvPicPr>
        <p:blipFill>
          <a:blip r:embed="rId1"/>
          <a:stretch/>
        </p:blipFill>
        <p:spPr>
          <a:xfrm>
            <a:off x="152280" y="1473840"/>
            <a:ext cx="4092480" cy="2855160"/>
          </a:xfrm>
          <a:prstGeom prst="rect">
            <a:avLst/>
          </a:prstGeom>
          <a:ln w="0">
            <a:noFill/>
          </a:ln>
        </p:spPr>
      </p:pic>
      <p:pic>
        <p:nvPicPr>
          <p:cNvPr id="51" name="Google Shape;92;p18" descr=""/>
          <p:cNvPicPr/>
          <p:nvPr/>
        </p:nvPicPr>
        <p:blipFill>
          <a:blip r:embed="rId2"/>
          <a:stretch/>
        </p:blipFill>
        <p:spPr>
          <a:xfrm>
            <a:off x="4397400" y="1068120"/>
            <a:ext cx="4379040" cy="39225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2920" y="5652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rgbClr val="002f4a"/>
                </a:solidFill>
                <a:latin typeface="Arial"/>
                <a:ea typeface="Arial"/>
              </a:rPr>
              <a:t>硬體架構 </a:t>
            </a:r>
            <a:r>
              <a:rPr b="0" lang="en-US" sz="2800" spc="-1" strike="noStrike">
                <a:solidFill>
                  <a:srgbClr val="002f4a"/>
                </a:solidFill>
                <a:latin typeface="Arial"/>
                <a:ea typeface="Arial"/>
              </a:rPr>
              <a:t>(</a:t>
            </a:r>
            <a:r>
              <a:rPr b="0" lang="zh-TW" sz="2800" spc="-1" strike="noStrike">
                <a:solidFill>
                  <a:srgbClr val="002f4a"/>
                </a:solidFill>
                <a:latin typeface="Arial"/>
                <a:ea typeface="Arial"/>
              </a:rPr>
              <a:t>含</a:t>
            </a:r>
            <a:r>
              <a:rPr b="0" lang="en-US" sz="2800" spc="-1" strike="noStrike">
                <a:solidFill>
                  <a:srgbClr val="002f4a"/>
                </a:solidFill>
                <a:latin typeface="Arial"/>
                <a:ea typeface="Arial"/>
              </a:rPr>
              <a:t>I/O)</a:t>
            </a:r>
            <a:endParaRPr b="0" lang="en-US" sz="2800" spc="-1" strike="noStrike">
              <a:solidFill>
                <a:srgbClr val="000000"/>
              </a:solidFill>
              <a:latin typeface="Arial"/>
            </a:endParaRPr>
          </a:p>
        </p:txBody>
      </p:sp>
      <p:pic>
        <p:nvPicPr>
          <p:cNvPr id="53" name="Google Shape;98;p19" descr=""/>
          <p:cNvPicPr/>
          <p:nvPr/>
        </p:nvPicPr>
        <p:blipFill>
          <a:blip r:embed="rId1"/>
          <a:stretch/>
        </p:blipFill>
        <p:spPr>
          <a:xfrm>
            <a:off x="3740040" y="2644920"/>
            <a:ext cx="1506240" cy="1121040"/>
          </a:xfrm>
          <a:prstGeom prst="rect">
            <a:avLst/>
          </a:prstGeom>
          <a:ln w="0">
            <a:noFill/>
          </a:ln>
        </p:spPr>
      </p:pic>
      <p:pic>
        <p:nvPicPr>
          <p:cNvPr id="54" name="Google Shape;99;p19" descr=""/>
          <p:cNvPicPr/>
          <p:nvPr/>
        </p:nvPicPr>
        <p:blipFill>
          <a:blip r:embed="rId2"/>
          <a:stretch/>
        </p:blipFill>
        <p:spPr>
          <a:xfrm>
            <a:off x="5399640" y="2490480"/>
            <a:ext cx="3135600" cy="1327680"/>
          </a:xfrm>
          <a:prstGeom prst="rect">
            <a:avLst/>
          </a:prstGeom>
          <a:ln w="0">
            <a:noFill/>
          </a:ln>
        </p:spPr>
      </p:pic>
      <p:sp>
        <p:nvSpPr>
          <p:cNvPr id="55" name="Google Shape;100;p19"/>
          <p:cNvSpPr/>
          <p:nvPr/>
        </p:nvSpPr>
        <p:spPr>
          <a:xfrm>
            <a:off x="4177080" y="1623240"/>
            <a:ext cx="1113480" cy="3528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讀書室</a:t>
            </a:r>
            <a:endParaRPr b="0" lang="en-US" sz="1400" spc="-1" strike="noStrike">
              <a:solidFill>
                <a:srgbClr val="000000"/>
              </a:solidFill>
              <a:latin typeface="Arial"/>
            </a:endParaRPr>
          </a:p>
          <a:p>
            <a:pPr>
              <a:lnSpc>
                <a:spcPct val="100000"/>
              </a:lnSpc>
              <a:tabLst>
                <a:tab algn="l" pos="0"/>
              </a:tabLst>
            </a:pPr>
            <a:r>
              <a:rPr b="0" lang="zh-TW" sz="1400" spc="-1" strike="noStrike">
                <a:solidFill>
                  <a:schemeClr val="dk2"/>
                </a:solidFill>
                <a:latin typeface="Arial"/>
                <a:ea typeface="Arial"/>
              </a:rPr>
              <a:t>編號顯示</a:t>
            </a:r>
            <a:endParaRPr b="0" lang="en-US" sz="1400" spc="-1" strike="noStrike">
              <a:solidFill>
                <a:srgbClr val="000000"/>
              </a:solidFill>
              <a:latin typeface="Arial"/>
            </a:endParaRPr>
          </a:p>
        </p:txBody>
      </p:sp>
      <p:cxnSp>
        <p:nvCxnSpPr>
          <p:cNvPr id="56" name="Google Shape;101;p19"/>
          <p:cNvCxnSpPr/>
          <p:nvPr/>
        </p:nvCxnSpPr>
        <p:spPr>
          <a:xfrm>
            <a:off x="3926160" y="2076120"/>
            <a:ext cx="90720" cy="554400"/>
          </a:xfrm>
          <a:prstGeom prst="straightConnector1">
            <a:avLst/>
          </a:prstGeom>
          <a:ln w="19050">
            <a:solidFill>
              <a:srgbClr val="000000"/>
            </a:solidFill>
            <a:round/>
            <a:headEnd len="med" type="triangle" w="med"/>
          </a:ln>
        </p:spPr>
      </p:cxnSp>
      <p:sp>
        <p:nvSpPr>
          <p:cNvPr id="57" name="Google Shape;102;p19"/>
          <p:cNvSpPr/>
          <p:nvPr/>
        </p:nvSpPr>
        <p:spPr>
          <a:xfrm>
            <a:off x="3403080" y="1821960"/>
            <a:ext cx="953280" cy="3528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狀態顯示</a:t>
            </a:r>
            <a:endParaRPr b="0" lang="en-US" sz="1400" spc="-1" strike="noStrike">
              <a:solidFill>
                <a:srgbClr val="000000"/>
              </a:solidFill>
              <a:latin typeface="Arial"/>
            </a:endParaRPr>
          </a:p>
        </p:txBody>
      </p:sp>
      <p:cxnSp>
        <p:nvCxnSpPr>
          <p:cNvPr id="58" name="Google Shape;103;p19"/>
          <p:cNvCxnSpPr/>
          <p:nvPr/>
        </p:nvCxnSpPr>
        <p:spPr>
          <a:xfrm flipH="1">
            <a:off x="4521960" y="2147040"/>
            <a:ext cx="39960" cy="914400"/>
          </a:xfrm>
          <a:prstGeom prst="straightConnector1">
            <a:avLst/>
          </a:prstGeom>
          <a:ln w="19050">
            <a:solidFill>
              <a:srgbClr val="000000"/>
            </a:solidFill>
            <a:round/>
            <a:headEnd len="med" type="triangle" w="med"/>
          </a:ln>
        </p:spPr>
      </p:cxnSp>
      <p:sp>
        <p:nvSpPr>
          <p:cNvPr id="59" name="Google Shape;104;p19"/>
          <p:cNvSpPr/>
          <p:nvPr/>
        </p:nvSpPr>
        <p:spPr>
          <a:xfrm>
            <a:off x="5360760" y="1722960"/>
            <a:ext cx="1914840" cy="3222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按鈕</a:t>
            </a:r>
            <a:r>
              <a:rPr b="0" lang="en-US" sz="1400" spc="-1" strike="noStrike">
                <a:solidFill>
                  <a:schemeClr val="dk2"/>
                </a:solidFill>
                <a:latin typeface="Arial"/>
                <a:ea typeface="Arial"/>
              </a:rPr>
              <a:t>,7seg LED </a:t>
            </a:r>
            <a:r>
              <a:rPr b="0" lang="zh-TW" sz="1400" spc="-1" strike="noStrike">
                <a:solidFill>
                  <a:schemeClr val="dk2"/>
                </a:solidFill>
                <a:latin typeface="Arial"/>
                <a:ea typeface="Arial"/>
              </a:rPr>
              <a:t>顯示下一間讀書室狀態</a:t>
            </a:r>
            <a:endParaRPr b="0" lang="en-US" sz="1400" spc="-1" strike="noStrike">
              <a:solidFill>
                <a:srgbClr val="000000"/>
              </a:solidFill>
              <a:latin typeface="Arial"/>
            </a:endParaRPr>
          </a:p>
        </p:txBody>
      </p:sp>
      <p:cxnSp>
        <p:nvCxnSpPr>
          <p:cNvPr id="60" name="Google Shape;105;p19"/>
          <p:cNvCxnSpPr/>
          <p:nvPr/>
        </p:nvCxnSpPr>
        <p:spPr>
          <a:xfrm flipV="1">
            <a:off x="4856400" y="2234520"/>
            <a:ext cx="711000" cy="1117080"/>
          </a:xfrm>
          <a:prstGeom prst="straightConnector1">
            <a:avLst/>
          </a:prstGeom>
          <a:ln w="19050">
            <a:solidFill>
              <a:srgbClr val="000000"/>
            </a:solidFill>
            <a:round/>
            <a:tailEnd len="med" type="triangle" w="med"/>
          </a:ln>
        </p:spPr>
      </p:cxnSp>
      <p:cxnSp>
        <p:nvCxnSpPr>
          <p:cNvPr id="61" name="Google Shape;106;p19"/>
          <p:cNvCxnSpPr/>
          <p:nvPr/>
        </p:nvCxnSpPr>
        <p:spPr>
          <a:xfrm flipH="1">
            <a:off x="5065560" y="3154320"/>
            <a:ext cx="295560" cy="388800"/>
          </a:xfrm>
          <a:prstGeom prst="straightConnector1">
            <a:avLst/>
          </a:prstGeom>
          <a:ln w="19050">
            <a:solidFill>
              <a:srgbClr val="ff9900"/>
            </a:solidFill>
            <a:round/>
            <a:headEnd len="med" type="triangle" w="med"/>
          </a:ln>
        </p:spPr>
      </p:cxnSp>
      <p:sp>
        <p:nvSpPr>
          <p:cNvPr id="62" name="Google Shape;107;p19"/>
          <p:cNvSpPr/>
          <p:nvPr/>
        </p:nvSpPr>
        <p:spPr>
          <a:xfrm>
            <a:off x="4911840" y="905400"/>
            <a:ext cx="1740240" cy="767880"/>
          </a:xfrm>
          <a:prstGeom prst="rect">
            <a:avLst/>
          </a:prstGeom>
          <a:noFill/>
          <a:ln w="0">
            <a:noFill/>
          </a:ln>
        </p:spPr>
        <p:style>
          <a:lnRef idx="0"/>
          <a:fillRef idx="0"/>
          <a:effectRef idx="0"/>
          <a:fontRef idx="minor"/>
        </p:style>
        <p:txBody>
          <a:bodyPr tIns="91440" bIns="91440" anchor="ctr">
            <a:noAutofit/>
          </a:bodyPr>
          <a:p>
            <a:pPr algn="ctr">
              <a:lnSpc>
                <a:spcPct val="100000"/>
              </a:lnSpc>
              <a:tabLst>
                <a:tab algn="l" pos="0"/>
              </a:tabLst>
            </a:pPr>
            <a:r>
              <a:rPr b="0" lang="en-US" sz="1600" spc="-1" strike="noStrike">
                <a:solidFill>
                  <a:srgbClr val="ff0000"/>
                </a:solidFill>
                <a:latin typeface="Arial"/>
                <a:ea typeface="Arial"/>
              </a:rPr>
              <a:t>Server :</a:t>
            </a:r>
            <a:r>
              <a:rPr b="0" lang="en-US" sz="1600" spc="-1" strike="noStrike">
                <a:solidFill>
                  <a:srgbClr val="333333"/>
                </a:solidFill>
                <a:latin typeface="Arial"/>
                <a:ea typeface="Arial"/>
              </a:rPr>
              <a:t> </a:t>
            </a:r>
            <a:endParaRPr b="0" lang="en-US" sz="1600" spc="-1" strike="noStrike">
              <a:solidFill>
                <a:srgbClr val="000000"/>
              </a:solidFill>
              <a:latin typeface="Arial"/>
            </a:endParaRPr>
          </a:p>
          <a:p>
            <a:pPr algn="ctr">
              <a:lnSpc>
                <a:spcPct val="100000"/>
              </a:lnSpc>
              <a:tabLst>
                <a:tab algn="l" pos="0"/>
              </a:tabLst>
            </a:pPr>
            <a:r>
              <a:rPr b="0" lang="zh-TW" sz="1600" spc="-1" strike="noStrike">
                <a:solidFill>
                  <a:srgbClr val="333333"/>
                </a:solidFill>
                <a:latin typeface="Arial"/>
                <a:ea typeface="Arial"/>
              </a:rPr>
              <a:t>提供讀書室</a:t>
            </a:r>
            <a:endParaRPr b="0" lang="en-US" sz="1600" spc="-1" strike="noStrike">
              <a:solidFill>
                <a:srgbClr val="000000"/>
              </a:solidFill>
              <a:latin typeface="Arial"/>
            </a:endParaRPr>
          </a:p>
          <a:p>
            <a:pPr algn="ctr">
              <a:lnSpc>
                <a:spcPct val="100000"/>
              </a:lnSpc>
              <a:tabLst>
                <a:tab algn="l" pos="0"/>
              </a:tabLst>
            </a:pPr>
            <a:r>
              <a:rPr b="0" lang="zh-TW" sz="1600" spc="-1" strike="noStrike">
                <a:solidFill>
                  <a:srgbClr val="333333"/>
                </a:solidFill>
                <a:latin typeface="Arial"/>
                <a:ea typeface="Arial"/>
              </a:rPr>
              <a:t>預約服務</a:t>
            </a:r>
            <a:endParaRPr b="0" lang="en-US" sz="1600" spc="-1" strike="noStrike">
              <a:solidFill>
                <a:srgbClr val="000000"/>
              </a:solidFill>
              <a:latin typeface="Arial"/>
            </a:endParaRPr>
          </a:p>
        </p:txBody>
      </p:sp>
      <p:sp>
        <p:nvSpPr>
          <p:cNvPr id="63" name="Google Shape;111;p19"/>
          <p:cNvSpPr/>
          <p:nvPr/>
        </p:nvSpPr>
        <p:spPr>
          <a:xfrm>
            <a:off x="3290400" y="900360"/>
            <a:ext cx="5516640" cy="3017520"/>
          </a:xfrm>
          <a:prstGeom prst="rect">
            <a:avLst/>
          </a:prstGeom>
          <a:noFill/>
          <a:ln w="9525">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64" name="Google Shape;112;p19"/>
          <p:cNvSpPr/>
          <p:nvPr/>
        </p:nvSpPr>
        <p:spPr>
          <a:xfrm>
            <a:off x="7549560" y="2176560"/>
            <a:ext cx="859680" cy="3528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刷房卡</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硬體架構 </a:t>
            </a:r>
            <a:r>
              <a:rPr b="0" lang="en-US" sz="2800" spc="-1" strike="noStrike">
                <a:solidFill>
                  <a:srgbClr val="002f4a"/>
                </a:solidFill>
                <a:latin typeface="Arial"/>
                <a:ea typeface="Arial"/>
              </a:rPr>
              <a:t>(</a:t>
            </a:r>
            <a:r>
              <a:rPr b="0" lang="zh-TW" sz="2800" spc="-1" strike="noStrike">
                <a:solidFill>
                  <a:srgbClr val="002f4a"/>
                </a:solidFill>
                <a:latin typeface="Arial"/>
                <a:ea typeface="Arial"/>
              </a:rPr>
              <a:t>含</a:t>
            </a:r>
            <a:r>
              <a:rPr b="0" lang="en-US" sz="2800" spc="-1" strike="noStrike">
                <a:solidFill>
                  <a:srgbClr val="002f4a"/>
                </a:solidFill>
                <a:latin typeface="Arial"/>
                <a:ea typeface="Arial"/>
              </a:rPr>
              <a:t>I/O)</a:t>
            </a:r>
            <a:endParaRPr b="0" lang="en-US" sz="2800" spc="-1" strike="noStrike">
              <a:solidFill>
                <a:srgbClr val="000000"/>
              </a:solidFill>
              <a:latin typeface="Arial"/>
            </a:endParaRPr>
          </a:p>
        </p:txBody>
      </p:sp>
      <p:sp>
        <p:nvSpPr>
          <p:cNvPr id="66" name="Google Shape;154;p21"/>
          <p:cNvSpPr/>
          <p:nvPr/>
        </p:nvSpPr>
        <p:spPr>
          <a:xfrm>
            <a:off x="8862120" y="4883040"/>
            <a:ext cx="150480" cy="182520"/>
          </a:xfrm>
          <a:prstGeom prst="rect">
            <a:avLst/>
          </a:prstGeom>
          <a:noFill/>
          <a:ln w="0">
            <a:noFill/>
          </a:ln>
        </p:spPr>
        <p:style>
          <a:lnRef idx="0"/>
          <a:fillRef idx="0"/>
          <a:effectRef idx="0"/>
          <a:fontRef idx="minor"/>
        </p:style>
        <p:txBody>
          <a:bodyPr lIns="45720" rIns="45720" tIns="22680" bIns="22680" anchor="t">
            <a:spAutoFit/>
          </a:bodyPr>
          <a:p>
            <a:pPr>
              <a:lnSpc>
                <a:spcPct val="100000"/>
              </a:lnSpc>
              <a:tabLst>
                <a:tab algn="l" pos="0"/>
              </a:tabLst>
            </a:pPr>
            <a:r>
              <a:rPr b="0" lang="en-US" sz="900" spc="-1" strike="noStrike">
                <a:solidFill>
                  <a:srgbClr val="31394d"/>
                </a:solidFill>
                <a:latin typeface="Calibri"/>
                <a:ea typeface="Calibri"/>
              </a:rPr>
              <a:t>6</a:t>
            </a:r>
            <a:endParaRPr b="0" lang="en-US" sz="900" spc="-1" strike="noStrike">
              <a:solidFill>
                <a:srgbClr val="000000"/>
              </a:solidFill>
              <a:latin typeface="Arial"/>
            </a:endParaRPr>
          </a:p>
        </p:txBody>
      </p:sp>
      <p:sp>
        <p:nvSpPr>
          <p:cNvPr id="67" name="Google Shape;155;p21"/>
          <p:cNvSpPr/>
          <p:nvPr/>
        </p:nvSpPr>
        <p:spPr>
          <a:xfrm>
            <a:off x="848880" y="1242720"/>
            <a:ext cx="6709680" cy="3513960"/>
          </a:xfrm>
          <a:prstGeom prst="rect">
            <a:avLst/>
          </a:prstGeom>
          <a:noFill/>
          <a:ln w="0">
            <a:noFill/>
          </a:ln>
        </p:spPr>
        <p:style>
          <a:lnRef idx="0"/>
          <a:fillRef idx="0"/>
          <a:effectRef idx="0"/>
          <a:fontRef idx="minor"/>
        </p:style>
        <p:txBody>
          <a:bodyPr lIns="68400" rIns="68400" tIns="34200" bIns="34200" anchor="t">
            <a:normAutofit/>
          </a:bodyPr>
          <a:p>
            <a:pPr marL="457200" indent="-330120">
              <a:lnSpc>
                <a:spcPct val="150000"/>
              </a:lnSpc>
              <a:spcBef>
                <a:spcPts val="799"/>
              </a:spcBef>
              <a:buClr>
                <a:srgbClr val="31394d"/>
              </a:buClr>
              <a:buFont typeface="Arial"/>
              <a:buChar char="●"/>
            </a:pPr>
            <a:r>
              <a:rPr b="0" lang="en-US" sz="1600" spc="-1" strike="noStrike">
                <a:solidFill>
                  <a:srgbClr val="31394d"/>
                </a:solidFill>
                <a:latin typeface="Arial"/>
                <a:ea typeface="Arial"/>
              </a:rPr>
              <a:t>Server</a:t>
            </a:r>
            <a:r>
              <a:rPr b="0" lang="zh-TW" sz="1600" spc="-1" strike="noStrike">
                <a:solidFill>
                  <a:srgbClr val="31394d"/>
                </a:solidFill>
                <a:latin typeface="Arial"/>
                <a:ea typeface="Arial"/>
              </a:rPr>
              <a:t>端</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Raspberry pi </a:t>
            </a:r>
            <a:endParaRPr b="0" lang="en-US" sz="1600" spc="-1" strike="noStrike">
              <a:solidFill>
                <a:srgbClr val="000000"/>
              </a:solidFill>
              <a:latin typeface="Arial"/>
            </a:endParaRPr>
          </a:p>
          <a:p>
            <a:pPr marL="457200" indent="-330120">
              <a:lnSpc>
                <a:spcPct val="150000"/>
              </a:lnSpc>
              <a:buClr>
                <a:srgbClr val="31394d"/>
              </a:buClr>
              <a:buFont typeface="Arial"/>
              <a:buChar char="●"/>
            </a:pPr>
            <a:r>
              <a:rPr b="0" lang="en-US" sz="1600" spc="-1" strike="noStrike">
                <a:solidFill>
                  <a:srgbClr val="31394d"/>
                </a:solidFill>
                <a:latin typeface="Arial"/>
                <a:ea typeface="Arial"/>
              </a:rPr>
              <a:t>Client</a:t>
            </a:r>
            <a:r>
              <a:rPr b="0" lang="zh-TW" sz="1600" spc="-1" strike="noStrike">
                <a:solidFill>
                  <a:srgbClr val="31394d"/>
                </a:solidFill>
                <a:latin typeface="Arial"/>
                <a:ea typeface="Arial"/>
              </a:rPr>
              <a:t>端</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Raspberry pi </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1</a:t>
            </a:r>
            <a:r>
              <a:rPr b="0" lang="zh-TW" sz="1600" spc="-1" strike="noStrike">
                <a:solidFill>
                  <a:srgbClr val="31394d"/>
                </a:solidFill>
                <a:latin typeface="Arial"/>
                <a:ea typeface="Arial"/>
              </a:rPr>
              <a:t>個按鈕 </a:t>
            </a:r>
            <a:r>
              <a:rPr b="0" lang="en-US" sz="1600" spc="-1" strike="noStrike">
                <a:solidFill>
                  <a:srgbClr val="31394d"/>
                </a:solidFill>
                <a:latin typeface="Arial"/>
                <a:ea typeface="Arial"/>
              </a:rPr>
              <a:t>(</a:t>
            </a:r>
            <a:r>
              <a:rPr b="0" lang="zh-TW" sz="1600" spc="-1" strike="noStrike">
                <a:solidFill>
                  <a:srgbClr val="31394d"/>
                </a:solidFill>
                <a:latin typeface="Arial"/>
                <a:ea typeface="Arial"/>
              </a:rPr>
              <a:t>切換顯示下一個讀書室的狀態</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1</a:t>
            </a:r>
            <a:r>
              <a:rPr b="0" lang="zh-TW" sz="1600" spc="-1" strike="noStrike">
                <a:solidFill>
                  <a:srgbClr val="31394d"/>
                </a:solidFill>
                <a:latin typeface="Arial"/>
                <a:ea typeface="Arial"/>
              </a:rPr>
              <a:t>個七段顯示器 </a:t>
            </a:r>
            <a:r>
              <a:rPr b="0" lang="en-US" sz="1600" spc="-1" strike="noStrike">
                <a:solidFill>
                  <a:srgbClr val="31394d"/>
                </a:solidFill>
                <a:latin typeface="Arial"/>
                <a:ea typeface="Arial"/>
              </a:rPr>
              <a:t>(</a:t>
            </a:r>
            <a:r>
              <a:rPr b="0" lang="zh-TW" sz="1600" spc="-1" strike="noStrike">
                <a:solidFill>
                  <a:srgbClr val="31394d"/>
                </a:solidFill>
                <a:latin typeface="Arial"/>
                <a:ea typeface="Arial"/>
              </a:rPr>
              <a:t>顯示當前讀書室號碼</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3</a:t>
            </a:r>
            <a:r>
              <a:rPr b="0" lang="zh-TW" sz="1600" spc="-1" strike="noStrike">
                <a:solidFill>
                  <a:srgbClr val="31394d"/>
                </a:solidFill>
                <a:latin typeface="Arial"/>
                <a:ea typeface="Arial"/>
              </a:rPr>
              <a:t>種顏色</a:t>
            </a:r>
            <a:r>
              <a:rPr b="0" lang="en-US" sz="1600" spc="-1" strike="noStrike">
                <a:solidFill>
                  <a:srgbClr val="31394d"/>
                </a:solidFill>
                <a:latin typeface="Arial"/>
                <a:ea typeface="Arial"/>
              </a:rPr>
              <a:t>LED (</a:t>
            </a:r>
            <a:r>
              <a:rPr b="0" lang="zh-TW" sz="1600" spc="-1" strike="noStrike">
                <a:solidFill>
                  <a:srgbClr val="31394d"/>
                </a:solidFill>
                <a:latin typeface="Arial"/>
                <a:ea typeface="Arial"/>
              </a:rPr>
              <a:t>顯示當前讀書室狀態</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RFID (</a:t>
            </a:r>
            <a:r>
              <a:rPr b="0" lang="zh-TW" sz="1600" spc="-1" strike="noStrike">
                <a:solidFill>
                  <a:srgbClr val="31394d"/>
                </a:solidFill>
                <a:latin typeface="Arial"/>
                <a:ea typeface="Arial"/>
              </a:rPr>
              <a:t>刷房卡</a:t>
            </a:r>
            <a:r>
              <a:rPr b="0" lang="en-US" sz="1600" spc="-1" strike="noStrike">
                <a:solidFill>
                  <a:srgbClr val="31394d"/>
                </a:solidFill>
                <a:latin typeface="Arial"/>
                <a:ea typeface="Arial"/>
              </a:rPr>
              <a: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軟體設計</a:t>
            </a:r>
            <a:endParaRPr b="0" lang="en-US" sz="2800" spc="-1" strike="noStrike">
              <a:solidFill>
                <a:srgbClr val="000000"/>
              </a:solidFill>
              <a:latin typeface="Arial"/>
            </a:endParaRPr>
          </a:p>
          <a:p>
            <a:pPr indent="0">
              <a:lnSpc>
                <a:spcPct val="200000"/>
              </a:lnSpc>
              <a:spcAft>
                <a:spcPts val="1199"/>
              </a:spcAft>
              <a:buNone/>
              <a:tabLst>
                <a:tab algn="l" pos="0"/>
              </a:tabLst>
            </a:pPr>
            <a:endParaRPr b="0" lang="en-US" sz="3000" spc="-1" strike="noStrike">
              <a:solidFill>
                <a:srgbClr val="000000"/>
              </a:solidFill>
              <a:latin typeface="Arial"/>
            </a:endParaRPr>
          </a:p>
        </p:txBody>
      </p:sp>
      <p:pic>
        <p:nvPicPr>
          <p:cNvPr id="69" name="Google Shape;168;p23" descr=""/>
          <p:cNvPicPr/>
          <p:nvPr/>
        </p:nvPicPr>
        <p:blipFill>
          <a:blip r:embed="rId1"/>
          <a:stretch/>
        </p:blipFill>
        <p:spPr>
          <a:xfrm>
            <a:off x="59040" y="727200"/>
            <a:ext cx="2485800" cy="4009680"/>
          </a:xfrm>
          <a:prstGeom prst="rect">
            <a:avLst/>
          </a:prstGeom>
          <a:ln w="0">
            <a:noFill/>
          </a:ln>
        </p:spPr>
      </p:pic>
      <p:sp>
        <p:nvSpPr>
          <p:cNvPr id="70" name="Google Shape;169;p23"/>
          <p:cNvSpPr/>
          <p:nvPr/>
        </p:nvSpPr>
        <p:spPr>
          <a:xfrm>
            <a:off x="2545200" y="727200"/>
            <a:ext cx="5841360" cy="21027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Server: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timer thread : </a:t>
            </a:r>
            <a:r>
              <a:rPr b="0" lang="zh-TW" sz="1800" spc="-1" strike="noStrike">
                <a:solidFill>
                  <a:schemeClr val="dk2"/>
                </a:solidFill>
                <a:latin typeface="Arial"/>
                <a:ea typeface="Arial"/>
              </a:rPr>
              <a:t>定期 </a:t>
            </a:r>
            <a:r>
              <a:rPr b="0" lang="en-US" sz="1800" spc="-1" strike="noStrike">
                <a:solidFill>
                  <a:schemeClr val="dk2"/>
                </a:solidFill>
                <a:latin typeface="Arial"/>
                <a:ea typeface="Arial"/>
              </a:rPr>
              <a:t>release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button thread: read driver button (block wait)</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client thread: </a:t>
            </a:r>
            <a:r>
              <a:rPr b="0" lang="zh-TW" sz="1800" spc="-1" strike="noStrike">
                <a:solidFill>
                  <a:schemeClr val="dk2"/>
                </a:solidFill>
                <a:latin typeface="Arial"/>
                <a:ea typeface="Arial"/>
              </a:rPr>
              <a:t>接收 </a:t>
            </a:r>
            <a:r>
              <a:rPr b="0" lang="en-US" sz="1800" spc="-1" strike="noStrike">
                <a:solidFill>
                  <a:schemeClr val="dk2"/>
                </a:solidFill>
                <a:latin typeface="Arial"/>
                <a:ea typeface="Arial"/>
              </a:rPr>
              <a:t>client </a:t>
            </a:r>
            <a:r>
              <a:rPr b="0" lang="zh-TW" sz="1800" spc="-1" strike="noStrike">
                <a:solidFill>
                  <a:schemeClr val="dk2"/>
                </a:solidFill>
                <a:latin typeface="Arial"/>
                <a:ea typeface="Arial"/>
              </a:rPr>
              <a:t>命令 執行 </a:t>
            </a:r>
            <a:r>
              <a:rPr b="0" lang="en-US" sz="1800" spc="-1" strike="noStrike">
                <a:solidFill>
                  <a:schemeClr val="dk2"/>
                </a:solidFill>
                <a:latin typeface="Arial"/>
                <a:ea typeface="Arial"/>
              </a:rPr>
              <a:t>reserve/checkin…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zh-TW" sz="1800" spc="-1" strike="noStrike">
                <a:solidFill>
                  <a:schemeClr val="dk2"/>
                </a:solidFill>
                <a:latin typeface="Arial"/>
                <a:ea typeface="Arial"/>
              </a:rPr>
              <a:t>並 </a:t>
            </a:r>
            <a:r>
              <a:rPr b="0" lang="en-US" sz="1800" spc="-1" strike="noStrike">
                <a:solidFill>
                  <a:schemeClr val="dk2"/>
                </a:solidFill>
                <a:latin typeface="Arial"/>
                <a:ea typeface="Arial"/>
              </a:rPr>
              <a:t>read/write driver </a:t>
            </a:r>
            <a:r>
              <a:rPr b="0" lang="zh-TW" sz="1800" spc="-1" strike="noStrike">
                <a:solidFill>
                  <a:schemeClr val="dk2"/>
                </a:solidFill>
                <a:latin typeface="Arial"/>
                <a:ea typeface="Arial"/>
              </a:rPr>
              <a:t>來更新 </a:t>
            </a:r>
            <a:r>
              <a:rPr b="0" lang="en-US" sz="1800" spc="-1" strike="noStrike">
                <a:solidFill>
                  <a:schemeClr val="dk2"/>
                </a:solidFill>
                <a:latin typeface="Arial"/>
                <a:ea typeface="Arial"/>
              </a:rPr>
              <a:t>led/7seg</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Client: </a:t>
            </a:r>
            <a:r>
              <a:rPr b="0" lang="zh-TW" sz="1800" spc="-1" strike="noStrike">
                <a:solidFill>
                  <a:schemeClr val="dk2"/>
                </a:solidFill>
                <a:latin typeface="Arial"/>
                <a:ea typeface="Arial"/>
              </a:rPr>
              <a:t>傳送使用者 </a:t>
            </a:r>
            <a:r>
              <a:rPr b="0" lang="en-US" sz="1800" spc="-1" strike="noStrike">
                <a:solidFill>
                  <a:schemeClr val="dk2"/>
                </a:solidFill>
                <a:latin typeface="Arial"/>
                <a:ea typeface="Arial"/>
              </a:rPr>
              <a:t>command </a:t>
            </a:r>
            <a:r>
              <a:rPr b="0" lang="zh-TW" sz="1800" spc="-1" strike="noStrike">
                <a:solidFill>
                  <a:schemeClr val="dk2"/>
                </a:solidFill>
                <a:latin typeface="Arial"/>
                <a:ea typeface="Arial"/>
              </a:rPr>
              <a:t>給 </a:t>
            </a:r>
            <a:r>
              <a:rPr b="0" lang="en-US" sz="1800" spc="-1" strike="noStrike">
                <a:solidFill>
                  <a:schemeClr val="dk2"/>
                </a:solidFill>
                <a:latin typeface="Arial"/>
                <a:ea typeface="Arial"/>
              </a:rPr>
              <a:t>server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結合上課所學</a:t>
            </a:r>
            <a:endParaRPr b="0" lang="en-US" sz="2800" spc="-1" strike="noStrike">
              <a:solidFill>
                <a:srgbClr val="000000"/>
              </a:solidFill>
              <a:latin typeface="Arial"/>
            </a:endParaRPr>
          </a:p>
          <a:p>
            <a:pPr indent="0">
              <a:lnSpc>
                <a:spcPct val="200000"/>
              </a:lnSpc>
              <a:spcAft>
                <a:spcPts val="1199"/>
              </a:spcAft>
              <a:buNone/>
              <a:tabLst>
                <a:tab algn="l" pos="0"/>
              </a:tabLst>
            </a:pPr>
            <a:endParaRPr b="0" lang="en-US" sz="3000" spc="-1" strike="noStrike">
              <a:solidFill>
                <a:srgbClr val="000000"/>
              </a:solidFill>
              <a:latin typeface="Arial"/>
            </a:endParaRPr>
          </a:p>
        </p:txBody>
      </p:sp>
      <p:sp>
        <p:nvSpPr>
          <p:cNvPr id="72" name="PlaceHolder 2"/>
          <p:cNvSpPr>
            <a:spLocks noGrp="1"/>
          </p:cNvSpPr>
          <p:nvPr>
            <p:ph/>
          </p:nvPr>
        </p:nvSpPr>
        <p:spPr>
          <a:xfrm>
            <a:off x="311760" y="907560"/>
            <a:ext cx="8520120" cy="3975120"/>
          </a:xfrm>
          <a:prstGeom prst="rect">
            <a:avLst/>
          </a:prstGeom>
          <a:noFill/>
          <a:ln w="0">
            <a:noFill/>
          </a:ln>
        </p:spPr>
        <p:txBody>
          <a:bodyPr lIns="91440" rIns="91440" tIns="91440" bIns="91440" anchor="t">
            <a:noAutofit/>
          </a:bodyPr>
          <a:p>
            <a:pPr marL="457200" indent="-317520">
              <a:lnSpc>
                <a:spcPct val="115000"/>
              </a:lnSpc>
              <a:buClr>
                <a:srgbClr val="000000"/>
              </a:buClr>
              <a:buFont typeface="Microsoft JhengHei"/>
              <a:buChar char="●"/>
            </a:pPr>
            <a:r>
              <a:rPr b="0" lang="en-US" sz="1400" spc="-1" strike="noStrike">
                <a:solidFill>
                  <a:schemeClr val="dk1"/>
                </a:solidFill>
                <a:latin typeface="Microsoft JhengHei"/>
                <a:ea typeface="Microsoft JhengHei"/>
              </a:rPr>
              <a:t>Sync</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Mutex</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Semaphore</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Spinlock</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Cond.</a:t>
            </a:r>
            <a:r>
              <a:rPr b="0" lang="zh-TW" sz="1400" spc="-1" strike="noStrike">
                <a:solidFill>
                  <a:schemeClr val="dk1"/>
                </a:solidFill>
                <a:latin typeface="Microsoft JhengHei"/>
                <a:ea typeface="Microsoft JhengHei"/>
              </a:rPr>
              <a:t>）</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以 </a:t>
            </a:r>
            <a:r>
              <a:rPr b="0" lang="en-US" sz="1400" spc="-1" strike="noStrike">
                <a:solidFill>
                  <a:schemeClr val="dk1"/>
                </a:solidFill>
                <a:latin typeface="Microsoft JhengHei"/>
                <a:ea typeface="Microsoft JhengHei"/>
              </a:rPr>
              <a:t>mutex </a:t>
            </a:r>
            <a:r>
              <a:rPr b="0" lang="zh-TW" sz="1400" spc="-1" strike="noStrike">
                <a:solidFill>
                  <a:schemeClr val="dk1"/>
                </a:solidFill>
                <a:latin typeface="Microsoft JhengHei"/>
                <a:ea typeface="Microsoft JhengHei"/>
              </a:rPr>
              <a:t>保護「讀書室狀態表與使用次數計數」。</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報到與延長採原子檢查後更新（</a:t>
            </a:r>
            <a:r>
              <a:rPr b="0" lang="en-US" sz="1400" spc="-1" strike="noStrike">
                <a:solidFill>
                  <a:schemeClr val="dk1"/>
                </a:solidFill>
                <a:latin typeface="Microsoft JhengHei"/>
                <a:ea typeface="Microsoft JhengHei"/>
              </a:rPr>
              <a:t>check-then-act </a:t>
            </a:r>
            <a:r>
              <a:rPr b="0" lang="zh-TW" sz="1400" spc="-1" strike="noStrike">
                <a:solidFill>
                  <a:schemeClr val="dk1"/>
                </a:solidFill>
                <a:latin typeface="Microsoft JhengHei"/>
                <a:ea typeface="Microsoft JhengHei"/>
              </a:rPr>
              <a:t>在同一鎖內）。</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以條件變數或 </a:t>
            </a:r>
            <a:r>
              <a:rPr b="0" lang="en-US" sz="1400" spc="-1" strike="noStrike">
                <a:solidFill>
                  <a:schemeClr val="dk1"/>
                </a:solidFill>
                <a:latin typeface="Microsoft JhengHei"/>
                <a:ea typeface="Microsoft JhengHei"/>
              </a:rPr>
              <a:t>wait-queue </a:t>
            </a:r>
            <a:r>
              <a:rPr b="0" lang="zh-TW" sz="1400" spc="-1" strike="noStrike">
                <a:solidFill>
                  <a:schemeClr val="dk1"/>
                </a:solidFill>
                <a:latin typeface="Microsoft JhengHei"/>
                <a:ea typeface="Microsoft JhengHei"/>
              </a:rPr>
              <a:t>喚醒等待端（例如候補清單）。</a:t>
            </a:r>
            <a:endParaRPr b="0" lang="en-US" sz="1400" spc="-1" strike="noStrike">
              <a:solidFill>
                <a:srgbClr val="000000"/>
              </a:solidFill>
              <a:latin typeface="Arial"/>
            </a:endParaRPr>
          </a:p>
          <a:p>
            <a:pPr marL="457200" indent="-317520">
              <a:lnSpc>
                <a:spcPct val="115000"/>
              </a:lnSpc>
              <a:buClr>
                <a:srgbClr val="000000"/>
              </a:buClr>
              <a:buFont typeface="Microsoft JhengHei"/>
              <a:buChar char="●"/>
            </a:pPr>
            <a:r>
              <a:rPr b="0" lang="en-US" sz="1400" spc="-1" strike="noStrike">
                <a:solidFill>
                  <a:schemeClr val="dk1"/>
                </a:solidFill>
                <a:latin typeface="Microsoft JhengHei"/>
                <a:ea typeface="Microsoft JhengHei"/>
              </a:rPr>
              <a:t>Comm</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狀態讀取 </a:t>
            </a:r>
            <a:r>
              <a:rPr b="0" lang="en-US" sz="1400" spc="-1" strike="noStrike">
                <a:solidFill>
                  <a:schemeClr val="dk1"/>
                </a:solidFill>
                <a:latin typeface="Microsoft JhengHei"/>
                <a:ea typeface="Microsoft JhengHei"/>
              </a:rPr>
              <a:t>: </a:t>
            </a:r>
            <a:r>
              <a:rPr b="0" lang="zh-TW" sz="1400" spc="-1" strike="noStrike">
                <a:solidFill>
                  <a:schemeClr val="dk1"/>
                </a:solidFill>
                <a:latin typeface="Microsoft JhengHei"/>
                <a:ea typeface="Microsoft JhengHei"/>
              </a:rPr>
              <a:t>透過 </a:t>
            </a:r>
            <a:r>
              <a:rPr b="0" lang="en-US" sz="1400" spc="-1" strike="noStrike">
                <a:solidFill>
                  <a:schemeClr val="dk1"/>
                </a:solidFill>
                <a:latin typeface="Microsoft JhengHei"/>
                <a:ea typeface="Microsoft JhengHei"/>
              </a:rPr>
              <a:t>cat </a:t>
            </a:r>
            <a:r>
              <a:rPr b="0" lang="zh-TW" sz="1400" spc="-1" strike="noStrike">
                <a:solidFill>
                  <a:schemeClr val="dk1"/>
                </a:solidFill>
                <a:latin typeface="Microsoft JhengHei"/>
                <a:ea typeface="Microsoft JhengHei"/>
              </a:rPr>
              <a:t>或 </a:t>
            </a:r>
            <a:r>
              <a:rPr b="0" lang="en-US" sz="1400" spc="-1" strike="noStrike">
                <a:solidFill>
                  <a:schemeClr val="dk1"/>
                </a:solidFill>
                <a:latin typeface="Microsoft JhengHei"/>
                <a:ea typeface="Microsoft JhengHei"/>
              </a:rPr>
              <a:t>read() </a:t>
            </a:r>
            <a:r>
              <a:rPr b="0" lang="zh-TW" sz="1400" spc="-1" strike="noStrike">
                <a:solidFill>
                  <a:schemeClr val="dk1"/>
                </a:solidFill>
                <a:latin typeface="Microsoft JhengHei"/>
                <a:ea typeface="Microsoft JhengHei"/>
              </a:rPr>
              <a:t>讀取狀態。</a:t>
            </a:r>
            <a:endParaRPr b="0" lang="en-US" sz="1400" spc="-1" strike="noStrike">
              <a:solidFill>
                <a:srgbClr val="000000"/>
              </a:solidFill>
              <a:latin typeface="Arial"/>
            </a:endParaRPr>
          </a:p>
          <a:p>
            <a:pPr lvl="1" marL="914400" indent="-3301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指令通道：使用 </a:t>
            </a:r>
            <a:r>
              <a:rPr b="0" lang="en-US" sz="1400" spc="-1" strike="noStrike">
                <a:solidFill>
                  <a:schemeClr val="dk1"/>
                </a:solidFill>
                <a:latin typeface="Microsoft JhengHei"/>
                <a:ea typeface="Microsoft JhengHei"/>
              </a:rPr>
              <a:t>ioctl() </a:t>
            </a:r>
            <a:r>
              <a:rPr b="0" lang="zh-TW" sz="1400" spc="-1" strike="noStrike">
                <a:solidFill>
                  <a:schemeClr val="dk1"/>
                </a:solidFill>
                <a:latin typeface="Microsoft JhengHei"/>
                <a:ea typeface="Microsoft JhengHei"/>
              </a:rPr>
              <a:t>或 </a:t>
            </a:r>
            <a:r>
              <a:rPr b="0" lang="en-US" sz="1400" spc="-1" strike="noStrike">
                <a:solidFill>
                  <a:schemeClr val="dk1"/>
                </a:solidFill>
                <a:latin typeface="Microsoft JhengHei"/>
                <a:ea typeface="Microsoft JhengHei"/>
              </a:rPr>
              <a:t>write() </a:t>
            </a:r>
            <a:r>
              <a:rPr b="0" lang="zh-TW" sz="1400" spc="-1" strike="noStrike">
                <a:solidFill>
                  <a:schemeClr val="dk1"/>
                </a:solidFill>
                <a:latin typeface="Microsoft JhengHei"/>
                <a:ea typeface="Microsoft JhengHei"/>
              </a:rPr>
              <a:t>傳送指令 </a:t>
            </a:r>
            <a:r>
              <a:rPr b="0" lang="en-US" sz="1400" spc="-1" strike="noStrike">
                <a:solidFill>
                  <a:schemeClr val="dk1"/>
                </a:solidFill>
                <a:latin typeface="Microsoft JhengHei"/>
                <a:ea typeface="Microsoft JhengHei"/>
              </a:rPr>
              <a:t>{reserve, checkin, release, extend}</a:t>
            </a:r>
            <a:r>
              <a:rPr b="0" lang="zh-TW" sz="1600" spc="-1" strike="noStrike">
                <a:solidFill>
                  <a:schemeClr val="dk1"/>
                </a:solidFill>
                <a:latin typeface="Microsoft JhengHei"/>
                <a:ea typeface="Microsoft JhengHei"/>
              </a:rPr>
              <a:t>。</a:t>
            </a:r>
            <a:endParaRPr b="0" lang="en-US" sz="1600" spc="-1" strike="noStrike">
              <a:solidFill>
                <a:srgbClr val="000000"/>
              </a:solidFill>
              <a:latin typeface="Arial"/>
            </a:endParaRPr>
          </a:p>
          <a:p>
            <a:pPr indent="0">
              <a:lnSpc>
                <a:spcPct val="95000"/>
              </a:lnSpc>
              <a:spcAft>
                <a:spcPts val="1199"/>
              </a:spcAft>
              <a:buNone/>
              <a:tabLst>
                <a:tab algn="l" pos="0"/>
              </a:tabLst>
            </a:pPr>
            <a:endParaRPr b="0" lang="en-US" sz="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結合上課所學</a:t>
            </a:r>
            <a:endParaRPr b="0" lang="en-US" sz="2800" spc="-1" strike="noStrike">
              <a:solidFill>
                <a:srgbClr val="000000"/>
              </a:solidFill>
              <a:latin typeface="Arial"/>
            </a:endParaRPr>
          </a:p>
          <a:p>
            <a:pPr indent="0">
              <a:lnSpc>
                <a:spcPct val="200000"/>
              </a:lnSpc>
              <a:spcAft>
                <a:spcPts val="1199"/>
              </a:spcAft>
              <a:buNone/>
              <a:tabLst>
                <a:tab algn="l" pos="0"/>
              </a:tabLst>
            </a:pPr>
            <a:endParaRPr b="0" lang="en-US" sz="3000" spc="-1" strike="noStrike">
              <a:solidFill>
                <a:srgbClr val="000000"/>
              </a:solidFill>
              <a:latin typeface="Arial"/>
            </a:endParaRPr>
          </a:p>
        </p:txBody>
      </p:sp>
      <p:sp>
        <p:nvSpPr>
          <p:cNvPr id="74" name="PlaceHolder 2"/>
          <p:cNvSpPr>
            <a:spLocks noGrp="1"/>
          </p:cNvSpPr>
          <p:nvPr>
            <p:ph/>
          </p:nvPr>
        </p:nvSpPr>
        <p:spPr>
          <a:xfrm>
            <a:off x="311760" y="877680"/>
            <a:ext cx="8520120" cy="3353400"/>
          </a:xfrm>
          <a:prstGeom prst="rect">
            <a:avLst/>
          </a:prstGeom>
          <a:noFill/>
          <a:ln w="0">
            <a:noFill/>
          </a:ln>
        </p:spPr>
        <p:txBody>
          <a:bodyPr lIns="91440" rIns="91440" tIns="91440" bIns="91440" anchor="t">
            <a:noAutofit/>
          </a:bodyPr>
          <a:p>
            <a:pPr marL="457200" indent="-317520">
              <a:lnSpc>
                <a:spcPct val="115000"/>
              </a:lnSpc>
              <a:buClr>
                <a:srgbClr val="000000"/>
              </a:buClr>
              <a:buFont typeface="Arial"/>
              <a:buChar char="●"/>
            </a:pPr>
            <a:r>
              <a:rPr b="0" lang="en-US" sz="1400" spc="-1" strike="noStrike">
                <a:solidFill>
                  <a:schemeClr val="dk1"/>
                </a:solidFill>
                <a:latin typeface="Arial"/>
                <a:ea typeface="Arial"/>
              </a:rPr>
              <a:t>I/O</a:t>
            </a:r>
            <a:r>
              <a:rPr b="0" lang="zh-TW" sz="1400" spc="-1" strike="noStrike">
                <a:solidFill>
                  <a:schemeClr val="dk1"/>
                </a:solidFill>
                <a:latin typeface="Arial"/>
                <a:ea typeface="Arial"/>
              </a:rPr>
              <a:t>（</a:t>
            </a:r>
            <a:r>
              <a:rPr b="0" lang="en-US" sz="1400" spc="-1" strike="noStrike">
                <a:solidFill>
                  <a:schemeClr val="dk1"/>
                </a:solidFill>
                <a:latin typeface="Arial"/>
                <a:ea typeface="Arial"/>
              </a:rPr>
              <a:t>Device driver</a:t>
            </a:r>
            <a:r>
              <a:rPr b="0" lang="zh-TW" sz="1400" spc="-1" strike="noStrike">
                <a:solidFill>
                  <a:schemeClr val="dk1"/>
                </a:solidFill>
                <a:latin typeface="Arial"/>
                <a:ea typeface="Arial"/>
              </a:rPr>
              <a:t>／</a:t>
            </a:r>
            <a:r>
              <a:rPr b="0" lang="en-US" sz="1400" spc="-1" strike="noStrike">
                <a:solidFill>
                  <a:schemeClr val="dk1"/>
                </a:solidFill>
                <a:latin typeface="Arial"/>
                <a:ea typeface="Arial"/>
              </a:rPr>
              <a:t>Device table</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GPIO </a:t>
            </a:r>
            <a:r>
              <a:rPr b="0" lang="zh-TW" sz="1400" spc="-1" strike="noStrike">
                <a:solidFill>
                  <a:schemeClr val="dk1"/>
                </a:solidFill>
                <a:latin typeface="Arial"/>
                <a:ea typeface="Arial"/>
              </a:rPr>
              <a:t>驅動控制三色 </a:t>
            </a:r>
            <a:r>
              <a:rPr b="0" lang="en-US" sz="1400" spc="-1" strike="noStrike">
                <a:solidFill>
                  <a:schemeClr val="dk1"/>
                </a:solidFill>
                <a:latin typeface="Arial"/>
                <a:ea typeface="Arial"/>
              </a:rPr>
              <a:t>LED</a:t>
            </a:r>
            <a:r>
              <a:rPr b="0" lang="zh-TW" sz="1400" spc="-1" strike="noStrike">
                <a:solidFill>
                  <a:schemeClr val="dk1"/>
                </a:solidFill>
                <a:latin typeface="Arial"/>
                <a:ea typeface="Arial"/>
              </a:rPr>
              <a:t>；建立 </a:t>
            </a:r>
            <a:r>
              <a:rPr b="0" lang="en-US" sz="1400" spc="-1" strike="noStrike">
                <a:solidFill>
                  <a:srgbClr val="188038"/>
                </a:solidFill>
                <a:latin typeface="Roboto Mono"/>
                <a:ea typeface="Roboto Mono"/>
              </a:rPr>
              <a:t>/dev/room</a:t>
            </a:r>
            <a:r>
              <a:rPr b="0" lang="en-US" sz="1400" spc="-1" strike="noStrike">
                <a:solidFill>
                  <a:schemeClr val="dk1"/>
                </a:solidFill>
                <a:latin typeface="Arial"/>
                <a:ea typeface="Arial"/>
              </a:rPr>
              <a:t> </a:t>
            </a:r>
            <a:r>
              <a:rPr b="0" lang="zh-TW" sz="1400" spc="-1" strike="noStrike">
                <a:solidFill>
                  <a:schemeClr val="dk1"/>
                </a:solidFill>
                <a:latin typeface="Arial"/>
                <a:ea typeface="Arial"/>
              </a:rPr>
              <a:t>介面。</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zh-TW" sz="1400" spc="-1" strike="noStrike">
                <a:solidFill>
                  <a:schemeClr val="dk1"/>
                </a:solidFill>
                <a:latin typeface="Arial"/>
                <a:ea typeface="Arial"/>
              </a:rPr>
              <a:t>去抖按鍵更新當前讀書室號碼</a:t>
            </a:r>
            <a:r>
              <a:rPr b="0" lang="en-US" sz="1400" spc="-1" strike="noStrike">
                <a:solidFill>
                  <a:schemeClr val="dk1"/>
                </a:solidFill>
                <a:latin typeface="Arial"/>
                <a:ea typeface="Arial"/>
              </a:rPr>
              <a:t>(</a:t>
            </a:r>
            <a:r>
              <a:rPr b="0" lang="zh-TW" sz="1400" spc="-1" strike="noStrike">
                <a:solidFill>
                  <a:schemeClr val="dk1"/>
                </a:solidFill>
                <a:latin typeface="Arial"/>
                <a:ea typeface="Arial"/>
              </a:rPr>
              <a:t>讓</a:t>
            </a:r>
            <a:r>
              <a:rPr b="0" lang="en-US" sz="1400" spc="-1" strike="noStrike">
                <a:solidFill>
                  <a:schemeClr val="dk1"/>
                </a:solidFill>
                <a:latin typeface="Arial"/>
                <a:ea typeface="Arial"/>
              </a:rPr>
              <a:t>7seg </a:t>
            </a:r>
            <a:r>
              <a:rPr b="0" lang="zh-TW" sz="1400" spc="-1" strike="noStrike">
                <a:solidFill>
                  <a:schemeClr val="dk1"/>
                </a:solidFill>
                <a:latin typeface="Arial"/>
                <a:ea typeface="Arial"/>
              </a:rPr>
              <a:t>顯示下一個</a:t>
            </a:r>
            <a:r>
              <a:rPr b="0" lang="en-US" sz="1400" spc="-1" strike="noStrike">
                <a:solidFill>
                  <a:schemeClr val="dk1"/>
                </a:solidFill>
                <a:latin typeface="Arial"/>
                <a:ea typeface="Arial"/>
              </a:rPr>
              <a:t>)</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GPIO </a:t>
            </a:r>
            <a:r>
              <a:rPr b="0" lang="zh-TW" sz="1400" spc="-1" strike="noStrike">
                <a:solidFill>
                  <a:schemeClr val="dk1"/>
                </a:solidFill>
                <a:latin typeface="Arial"/>
                <a:ea typeface="Arial"/>
              </a:rPr>
              <a:t>驅動控制七段顯示器顯示當前讀書室號碼</a:t>
            </a:r>
            <a:endParaRPr b="0" lang="en-US" sz="1400" spc="-1" strike="noStrike">
              <a:solidFill>
                <a:srgbClr val="000000"/>
              </a:solidFill>
              <a:latin typeface="Arial"/>
            </a:endParaRPr>
          </a:p>
          <a:p>
            <a:pPr marL="457200" indent="-317520">
              <a:lnSpc>
                <a:spcPct val="115000"/>
              </a:lnSpc>
              <a:buClr>
                <a:srgbClr val="000000"/>
              </a:buClr>
              <a:buFont typeface="Arial"/>
              <a:buChar char="●"/>
            </a:pPr>
            <a:r>
              <a:rPr b="0" lang="en-US" sz="1400" spc="-1" strike="noStrike">
                <a:solidFill>
                  <a:schemeClr val="dk1"/>
                </a:solidFill>
                <a:latin typeface="Arial"/>
                <a:ea typeface="Arial"/>
              </a:rPr>
              <a:t>INT</a:t>
            </a:r>
            <a:r>
              <a:rPr b="0" lang="zh-TW" sz="1400" spc="-1" strike="noStrike">
                <a:solidFill>
                  <a:schemeClr val="dk1"/>
                </a:solidFill>
                <a:latin typeface="Arial"/>
                <a:ea typeface="Arial"/>
              </a:rPr>
              <a:t>（</a:t>
            </a:r>
            <a:r>
              <a:rPr b="0" lang="en-US" sz="1400" spc="-1" strike="noStrike">
                <a:solidFill>
                  <a:schemeClr val="dk1"/>
                </a:solidFill>
                <a:latin typeface="Arial"/>
                <a:ea typeface="Arial"/>
              </a:rPr>
              <a:t>Exception</a:t>
            </a:r>
            <a:r>
              <a:rPr b="0" lang="zh-TW" sz="1400" spc="-1" strike="noStrike">
                <a:solidFill>
                  <a:schemeClr val="dk1"/>
                </a:solidFill>
                <a:latin typeface="Arial"/>
                <a:ea typeface="Arial"/>
              </a:rPr>
              <a:t>／</a:t>
            </a:r>
            <a:r>
              <a:rPr b="0" lang="en-US" sz="1400" spc="-1" strike="noStrike">
                <a:solidFill>
                  <a:schemeClr val="dk1"/>
                </a:solidFill>
                <a:latin typeface="Arial"/>
                <a:ea typeface="Arial"/>
              </a:rPr>
              <a:t>Priority</a:t>
            </a:r>
            <a:r>
              <a:rPr b="0" lang="zh-TW" sz="1400" spc="-1" strike="noStrike">
                <a:solidFill>
                  <a:schemeClr val="dk1"/>
                </a:solidFill>
                <a:latin typeface="Arial"/>
                <a:ea typeface="Arial"/>
              </a:rPr>
              <a:t>／</a:t>
            </a:r>
            <a:r>
              <a:rPr b="0" lang="en-US" sz="1400" spc="-1" strike="noStrike">
                <a:solidFill>
                  <a:schemeClr val="dk1"/>
                </a:solidFill>
                <a:latin typeface="Arial"/>
                <a:ea typeface="Arial"/>
              </a:rPr>
              <a:t>Context</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Timer </a:t>
            </a:r>
            <a:r>
              <a:rPr b="0" lang="zh-TW" sz="1400" spc="-1" strike="noStrike">
                <a:solidFill>
                  <a:schemeClr val="dk1"/>
                </a:solidFill>
                <a:latin typeface="Arial"/>
                <a:ea typeface="Arial"/>
              </a:rPr>
              <a:t>中斷為 </a:t>
            </a:r>
            <a:r>
              <a:rPr b="0" lang="en-US" sz="1400" spc="-1" strike="noStrike">
                <a:solidFill>
                  <a:schemeClr val="dk1"/>
                </a:solidFill>
                <a:latin typeface="Arial"/>
                <a:ea typeface="Arial"/>
              </a:rPr>
              <a:t>top-half </a:t>
            </a:r>
            <a:r>
              <a:rPr b="0" lang="zh-TW" sz="1400" spc="-1" strike="noStrike">
                <a:solidFill>
                  <a:schemeClr val="dk1"/>
                </a:solidFill>
                <a:latin typeface="Arial"/>
                <a:ea typeface="Arial"/>
              </a:rPr>
              <a:t>設定 </a:t>
            </a:r>
            <a:r>
              <a:rPr b="0" lang="en-US" sz="1400" spc="-1" strike="noStrike">
                <a:solidFill>
                  <a:schemeClr val="dk1"/>
                </a:solidFill>
                <a:latin typeface="Arial"/>
                <a:ea typeface="Arial"/>
              </a:rPr>
              <a:t>flag </a:t>
            </a:r>
            <a:r>
              <a:rPr b="0" lang="zh-TW" sz="1400" spc="-1" strike="noStrike">
                <a:solidFill>
                  <a:schemeClr val="dk1"/>
                </a:solidFill>
                <a:latin typeface="Arial"/>
                <a:ea typeface="Arial"/>
              </a:rPr>
              <a:t>，底半部</a:t>
            </a:r>
            <a:r>
              <a:rPr b="0" lang="en-US" sz="1400" spc="-1" strike="noStrike">
                <a:solidFill>
                  <a:schemeClr val="dk1"/>
                </a:solidFill>
                <a:latin typeface="Arial"/>
                <a:ea typeface="Arial"/>
              </a:rPr>
              <a:t>(workqueue)</a:t>
            </a:r>
            <a:r>
              <a:rPr b="0" lang="zh-TW" sz="1400" spc="-1" strike="noStrike">
                <a:solidFill>
                  <a:schemeClr val="dk1"/>
                </a:solidFill>
                <a:latin typeface="Arial"/>
                <a:ea typeface="Arial"/>
              </a:rPr>
              <a:t>更新狀態與排程工作。</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zh-TW" sz="1400" spc="-1" strike="noStrike">
                <a:solidFill>
                  <a:schemeClr val="dk1"/>
                </a:solidFill>
                <a:latin typeface="Arial"/>
                <a:ea typeface="Arial"/>
              </a:rPr>
              <a:t>中斷內不睡眠、不做長耗時操作。</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Button </a:t>
            </a:r>
            <a:r>
              <a:rPr b="0" lang="zh-TW" sz="1400" spc="-1" strike="noStrike">
                <a:solidFill>
                  <a:schemeClr val="dk1"/>
                </a:solidFill>
                <a:latin typeface="Arial"/>
                <a:ea typeface="Arial"/>
              </a:rPr>
              <a:t>中斷也是盡量保持簡短</a:t>
            </a:r>
            <a:endParaRPr b="0" lang="en-US" sz="1400" spc="-1" strike="noStrike">
              <a:solidFill>
                <a:srgbClr val="000000"/>
              </a:solidFill>
              <a:latin typeface="Arial"/>
            </a:endParaRPr>
          </a:p>
          <a:p>
            <a:pPr marL="457200" indent="-317520">
              <a:lnSpc>
                <a:spcPct val="115000"/>
              </a:lnSpc>
              <a:buClr>
                <a:srgbClr val="000000"/>
              </a:buClr>
              <a:buFont typeface="Arial"/>
              <a:buChar char="●"/>
            </a:pPr>
            <a:r>
              <a:rPr b="0" lang="en-US" sz="1400" spc="-1" strike="noStrike">
                <a:solidFill>
                  <a:schemeClr val="dk1"/>
                </a:solidFill>
                <a:latin typeface="Arial"/>
                <a:ea typeface="Arial"/>
              </a:rPr>
              <a:t>Timer</a:t>
            </a:r>
            <a:r>
              <a:rPr b="0" lang="zh-TW" sz="1400" spc="-1" strike="noStrike">
                <a:solidFill>
                  <a:schemeClr val="dk1"/>
                </a:solidFill>
                <a:latin typeface="Arial"/>
                <a:ea typeface="Arial"/>
              </a:rPr>
              <a:t>（</a:t>
            </a:r>
            <a:r>
              <a:rPr b="0" lang="en-US" sz="1400" spc="-1" strike="noStrike">
                <a:solidFill>
                  <a:schemeClr val="dk1"/>
                </a:solidFill>
                <a:latin typeface="Arial"/>
                <a:ea typeface="Arial"/>
              </a:rPr>
              <a:t>TINT</a:t>
            </a:r>
            <a:r>
              <a:rPr b="0" lang="zh-TW" sz="1400" spc="-1" strike="noStrike">
                <a:solidFill>
                  <a:schemeClr val="dk1"/>
                </a:solidFill>
                <a:latin typeface="Arial"/>
                <a:ea typeface="Arial"/>
              </a:rPr>
              <a:t>／</a:t>
            </a:r>
            <a:r>
              <a:rPr b="0" lang="en-US" sz="1400" spc="-1" strike="noStrike">
                <a:solidFill>
                  <a:schemeClr val="dk1"/>
                </a:solidFill>
                <a:latin typeface="Arial"/>
                <a:ea typeface="Arial"/>
              </a:rPr>
              <a:t>Soft timer</a:t>
            </a:r>
            <a:r>
              <a:rPr b="0" lang="zh-TW" sz="1400" spc="-1" strike="noStrike">
                <a:solidFill>
                  <a:schemeClr val="dk1"/>
                </a:solidFill>
                <a:latin typeface="Arial"/>
                <a:ea typeface="Arial"/>
              </a:rPr>
              <a:t>／</a:t>
            </a:r>
            <a:r>
              <a:rPr b="0" lang="en-US" sz="1400" spc="-1" strike="noStrike">
                <a:solidFill>
                  <a:schemeClr val="dk1"/>
                </a:solidFill>
                <a:latin typeface="Arial"/>
                <a:ea typeface="Arial"/>
              </a:rPr>
              <a:t>Signal</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US" sz="1400" spc="-1" strike="noStrike">
                <a:solidFill>
                  <a:srgbClr val="188038"/>
                </a:solidFill>
                <a:latin typeface="Roboto Mono"/>
                <a:ea typeface="Roboto Mono"/>
              </a:rPr>
              <a:t>T_checkin=5 </a:t>
            </a:r>
            <a:r>
              <a:rPr b="0" lang="zh-TW" sz="1400" spc="-1" strike="noStrike">
                <a:solidFill>
                  <a:srgbClr val="188038"/>
                </a:solidFill>
                <a:latin typeface="Roboto Mono"/>
                <a:ea typeface="Roboto Mono"/>
              </a:rPr>
              <a:t>分</a:t>
            </a:r>
            <a:r>
              <a:rPr b="0" lang="zh-TW" sz="1400" spc="-1" strike="noStrike">
                <a:solidFill>
                  <a:schemeClr val="dk1"/>
                </a:solidFill>
                <a:latin typeface="Arial"/>
                <a:ea typeface="Arial"/>
              </a:rPr>
              <a:t>：預約後未報到自動取消。</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US" sz="1400" spc="-1" strike="noStrike">
                <a:solidFill>
                  <a:srgbClr val="188038"/>
                </a:solidFill>
                <a:latin typeface="Roboto Mono"/>
                <a:ea typeface="Roboto Mono"/>
              </a:rPr>
              <a:t>T_end=30 </a:t>
            </a:r>
            <a:r>
              <a:rPr b="0" lang="zh-TW" sz="1400" spc="-1" strike="noStrike">
                <a:solidFill>
                  <a:srgbClr val="188038"/>
                </a:solidFill>
                <a:latin typeface="Roboto Mono"/>
                <a:ea typeface="Roboto Mono"/>
              </a:rPr>
              <a:t>分</a:t>
            </a:r>
            <a:r>
              <a:rPr b="0" lang="zh-TW" sz="1400" spc="-1" strike="noStrike">
                <a:solidFill>
                  <a:schemeClr val="dk1"/>
                </a:solidFill>
                <a:latin typeface="Arial"/>
                <a:ea typeface="Arial"/>
              </a:rPr>
              <a:t>：時段到期自動釋放；到期前 </a:t>
            </a:r>
            <a:r>
              <a:rPr b="0" lang="en-US" sz="1400" spc="-1" strike="noStrike">
                <a:solidFill>
                  <a:schemeClr val="dk1"/>
                </a:solidFill>
                <a:latin typeface="Arial"/>
                <a:ea typeface="Arial"/>
              </a:rPr>
              <a:t>5 </a:t>
            </a:r>
            <a:r>
              <a:rPr b="0" lang="zh-TW" sz="1400" spc="-1" strike="noStrike">
                <a:solidFill>
                  <a:schemeClr val="dk1"/>
                </a:solidFill>
                <a:latin typeface="Arial"/>
                <a:ea typeface="Arial"/>
              </a:rPr>
              <a:t>分轉 </a:t>
            </a:r>
            <a:r>
              <a:rPr b="0" lang="en-US" sz="1400" spc="-1" strike="noStrike">
                <a:solidFill>
                  <a:schemeClr val="dk1"/>
                </a:solidFill>
                <a:latin typeface="Arial"/>
                <a:ea typeface="Arial"/>
              </a:rPr>
              <a:t>LED=</a:t>
            </a:r>
            <a:r>
              <a:rPr b="0" lang="zh-TW" sz="1400" spc="-1" strike="noStrike">
                <a:solidFill>
                  <a:schemeClr val="dk1"/>
                </a:solidFill>
                <a:latin typeface="Arial"/>
                <a:ea typeface="Arial"/>
              </a:rPr>
              <a:t>黃並通知。</a:t>
            </a:r>
            <a:endParaRPr b="0" lang="en-US" sz="1400"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36360" y="36720"/>
            <a:ext cx="15397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全局變數</a:t>
            </a:r>
            <a:endParaRPr b="0" lang="en-US" sz="2800" spc="-1" strike="noStrike">
              <a:solidFill>
                <a:srgbClr val="000000"/>
              </a:solidFill>
              <a:latin typeface="Arial"/>
            </a:endParaRPr>
          </a:p>
        </p:txBody>
      </p:sp>
      <p:sp>
        <p:nvSpPr>
          <p:cNvPr id="76" name="PlaceHolder 2"/>
          <p:cNvSpPr>
            <a:spLocks noGrp="1"/>
          </p:cNvSpPr>
          <p:nvPr>
            <p:ph/>
          </p:nvPr>
        </p:nvSpPr>
        <p:spPr>
          <a:xfrm>
            <a:off x="90000" y="852840"/>
            <a:ext cx="4364640" cy="1947600"/>
          </a:xfrm>
          <a:prstGeom prst="rect">
            <a:avLst/>
          </a:prstGeom>
          <a:noFill/>
          <a:ln w="0">
            <a:noFill/>
          </a:ln>
        </p:spPr>
        <p:txBody>
          <a:bodyPr lIns="91440" rIns="91440" tIns="91440" bIns="91440" anchor="t">
            <a:normAutofit fontScale="87222"/>
          </a:bodyPr>
          <a:p>
            <a:pPr indent="0">
              <a:lnSpc>
                <a:spcPct val="95000"/>
              </a:lnSpc>
              <a:buNone/>
              <a:tabLst>
                <a:tab algn="l" pos="0"/>
              </a:tabLst>
            </a:pPr>
            <a:r>
              <a:rPr b="0" lang="en-US" sz="1300" spc="-1" strike="noStrike">
                <a:solidFill>
                  <a:schemeClr val="dk2"/>
                </a:solidFill>
                <a:latin typeface="Arial"/>
                <a:ea typeface="Arial"/>
              </a:rPr>
              <a:t>MAX_ROOMS : 5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SLOT_DURATION : 30 (s)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CHECKIN_TIMEOUT: 5 (s)</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TICK_MS : 100 (ms)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WARN_REMAIN_SEC 5(s)</a:t>
            </a:r>
            <a:endParaRPr b="0" lang="en-US" sz="1300" spc="-1" strike="noStrike">
              <a:solidFill>
                <a:srgbClr val="000000"/>
              </a:solidFill>
              <a:latin typeface="Arial"/>
            </a:endParaRPr>
          </a:p>
          <a:p>
            <a:pPr indent="0">
              <a:lnSpc>
                <a:spcPct val="95000"/>
              </a:lnSpc>
              <a:spcBef>
                <a:spcPts val="1199"/>
              </a:spcBef>
              <a:spcAft>
                <a:spcPts val="1199"/>
              </a:spcAft>
              <a:buNone/>
              <a:tabLst>
                <a:tab algn="l" pos="0"/>
              </a:tabLst>
            </a:pPr>
            <a:r>
              <a:rPr b="0" lang="en-US" sz="1300" spc="-1" strike="noStrike">
                <a:solidFill>
                  <a:schemeClr val="dk2"/>
                </a:solidFill>
                <a:latin typeface="Arial"/>
                <a:ea typeface="Arial"/>
              </a:rPr>
              <a:t>room_status_t: Free </a:t>
            </a:r>
            <a:r>
              <a:rPr b="0" lang="en-US" sz="1400" spc="-1" strike="noStrike">
                <a:solidFill>
                  <a:schemeClr val="dk1"/>
                </a:solidFill>
                <a:latin typeface="Arial"/>
                <a:ea typeface="Arial"/>
              </a:rPr>
              <a:t>🟢</a:t>
            </a:r>
            <a:r>
              <a:rPr b="0" lang="en-US" sz="1300" spc="-1" strike="noStrike">
                <a:solidFill>
                  <a:schemeClr val="dk2"/>
                </a:solidFill>
                <a:latin typeface="Arial"/>
                <a:ea typeface="Arial"/>
              </a:rPr>
              <a:t>, Reserved </a:t>
            </a:r>
            <a:r>
              <a:rPr b="0" lang="en-US" sz="1400" spc="-1" strike="noStrike">
                <a:solidFill>
                  <a:schemeClr val="dk1"/>
                </a:solidFill>
                <a:latin typeface="Arial"/>
                <a:ea typeface="Arial"/>
              </a:rPr>
              <a:t>🟡</a:t>
            </a:r>
            <a:r>
              <a:rPr b="0" lang="en-US" sz="1300" spc="-1" strike="noStrike">
                <a:solidFill>
                  <a:schemeClr val="dk2"/>
                </a:solidFill>
                <a:latin typeface="Arial"/>
                <a:ea typeface="Arial"/>
              </a:rPr>
              <a:t>, In_use </a:t>
            </a:r>
            <a:r>
              <a:rPr b="0" lang="en-US" sz="1400" spc="-1" strike="noStrike">
                <a:solidFill>
                  <a:schemeClr val="dk1"/>
                </a:solidFill>
                <a:latin typeface="Arial"/>
                <a:ea typeface="Arial"/>
              </a:rPr>
              <a:t>🔴</a:t>
            </a:r>
            <a:r>
              <a:rPr b="0" lang="en-US" sz="1300" spc="-1" strike="noStrike">
                <a:solidFill>
                  <a:schemeClr val="dk2"/>
                </a:solidFill>
                <a:latin typeface="Arial"/>
                <a:ea typeface="Arial"/>
              </a:rPr>
              <a:t>   </a:t>
            </a:r>
            <a:endParaRPr b="0" lang="en-US" sz="1300" spc="-1" strike="noStrike">
              <a:solidFill>
                <a:srgbClr val="000000"/>
              </a:solidFill>
              <a:latin typeface="Arial"/>
            </a:endParaRPr>
          </a:p>
        </p:txBody>
      </p:sp>
      <p:sp>
        <p:nvSpPr>
          <p:cNvPr id="77" name="PlaceHolder 3"/>
          <p:cNvSpPr>
            <a:spLocks noGrp="1"/>
          </p:cNvSpPr>
          <p:nvPr>
            <p:ph/>
          </p:nvPr>
        </p:nvSpPr>
        <p:spPr>
          <a:xfrm>
            <a:off x="4027680" y="194040"/>
            <a:ext cx="4969080" cy="2254680"/>
          </a:xfrm>
          <a:prstGeom prst="rect">
            <a:avLst/>
          </a:prstGeom>
          <a:noFill/>
          <a:ln w="0">
            <a:noFill/>
          </a:ln>
        </p:spPr>
        <p:txBody>
          <a:bodyPr lIns="91440" rIns="91440" tIns="91440" bIns="91440" anchor="t">
            <a:normAutofit fontScale="68333"/>
          </a:bodyPr>
          <a:p>
            <a:pPr indent="0">
              <a:lnSpc>
                <a:spcPct val="115000"/>
              </a:lnSpc>
              <a:buNone/>
              <a:tabLst>
                <a:tab algn="l" pos="0"/>
              </a:tabLst>
            </a:pPr>
            <a:r>
              <a:rPr b="0" lang="en-US" sz="1800" spc="-1" strike="noStrike">
                <a:solidFill>
                  <a:schemeClr val="dk2"/>
                </a:solidFill>
                <a:latin typeface="Arial"/>
                <a:ea typeface="Arial"/>
              </a:rPr>
              <a:t>struct room_t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int id;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room_status_t status;</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uint64_t reserve_tick; //tick when reserved/checkin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int extend_used; //0: not extended, 1:extended</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a:t>
            </a:r>
            <a:endParaRPr b="0" lang="en-US" sz="1800" spc="-1" strike="noStrike">
              <a:solidFill>
                <a:srgbClr val="000000"/>
              </a:solidFill>
              <a:latin typeface="Arial"/>
            </a:endParaRPr>
          </a:p>
        </p:txBody>
      </p:sp>
      <p:sp>
        <p:nvSpPr>
          <p:cNvPr id="78" name="PlaceHolder 4"/>
          <p:cNvSpPr>
            <a:spLocks noGrp="1"/>
          </p:cNvSpPr>
          <p:nvPr>
            <p:ph/>
          </p:nvPr>
        </p:nvSpPr>
        <p:spPr>
          <a:xfrm>
            <a:off x="3748320" y="2800440"/>
            <a:ext cx="5248800" cy="1869840"/>
          </a:xfrm>
          <a:prstGeom prst="rect">
            <a:avLst/>
          </a:prstGeom>
          <a:noFill/>
          <a:ln w="0">
            <a:noFill/>
          </a:ln>
        </p:spPr>
        <p:txBody>
          <a:bodyPr lIns="91440" rIns="91440" tIns="91440" bIns="91440" anchor="t">
            <a:normAutofit/>
          </a:bodyPr>
          <a:p>
            <a:pPr indent="0">
              <a:lnSpc>
                <a:spcPct val="95000"/>
              </a:lnSpc>
              <a:buNone/>
              <a:tabLst>
                <a:tab algn="l" pos="0"/>
              </a:tabLst>
            </a:pPr>
            <a:r>
              <a:rPr b="0" lang="en-US" sz="1300" spc="-1" strike="noStrike">
                <a:solidFill>
                  <a:schemeClr val="dk2"/>
                </a:solidFill>
                <a:latin typeface="Arial"/>
                <a:ea typeface="Arial"/>
              </a:rPr>
              <a:t>room_t rooms[MAX_ROOMS]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pthread_mutex_t room_mutex;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int room_reservations_tody[MAX_ROOMS];//</a:t>
            </a:r>
            <a:r>
              <a:rPr b="0" lang="zh-TW" sz="1300" spc="-1" strike="noStrike">
                <a:solidFill>
                  <a:schemeClr val="dk2"/>
                </a:solidFill>
                <a:latin typeface="Arial"/>
                <a:ea typeface="Arial"/>
              </a:rPr>
              <a:t>單日預約數量限制</a:t>
            </a:r>
            <a:r>
              <a:rPr b="0" lang="en-US" sz="1300" spc="-1" strike="noStrike">
                <a:solidFill>
                  <a:schemeClr val="dk2"/>
                </a:solidFill>
                <a:latin typeface="Arial"/>
                <a:ea typeface="Arial"/>
              </a:rPr>
              <a:t>2</a:t>
            </a:r>
            <a:r>
              <a:rPr b="0" lang="zh-TW" sz="1300" spc="-1" strike="noStrike">
                <a:solidFill>
                  <a:schemeClr val="dk2"/>
                </a:solidFill>
                <a:latin typeface="Arial"/>
                <a:ea typeface="Arial"/>
              </a:rPr>
              <a:t>次</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sig_atomic_t g_tick; //global tick counter    </a:t>
            </a:r>
            <a:endParaRPr b="0" lang="en-US" sz="1300"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5634000" y="62640"/>
            <a:ext cx="28465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US" sz="2800" spc="-1" strike="noStrike">
                <a:solidFill>
                  <a:schemeClr val="dk1"/>
                </a:solidFill>
                <a:latin typeface="Arial"/>
                <a:ea typeface="Arial"/>
              </a:rPr>
              <a:t>Server functions</a:t>
            </a:r>
            <a:endParaRPr b="0" lang="en-US" sz="2800" spc="-1" strike="noStrike">
              <a:solidFill>
                <a:srgbClr val="000000"/>
              </a:solidFill>
              <a:latin typeface="Arial"/>
            </a:endParaRPr>
          </a:p>
        </p:txBody>
      </p:sp>
      <p:sp>
        <p:nvSpPr>
          <p:cNvPr id="80" name="PlaceHolder 2"/>
          <p:cNvSpPr>
            <a:spLocks noGrp="1"/>
          </p:cNvSpPr>
          <p:nvPr>
            <p:ph/>
          </p:nvPr>
        </p:nvSpPr>
        <p:spPr>
          <a:xfrm>
            <a:off x="4701600" y="635400"/>
            <a:ext cx="4442040" cy="4293720"/>
          </a:xfrm>
          <a:prstGeom prst="rect">
            <a:avLst/>
          </a:prstGeom>
          <a:noFill/>
          <a:ln w="0">
            <a:noFill/>
          </a:ln>
        </p:spPr>
        <p:txBody>
          <a:bodyPr lIns="91440" rIns="91440" tIns="91440" bIns="91440" anchor="t">
            <a:normAutofit/>
          </a:bodyPr>
          <a:p>
            <a:pPr indent="0">
              <a:lnSpc>
                <a:spcPct val="115000"/>
              </a:lnSpc>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room_actions.h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get_all_status(): </a:t>
            </a:r>
            <a:r>
              <a:rPr b="0" lang="zh-TW" sz="1800" spc="-1" strike="noStrike">
                <a:solidFill>
                  <a:schemeClr val="dk2"/>
                </a:solidFill>
                <a:latin typeface="Arial"/>
                <a:ea typeface="Arial"/>
              </a:rPr>
              <a:t>取得所有房</a:t>
            </a:r>
            <a:r>
              <a:rPr b="0" lang="zh-TW" sz="1800" spc="-1" strike="noStrike">
                <a:solidFill>
                  <a:schemeClr val="dk2"/>
                </a:solidFill>
                <a:latin typeface="Arial"/>
                <a:ea typeface="Arial"/>
              </a:rPr>
              <a:t>間的 </a:t>
            </a:r>
            <a:r>
              <a:rPr b="0" lang="en-US" sz="1800" spc="-1" strike="noStrike">
                <a:solidFill>
                  <a:schemeClr val="dk2"/>
                </a:solidFill>
                <a:latin typeface="Arial"/>
                <a:ea typeface="Arial"/>
              </a:rPr>
              <a:t>status</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 | Room 1 | FREE (🟢) | Room 2 | </a:t>
            </a:r>
            <a:r>
              <a:rPr b="0" lang="en-US" sz="1000" spc="-1" strike="noStrike">
                <a:solidFill>
                  <a:schemeClr val="dk2"/>
                </a:solidFill>
                <a:latin typeface="Arial"/>
                <a:ea typeface="Arial"/>
              </a:rPr>
              <a:t>FREE (🟢) | </a:t>
            </a:r>
            <a:endParaRPr b="0" lang="en-US" sz="10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reserve_room(room_id): </a:t>
            </a:r>
            <a:r>
              <a:rPr b="0" lang="zh-TW" sz="1800" spc="-1" strike="noStrike">
                <a:solidFill>
                  <a:schemeClr val="dk2"/>
                </a:solidFill>
                <a:latin typeface="Arial"/>
                <a:ea typeface="Arial"/>
              </a:rPr>
              <a:t>預</a:t>
            </a:r>
            <a:r>
              <a:rPr b="0" lang="zh-TW" sz="1800" spc="-1" strike="noStrike">
                <a:solidFill>
                  <a:schemeClr val="dk2"/>
                </a:solidFill>
                <a:latin typeface="Arial"/>
                <a:ea typeface="Arial"/>
              </a:rPr>
              <a:t>約房間</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a:t>
            </a:r>
            <a:r>
              <a:rPr b="0" lang="en-US" sz="1400" spc="-1" strike="noStrike">
                <a:solidFill>
                  <a:schemeClr val="dk1"/>
                </a:solidFill>
                <a:latin typeface="Arial"/>
                <a:ea typeface="Arial"/>
              </a:rPr>
              <a:t>🟡</a:t>
            </a:r>
            <a:r>
              <a:rPr b="0" lang="en-US" sz="1000" spc="-1" strike="noStrike">
                <a:solidFill>
                  <a:schemeClr val="dk2"/>
                </a:solidFill>
                <a:latin typeface="Arial"/>
                <a:ea typeface="Arial"/>
              </a:rPr>
              <a:t>) | Room 1 | FREE (🟢) | Room 2 | </a:t>
            </a:r>
            <a:r>
              <a:rPr b="0" lang="en-US" sz="1000" spc="-1" strike="noStrike">
                <a:solidFill>
                  <a:schemeClr val="dk2"/>
                </a:solidFill>
                <a:latin typeface="Arial"/>
                <a:ea typeface="Arial"/>
              </a:rPr>
              <a:t>FREE (🟢) | </a:t>
            </a:r>
            <a:endParaRPr b="0" lang="en-US" sz="10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check_in(room_id): </a:t>
            </a:r>
            <a:r>
              <a:rPr b="0" lang="zh-TW" sz="1800" spc="-1" strike="noStrike">
                <a:solidFill>
                  <a:schemeClr val="dk2"/>
                </a:solidFill>
                <a:latin typeface="Arial"/>
                <a:ea typeface="Arial"/>
              </a:rPr>
              <a:t>現場完成</a:t>
            </a:r>
            <a:r>
              <a:rPr b="0" lang="zh-TW" sz="1800" spc="-1" strike="noStrike">
                <a:solidFill>
                  <a:schemeClr val="dk2"/>
                </a:solidFill>
                <a:latin typeface="Arial"/>
                <a:ea typeface="Arial"/>
              </a:rPr>
              <a:t>報到</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a:t>
            </a:r>
            <a:r>
              <a:rPr b="0" lang="en-US" sz="1400" spc="-1" strike="noStrike">
                <a:solidFill>
                  <a:schemeClr val="dk1"/>
                </a:solidFill>
                <a:latin typeface="Arial"/>
                <a:ea typeface="Arial"/>
              </a:rPr>
              <a:t>🔴</a:t>
            </a:r>
            <a:r>
              <a:rPr b="0" lang="en-US" sz="1000" spc="-1" strike="noStrike">
                <a:solidFill>
                  <a:schemeClr val="dk2"/>
                </a:solidFill>
                <a:latin typeface="Arial"/>
                <a:ea typeface="Arial"/>
              </a:rPr>
              <a:t>) | Room 1 | FREE (🟢) | Room 2 | </a:t>
            </a:r>
            <a:r>
              <a:rPr b="0" lang="en-US" sz="1000" spc="-1" strike="noStrike">
                <a:solidFill>
                  <a:schemeClr val="dk2"/>
                </a:solidFill>
                <a:latin typeface="Arial"/>
                <a:ea typeface="Arial"/>
              </a:rPr>
              <a:t>FREE (🟢) | </a:t>
            </a:r>
            <a:endParaRPr b="0" lang="en-US" sz="10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release_room(room_id): </a:t>
            </a:r>
            <a:r>
              <a:rPr b="0" lang="zh-TW" sz="1800" spc="-1" strike="noStrike">
                <a:solidFill>
                  <a:schemeClr val="dk2"/>
                </a:solidFill>
                <a:latin typeface="Arial"/>
                <a:ea typeface="Arial"/>
              </a:rPr>
              <a:t>歸</a:t>
            </a:r>
            <a:r>
              <a:rPr b="0" lang="zh-TW" sz="1800" spc="-1" strike="noStrike">
                <a:solidFill>
                  <a:schemeClr val="dk2"/>
                </a:solidFill>
                <a:latin typeface="Arial"/>
                <a:ea typeface="Arial"/>
              </a:rPr>
              <a:t>還房間</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 | Room 1 | FREE (🟢) | Room 2 | </a:t>
            </a:r>
            <a:r>
              <a:rPr b="0" lang="en-US" sz="1000" spc="-1" strike="noStrike">
                <a:solidFill>
                  <a:schemeClr val="dk2"/>
                </a:solidFill>
                <a:latin typeface="Arial"/>
                <a:ea typeface="Arial"/>
              </a:rPr>
              <a:t>FREE (🟢) | </a:t>
            </a:r>
            <a:endParaRPr b="0" lang="en-US" sz="10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extend_room(room_id): </a:t>
            </a:r>
            <a:r>
              <a:rPr b="0" lang="zh-TW" sz="1800" spc="-1" strike="noStrike">
                <a:solidFill>
                  <a:schemeClr val="dk2"/>
                </a:solidFill>
                <a:latin typeface="Arial"/>
                <a:ea typeface="Arial"/>
              </a:rPr>
              <a:t>延長</a:t>
            </a:r>
            <a:r>
              <a:rPr b="0" lang="zh-TW" sz="1800" spc="-1" strike="noStrike">
                <a:solidFill>
                  <a:schemeClr val="dk2"/>
                </a:solidFill>
                <a:latin typeface="Arial"/>
                <a:ea typeface="Arial"/>
              </a:rPr>
              <a:t>時間</a:t>
            </a:r>
            <a:endParaRPr b="0" lang="en-US" sz="1800" spc="-1" strike="noStrike">
              <a:solidFill>
                <a:srgbClr val="000000"/>
              </a:solidFill>
              <a:latin typeface="Arial"/>
            </a:endParaRPr>
          </a:p>
        </p:txBody>
      </p:sp>
      <p:sp>
        <p:nvSpPr>
          <p:cNvPr id="81" name="PlaceHolder 3"/>
          <p:cNvSpPr>
            <a:spLocks noGrp="1"/>
          </p:cNvSpPr>
          <p:nvPr>
            <p:ph type="title"/>
          </p:nvPr>
        </p:nvSpPr>
        <p:spPr>
          <a:xfrm>
            <a:off x="489240" y="129960"/>
            <a:ext cx="28465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US" sz="2800" spc="-1" strike="noStrike">
                <a:solidFill>
                  <a:schemeClr val="dk1"/>
                </a:solidFill>
                <a:latin typeface="Arial"/>
                <a:ea typeface="Arial"/>
              </a:rPr>
              <a:t>Client command</a:t>
            </a:r>
            <a:endParaRPr b="0" lang="en-US" sz="2800" spc="-1" strike="noStrike">
              <a:solidFill>
                <a:srgbClr val="000000"/>
              </a:solidFill>
              <a:latin typeface="Arial"/>
            </a:endParaRPr>
          </a:p>
        </p:txBody>
      </p:sp>
      <p:sp>
        <p:nvSpPr>
          <p:cNvPr id="82" name="PlaceHolder 4"/>
          <p:cNvSpPr>
            <a:spLocks noGrp="1"/>
          </p:cNvSpPr>
          <p:nvPr>
            <p:ph/>
          </p:nvPr>
        </p:nvSpPr>
        <p:spPr>
          <a:xfrm>
            <a:off x="209520" y="695880"/>
            <a:ext cx="444204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room_client.c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status              : </a:t>
            </a:r>
            <a:r>
              <a:rPr b="0" lang="zh-TW" sz="1800" spc="-1" strike="noStrike">
                <a:solidFill>
                  <a:schemeClr val="dk2"/>
                </a:solidFill>
                <a:latin typeface="Arial"/>
                <a:ea typeface="Arial"/>
              </a:rPr>
              <a:t>取得所有房間的 </a:t>
            </a:r>
            <a:r>
              <a:rPr b="0" lang="en-US" sz="1800" spc="-1" strike="noStrike">
                <a:solidFill>
                  <a:schemeClr val="dk2"/>
                </a:solidFill>
                <a:latin typeface="Arial"/>
                <a:ea typeface="Arial"/>
              </a:rPr>
              <a:t>status</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reserve   &lt;id&gt; :  </a:t>
            </a:r>
            <a:r>
              <a:rPr b="0" lang="zh-TW" sz="1800" spc="-1" strike="noStrike">
                <a:solidFill>
                  <a:schemeClr val="dk2"/>
                </a:solidFill>
                <a:latin typeface="Arial"/>
                <a:ea typeface="Arial"/>
              </a:rPr>
              <a:t>預約房間</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checkin   &lt;id&gt; : </a:t>
            </a:r>
            <a:r>
              <a:rPr b="0" lang="zh-TW" sz="1800" spc="-1" strike="noStrike">
                <a:solidFill>
                  <a:schemeClr val="dk2"/>
                </a:solidFill>
                <a:latin typeface="Arial"/>
                <a:ea typeface="Arial"/>
              </a:rPr>
              <a:t>現場完成報到</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release    &lt;id&gt;: </a:t>
            </a:r>
            <a:r>
              <a:rPr b="0" lang="zh-TW" sz="1800" spc="-1" strike="noStrike">
                <a:solidFill>
                  <a:schemeClr val="dk2"/>
                </a:solidFill>
                <a:latin typeface="Arial"/>
                <a:ea typeface="Arial"/>
              </a:rPr>
              <a:t>歸還房間</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extend     &lt;id&gt;: </a:t>
            </a:r>
            <a:r>
              <a:rPr b="0" lang="zh-TW" sz="1800" spc="-1" strike="noStrike">
                <a:solidFill>
                  <a:schemeClr val="dk2"/>
                </a:solidFill>
                <a:latin typeface="Arial"/>
                <a:ea typeface="Arial"/>
              </a:rPr>
              <a:t>延長時間</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a:t>
            </a:r>
            <a:r>
              <a:rPr b="0" lang="zh-TW" sz="2800" spc="-1" strike="noStrike">
                <a:solidFill>
                  <a:schemeClr val="dk1"/>
                </a:solidFill>
                <a:latin typeface="Arial"/>
                <a:ea typeface="Arial"/>
              </a:rPr>
              <a:t>按鈕 </a:t>
            </a:r>
            <a:r>
              <a:rPr b="0" lang="en-US" sz="2800" spc="-1" strike="noStrike">
                <a:solidFill>
                  <a:schemeClr val="dk1"/>
                </a:solidFill>
                <a:latin typeface="Arial"/>
                <a:ea typeface="Arial"/>
              </a:rPr>
              <a:t>interrupt </a:t>
            </a:r>
            <a:endParaRPr b="0" lang="en-US" sz="2800" spc="-1" strike="noStrike">
              <a:solidFill>
                <a:srgbClr val="000000"/>
              </a:solidFill>
              <a:latin typeface="Arial"/>
            </a:endParaRPr>
          </a:p>
        </p:txBody>
      </p:sp>
      <p:pic>
        <p:nvPicPr>
          <p:cNvPr id="84" name="Google Shape;203;p28" descr=""/>
          <p:cNvPicPr/>
          <p:nvPr/>
        </p:nvPicPr>
        <p:blipFill>
          <a:blip r:embed="rId1"/>
          <a:stretch/>
        </p:blipFill>
        <p:spPr>
          <a:xfrm>
            <a:off x="218520" y="2626560"/>
            <a:ext cx="5878080" cy="1767600"/>
          </a:xfrm>
          <a:prstGeom prst="rect">
            <a:avLst/>
          </a:prstGeom>
          <a:ln w="0">
            <a:noFill/>
          </a:ln>
        </p:spPr>
      </p:pic>
      <p:sp>
        <p:nvSpPr>
          <p:cNvPr id="85" name="Google Shape;204;p28"/>
          <p:cNvSpPr/>
          <p:nvPr/>
        </p:nvSpPr>
        <p:spPr>
          <a:xfrm>
            <a:off x="339120" y="1287360"/>
            <a:ext cx="4872600" cy="12798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按鈕按下時倒通 </a:t>
            </a:r>
            <a:r>
              <a:rPr b="0" lang="en-US" sz="1800" spc="-1" strike="noStrike">
                <a:solidFill>
                  <a:schemeClr val="dk2"/>
                </a:solidFill>
                <a:latin typeface="Arial"/>
                <a:ea typeface="Arial"/>
              </a:rPr>
              <a:t>vdd, </a:t>
            </a:r>
            <a:r>
              <a:rPr b="0" lang="zh-TW" sz="1800" spc="-1" strike="noStrike">
                <a:solidFill>
                  <a:schemeClr val="dk2"/>
                </a:solidFill>
                <a:latin typeface="Arial"/>
                <a:ea typeface="Arial"/>
              </a:rPr>
              <a:t>放開時斷路   </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所以我們使用 </a:t>
            </a:r>
            <a:r>
              <a:rPr b="0" lang="en-US" sz="1800" spc="-1" strike="noStrike">
                <a:solidFill>
                  <a:schemeClr val="dk2"/>
                </a:solidFill>
                <a:latin typeface="Arial"/>
                <a:ea typeface="Arial"/>
              </a:rPr>
              <a:t>TRIGGER_RISING </a:t>
            </a:r>
            <a:r>
              <a:rPr b="0" lang="zh-TW" sz="1800" spc="-1" strike="noStrike">
                <a:solidFill>
                  <a:schemeClr val="dk2"/>
                </a:solidFill>
                <a:latin typeface="Arial"/>
                <a:ea typeface="Arial"/>
              </a:rPr>
              <a:t>在電壓上升的時候觸發 </a:t>
            </a:r>
            <a:r>
              <a:rPr b="0" lang="en-US" sz="1800" spc="-1" strike="noStrike">
                <a:solidFill>
                  <a:schemeClr val="dk2"/>
                </a:solidFill>
                <a:latin typeface="Arial"/>
                <a:ea typeface="Arial"/>
              </a:rPr>
              <a:t>IRQ, </a:t>
            </a:r>
            <a:r>
              <a:rPr b="0" lang="zh-TW" sz="1800" spc="-1" strike="noStrike">
                <a:solidFill>
                  <a:schemeClr val="dk2"/>
                </a:solidFill>
                <a:latin typeface="Arial"/>
                <a:ea typeface="Arial"/>
              </a:rPr>
              <a:t>並呼叫 </a:t>
            </a:r>
            <a:r>
              <a:rPr b="0" lang="en-US" sz="1800" spc="-1" strike="noStrike">
                <a:solidFill>
                  <a:schemeClr val="dk2"/>
                </a:solidFill>
                <a:latin typeface="Arial"/>
                <a:ea typeface="Arial"/>
              </a:rPr>
              <a:t>button_isr function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140040" y="5292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a:t>
            </a:r>
            <a:r>
              <a:rPr b="0" lang="zh-TW" sz="2800" spc="-1" strike="noStrike">
                <a:solidFill>
                  <a:schemeClr val="dk1"/>
                </a:solidFill>
                <a:latin typeface="Arial"/>
                <a:ea typeface="Arial"/>
              </a:rPr>
              <a:t>按鈕 </a:t>
            </a:r>
            <a:r>
              <a:rPr b="0" lang="en-US" sz="2800" spc="-1" strike="noStrike">
                <a:solidFill>
                  <a:schemeClr val="dk1"/>
                </a:solidFill>
                <a:latin typeface="Arial"/>
                <a:ea typeface="Arial"/>
              </a:rPr>
              <a:t>interrupt </a:t>
            </a:r>
            <a:endParaRPr b="0" lang="en-US" sz="2800" spc="-1" strike="noStrike">
              <a:solidFill>
                <a:srgbClr val="000000"/>
              </a:solidFill>
              <a:latin typeface="Arial"/>
            </a:endParaRPr>
          </a:p>
        </p:txBody>
      </p:sp>
      <p:pic>
        <p:nvPicPr>
          <p:cNvPr id="87" name="Google Shape;210;p29" descr=""/>
          <p:cNvPicPr/>
          <p:nvPr/>
        </p:nvPicPr>
        <p:blipFill>
          <a:blip r:embed="rId1"/>
          <a:srcRect l="0" t="0" r="3576" b="0"/>
          <a:stretch/>
        </p:blipFill>
        <p:spPr>
          <a:xfrm>
            <a:off x="4653720" y="1978920"/>
            <a:ext cx="4489920" cy="2899800"/>
          </a:xfrm>
          <a:prstGeom prst="rect">
            <a:avLst/>
          </a:prstGeom>
          <a:ln w="0">
            <a:noFill/>
          </a:ln>
        </p:spPr>
      </p:pic>
      <p:sp>
        <p:nvSpPr>
          <p:cNvPr id="88" name="Google Shape;211;p29"/>
          <p:cNvSpPr/>
          <p:nvPr/>
        </p:nvSpPr>
        <p:spPr>
          <a:xfrm>
            <a:off x="4352400" y="666000"/>
            <a:ext cx="4709520" cy="10054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button_isr function </a:t>
            </a:r>
            <a:r>
              <a:rPr b="0" lang="zh-TW" sz="1800" spc="-1" strike="noStrike">
                <a:solidFill>
                  <a:schemeClr val="dk2"/>
                </a:solidFill>
                <a:latin typeface="Arial"/>
                <a:ea typeface="Arial"/>
              </a:rPr>
              <a:t>使用去抖機制</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如果按下後會將 </a:t>
            </a:r>
            <a:r>
              <a:rPr b="0" lang="en-US" sz="1800" spc="-1" strike="noStrike">
                <a:solidFill>
                  <a:schemeClr val="dk2"/>
                </a:solidFill>
                <a:latin typeface="Arial"/>
                <a:ea typeface="Arial"/>
              </a:rPr>
              <a:t>btn_press </a:t>
            </a:r>
            <a:r>
              <a:rPr b="0" lang="zh-TW" sz="1800" spc="-1" strike="noStrike">
                <a:solidFill>
                  <a:schemeClr val="dk2"/>
                </a:solidFill>
                <a:latin typeface="Arial"/>
                <a:ea typeface="Arial"/>
              </a:rPr>
              <a:t>設成 </a:t>
            </a:r>
            <a:r>
              <a:rPr b="0" lang="en-US" sz="1800" spc="-1" strike="noStrike">
                <a:solidFill>
                  <a:schemeClr val="dk2"/>
                </a:solidFill>
                <a:latin typeface="Arial"/>
                <a:ea typeface="Arial"/>
              </a:rPr>
              <a:t>1, </a:t>
            </a:r>
            <a:r>
              <a:rPr b="0" lang="zh-TW" sz="1800" spc="-1" strike="noStrike">
                <a:solidFill>
                  <a:schemeClr val="dk2"/>
                </a:solidFill>
                <a:latin typeface="Arial"/>
                <a:ea typeface="Arial"/>
              </a:rPr>
              <a:t>並啟動</a:t>
            </a:r>
            <a:r>
              <a:rPr b="0" lang="en-US" sz="1800" spc="-1" strike="noStrike">
                <a:solidFill>
                  <a:schemeClr val="dk2"/>
                </a:solidFill>
                <a:latin typeface="Arial"/>
                <a:ea typeface="Arial"/>
              </a:rPr>
              <a:t>Read </a:t>
            </a:r>
            <a:r>
              <a:rPr b="0" lang="zh-TW" sz="1800" spc="-1" strike="noStrike">
                <a:solidFill>
                  <a:schemeClr val="dk2"/>
                </a:solidFill>
                <a:latin typeface="Arial"/>
                <a:ea typeface="Arial"/>
              </a:rPr>
              <a:t>的 </a:t>
            </a:r>
            <a:r>
              <a:rPr b="0" lang="en-US" sz="1800" spc="-1" strike="noStrike">
                <a:solidFill>
                  <a:schemeClr val="dk2"/>
                </a:solidFill>
                <a:latin typeface="Arial"/>
                <a:ea typeface="Arial"/>
              </a:rPr>
              <a:t>block wait </a:t>
            </a:r>
            <a:endParaRPr b="0" lang="en-US" sz="1800" spc="-1" strike="noStrike">
              <a:solidFill>
                <a:srgbClr val="000000"/>
              </a:solidFill>
              <a:latin typeface="Arial"/>
            </a:endParaRPr>
          </a:p>
        </p:txBody>
      </p:sp>
      <p:pic>
        <p:nvPicPr>
          <p:cNvPr id="89" name="Google Shape;212;p29" descr=""/>
          <p:cNvPicPr/>
          <p:nvPr/>
        </p:nvPicPr>
        <p:blipFill>
          <a:blip r:embed="rId2"/>
          <a:srcRect l="0" t="0" r="6208" b="0"/>
          <a:stretch/>
        </p:blipFill>
        <p:spPr>
          <a:xfrm>
            <a:off x="81720" y="2104200"/>
            <a:ext cx="4571640" cy="2192040"/>
          </a:xfrm>
          <a:prstGeom prst="rect">
            <a:avLst/>
          </a:prstGeom>
          <a:ln w="0">
            <a:noFill/>
          </a:ln>
        </p:spPr>
      </p:pic>
      <p:sp>
        <p:nvSpPr>
          <p:cNvPr id="90" name="Google Shape;213;p29"/>
          <p:cNvSpPr/>
          <p:nvPr/>
        </p:nvSpPr>
        <p:spPr>
          <a:xfrm>
            <a:off x="12600" y="794160"/>
            <a:ext cx="4246200" cy="12798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使用者呼叫 </a:t>
            </a:r>
            <a:r>
              <a:rPr b="0" lang="en-US" sz="1800" spc="-1" strike="noStrike">
                <a:solidFill>
                  <a:schemeClr val="dk2"/>
                </a:solidFill>
                <a:latin typeface="Arial"/>
                <a:ea typeface="Arial"/>
              </a:rPr>
              <a:t>read </a:t>
            </a:r>
            <a:r>
              <a:rPr b="0" lang="zh-TW" sz="1800" spc="-1" strike="noStrike">
                <a:solidFill>
                  <a:schemeClr val="dk2"/>
                </a:solidFill>
                <a:latin typeface="Arial"/>
                <a:ea typeface="Arial"/>
              </a:rPr>
              <a:t>之後</a:t>
            </a:r>
            <a:r>
              <a:rPr b="0" lang="en-US" sz="1800" spc="-1" strike="noStrike">
                <a:solidFill>
                  <a:schemeClr val="dk2"/>
                </a:solidFill>
                <a:latin typeface="Arial"/>
                <a:ea typeface="Arial"/>
              </a:rPr>
              <a:t>, </a:t>
            </a:r>
            <a:r>
              <a:rPr b="0" lang="zh-TW" sz="1800" spc="-1" strike="noStrike">
                <a:solidFill>
                  <a:schemeClr val="dk2"/>
                </a:solidFill>
                <a:latin typeface="Arial"/>
                <a:ea typeface="Arial"/>
              </a:rPr>
              <a:t>如果</a:t>
            </a:r>
            <a:r>
              <a:rPr b="0" lang="en-US" sz="1800" spc="-1" strike="noStrike">
                <a:solidFill>
                  <a:schemeClr val="dk2"/>
                </a:solidFill>
                <a:latin typeface="Arial"/>
                <a:ea typeface="Arial"/>
              </a:rPr>
              <a:t>btn_pressed</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為</a:t>
            </a:r>
            <a:r>
              <a:rPr b="0" lang="en-US" sz="1800" spc="-1" strike="noStrike">
                <a:solidFill>
                  <a:schemeClr val="dk2"/>
                </a:solidFill>
                <a:latin typeface="Arial"/>
                <a:ea typeface="Arial"/>
              </a:rPr>
              <a:t>0, </a:t>
            </a:r>
            <a:r>
              <a:rPr b="0" lang="zh-TW" sz="1800" spc="-1" strike="noStrike">
                <a:solidFill>
                  <a:schemeClr val="dk2"/>
                </a:solidFill>
                <a:latin typeface="Arial"/>
                <a:ea typeface="Arial"/>
              </a:rPr>
              <a:t>會</a:t>
            </a:r>
            <a:r>
              <a:rPr b="0" lang="en-US" sz="1800" spc="-1" strike="noStrike">
                <a:solidFill>
                  <a:schemeClr val="dk2"/>
                </a:solidFill>
                <a:latin typeface="Arial"/>
                <a:ea typeface="Arial"/>
              </a:rPr>
              <a:t>block wait, </a:t>
            </a:r>
            <a:r>
              <a:rPr b="0" lang="zh-TW" sz="1800" spc="-1" strike="noStrike">
                <a:solidFill>
                  <a:schemeClr val="dk2"/>
                </a:solidFill>
                <a:latin typeface="Arial"/>
                <a:ea typeface="Arial"/>
              </a:rPr>
              <a:t>直到按鈕按下再回傳 “</a:t>
            </a:r>
            <a:r>
              <a:rPr b="0" lang="en-US" sz="1800" spc="-1" strike="noStrike">
                <a:solidFill>
                  <a:schemeClr val="dk2"/>
                </a:solidFill>
                <a:latin typeface="Arial"/>
                <a:ea typeface="Arial"/>
              </a:rPr>
              <a:t>BTN:1” </a:t>
            </a:r>
            <a:r>
              <a:rPr b="0" lang="zh-TW" sz="1800" spc="-1" strike="noStrike">
                <a:solidFill>
                  <a:schemeClr val="dk2"/>
                </a:solidFill>
                <a:latin typeface="Arial"/>
                <a:ea typeface="Arial"/>
              </a:rPr>
              <a:t>給使用者</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waiting queue</a:t>
            </a:r>
            <a:endParaRPr b="0" lang="en-US" sz="2800" spc="-1" strike="noStrike">
              <a:solidFill>
                <a:srgbClr val="000000"/>
              </a:solidFill>
              <a:latin typeface="Arial"/>
            </a:endParaRPr>
          </a:p>
        </p:txBody>
      </p:sp>
      <p:pic>
        <p:nvPicPr>
          <p:cNvPr id="92" name="Google Shape;219;p30" descr=""/>
          <p:cNvPicPr/>
          <p:nvPr/>
        </p:nvPicPr>
        <p:blipFill>
          <a:blip r:embed="rId1"/>
          <a:stretch/>
        </p:blipFill>
        <p:spPr>
          <a:xfrm>
            <a:off x="4521600" y="540720"/>
            <a:ext cx="3864600" cy="3166200"/>
          </a:xfrm>
          <a:prstGeom prst="rect">
            <a:avLst/>
          </a:prstGeom>
          <a:ln w="0">
            <a:noFill/>
          </a:ln>
        </p:spPr>
      </p:pic>
      <p:sp>
        <p:nvSpPr>
          <p:cNvPr id="93" name="Google Shape;220;p30"/>
          <p:cNvSpPr/>
          <p:nvPr/>
        </p:nvSpPr>
        <p:spPr>
          <a:xfrm>
            <a:off x="187560" y="1530720"/>
            <a:ext cx="4709520" cy="12798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一個簡單的 </a:t>
            </a:r>
            <a:r>
              <a:rPr b="0" lang="en-US" sz="1800" spc="-1" strike="noStrike">
                <a:solidFill>
                  <a:schemeClr val="dk2"/>
                </a:solidFill>
                <a:latin typeface="Arial"/>
                <a:ea typeface="Arial"/>
              </a:rPr>
              <a:t>waiting queue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reserve </a:t>
            </a:r>
            <a:r>
              <a:rPr b="0" lang="zh-TW" sz="1800" spc="-1" strike="noStrike">
                <a:solidFill>
                  <a:schemeClr val="dk2"/>
                </a:solidFill>
                <a:latin typeface="Arial"/>
                <a:ea typeface="Arial"/>
              </a:rPr>
              <a:t>如果所有房間都是滿的  </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就會把該名使用者加入 </a:t>
            </a:r>
            <a:r>
              <a:rPr b="0" lang="en-US" sz="1800" spc="-1" strike="noStrike">
                <a:solidFill>
                  <a:schemeClr val="dk2"/>
                </a:solidFill>
                <a:latin typeface="Arial"/>
                <a:ea typeface="Arial"/>
              </a:rPr>
              <a:t>wait queue</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FIFO, </a:t>
            </a:r>
            <a:r>
              <a:rPr b="0" lang="zh-TW" sz="1800" spc="-1" strike="noStrike">
                <a:solidFill>
                  <a:schemeClr val="dk2"/>
                </a:solidFill>
                <a:latin typeface="Arial"/>
                <a:ea typeface="Arial"/>
              </a:rPr>
              <a:t>等到房間空出後再加入</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waiting queue</a:t>
            </a:r>
            <a:endParaRPr b="0" lang="en-US" sz="2800" spc="-1" strike="noStrike">
              <a:solidFill>
                <a:srgbClr val="000000"/>
              </a:solidFill>
              <a:latin typeface="Arial"/>
            </a:endParaRPr>
          </a:p>
        </p:txBody>
      </p:sp>
      <p:pic>
        <p:nvPicPr>
          <p:cNvPr id="95" name="Google Shape;226;p31" descr=""/>
          <p:cNvPicPr/>
          <p:nvPr/>
        </p:nvPicPr>
        <p:blipFill>
          <a:blip r:embed="rId1"/>
          <a:stretch/>
        </p:blipFill>
        <p:spPr>
          <a:xfrm>
            <a:off x="4572000" y="199080"/>
            <a:ext cx="4492440" cy="1452600"/>
          </a:xfrm>
          <a:prstGeom prst="rect">
            <a:avLst/>
          </a:prstGeom>
          <a:ln w="0">
            <a:noFill/>
          </a:ln>
        </p:spPr>
      </p:pic>
      <p:sp>
        <p:nvSpPr>
          <p:cNvPr id="96" name="Google Shape;227;p31"/>
          <p:cNvSpPr/>
          <p:nvPr/>
        </p:nvSpPr>
        <p:spPr>
          <a:xfrm>
            <a:off x="0" y="1131840"/>
            <a:ext cx="4206960" cy="10054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房間都是滿的情況下</a:t>
            </a:r>
            <a:r>
              <a:rPr b="0" lang="en-US" sz="1800" spc="-1" strike="noStrike">
                <a:solidFill>
                  <a:schemeClr val="dk2"/>
                </a:solidFill>
                <a:latin typeface="Arial"/>
                <a:ea typeface="Arial"/>
              </a:rPr>
              <a:t>, Jame(555),Jenny(444) </a:t>
            </a:r>
            <a:r>
              <a:rPr b="0" lang="zh-TW" sz="1800" spc="-1" strike="noStrike">
                <a:solidFill>
                  <a:schemeClr val="dk2"/>
                </a:solidFill>
                <a:latin typeface="Arial"/>
                <a:ea typeface="Arial"/>
              </a:rPr>
              <a:t>預約房間</a:t>
            </a:r>
            <a:r>
              <a:rPr b="0" lang="en-US" sz="1800" spc="-1" strike="noStrike">
                <a:solidFill>
                  <a:schemeClr val="dk2"/>
                </a:solidFill>
                <a:latin typeface="Arial"/>
                <a:ea typeface="Arial"/>
              </a:rPr>
              <a:t>0 </a:t>
            </a:r>
            <a:r>
              <a:rPr b="0" lang="zh-TW" sz="1800" spc="-1" strike="noStrike">
                <a:solidFill>
                  <a:schemeClr val="dk2"/>
                </a:solidFill>
                <a:latin typeface="Arial"/>
                <a:ea typeface="Arial"/>
              </a:rPr>
              <a:t>會被加入 </a:t>
            </a:r>
            <a:r>
              <a:rPr b="0" lang="en-US" sz="1800" spc="-1" strike="noStrike">
                <a:solidFill>
                  <a:schemeClr val="dk2"/>
                </a:solidFill>
                <a:latin typeface="Arial"/>
                <a:ea typeface="Arial"/>
              </a:rPr>
              <a:t>waiting queue </a:t>
            </a:r>
            <a:endParaRPr b="0" lang="en-US" sz="1800" spc="-1" strike="noStrike">
              <a:solidFill>
                <a:srgbClr val="000000"/>
              </a:solidFill>
              <a:latin typeface="Arial"/>
            </a:endParaRPr>
          </a:p>
        </p:txBody>
      </p:sp>
      <p:pic>
        <p:nvPicPr>
          <p:cNvPr id="97" name="Google Shape;228;p31" descr=""/>
          <p:cNvPicPr/>
          <p:nvPr/>
        </p:nvPicPr>
        <p:blipFill>
          <a:blip r:embed="rId2"/>
          <a:stretch/>
        </p:blipFill>
        <p:spPr>
          <a:xfrm>
            <a:off x="4354920" y="1702440"/>
            <a:ext cx="4709520" cy="1522800"/>
          </a:xfrm>
          <a:prstGeom prst="rect">
            <a:avLst/>
          </a:prstGeom>
          <a:ln w="0">
            <a:noFill/>
          </a:ln>
        </p:spPr>
      </p:pic>
      <p:pic>
        <p:nvPicPr>
          <p:cNvPr id="98" name="Google Shape;229;p31" descr=""/>
          <p:cNvPicPr/>
          <p:nvPr/>
        </p:nvPicPr>
        <p:blipFill>
          <a:blip r:embed="rId3"/>
          <a:stretch/>
        </p:blipFill>
        <p:spPr>
          <a:xfrm>
            <a:off x="3939120" y="3341520"/>
            <a:ext cx="5204520" cy="1612440"/>
          </a:xfrm>
          <a:prstGeom prst="rect">
            <a:avLst/>
          </a:prstGeom>
          <a:ln w="0">
            <a:noFill/>
          </a:ln>
        </p:spPr>
      </p:pic>
      <p:sp>
        <p:nvSpPr>
          <p:cNvPr id="99" name="Google Shape;230;p31"/>
          <p:cNvSpPr/>
          <p:nvPr/>
        </p:nvSpPr>
        <p:spPr>
          <a:xfrm>
            <a:off x="0" y="2571840"/>
            <a:ext cx="4570920" cy="7311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房間</a:t>
            </a:r>
            <a:r>
              <a:rPr b="0" lang="en-US" sz="1800" spc="-1" strike="noStrike">
                <a:solidFill>
                  <a:schemeClr val="dk2"/>
                </a:solidFill>
                <a:latin typeface="Arial"/>
                <a:ea typeface="Arial"/>
              </a:rPr>
              <a:t>0 </a:t>
            </a:r>
            <a:r>
              <a:rPr b="0" lang="zh-TW" sz="1800" spc="-1" strike="noStrike">
                <a:solidFill>
                  <a:schemeClr val="dk2"/>
                </a:solidFill>
                <a:latin typeface="Arial"/>
                <a:ea typeface="Arial"/>
              </a:rPr>
              <a:t>空了之後</a:t>
            </a:r>
            <a:r>
              <a:rPr b="0" lang="en-US" sz="1800" spc="-1" strike="noStrike">
                <a:solidFill>
                  <a:schemeClr val="dk2"/>
                </a:solidFill>
                <a:latin typeface="Arial"/>
                <a:ea typeface="Arial"/>
              </a:rPr>
              <a:t>, Jame(555) </a:t>
            </a:r>
            <a:r>
              <a:rPr b="0" lang="zh-TW" sz="1800" spc="-1" strike="noStrike">
                <a:solidFill>
                  <a:schemeClr val="dk2"/>
                </a:solidFill>
                <a:latin typeface="Arial"/>
                <a:ea typeface="Arial"/>
              </a:rPr>
              <a:t>從</a:t>
            </a:r>
            <a:r>
              <a:rPr b="0" lang="en-US" sz="1800" spc="-1" strike="noStrike">
                <a:solidFill>
                  <a:schemeClr val="dk2"/>
                </a:solidFill>
                <a:latin typeface="Arial"/>
                <a:ea typeface="Arial"/>
              </a:rPr>
              <a:t>waiting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queue </a:t>
            </a:r>
            <a:r>
              <a:rPr b="0" lang="zh-TW" sz="1800" spc="-1" strike="noStrike">
                <a:solidFill>
                  <a:schemeClr val="dk2"/>
                </a:solidFill>
                <a:latin typeface="Arial"/>
                <a:ea typeface="Arial"/>
              </a:rPr>
              <a:t>中被 </a:t>
            </a:r>
            <a:r>
              <a:rPr b="0" lang="en-US" sz="1800" spc="-1" strike="noStrike">
                <a:solidFill>
                  <a:schemeClr val="dk2"/>
                </a:solidFill>
                <a:latin typeface="Arial"/>
                <a:ea typeface="Arial"/>
              </a:rPr>
              <a:t>deque </a:t>
            </a:r>
            <a:r>
              <a:rPr b="0" lang="zh-TW" sz="1800" spc="-1" strike="noStrike">
                <a:solidFill>
                  <a:schemeClr val="dk2"/>
                </a:solidFill>
                <a:latin typeface="Arial"/>
                <a:ea typeface="Arial"/>
              </a:rPr>
              <a:t>並進入 </a:t>
            </a:r>
            <a:r>
              <a:rPr b="0" lang="en-US" sz="1800" spc="-1" strike="noStrike">
                <a:solidFill>
                  <a:schemeClr val="dk2"/>
                </a:solidFill>
                <a:latin typeface="Arial"/>
                <a:ea typeface="Arial"/>
              </a:rPr>
              <a:t>reserve </a:t>
            </a:r>
            <a:r>
              <a:rPr b="0" lang="zh-TW" sz="1800" spc="-1" strike="noStrike">
                <a:solidFill>
                  <a:schemeClr val="dk2"/>
                </a:solidFill>
                <a:latin typeface="Arial"/>
                <a:ea typeface="Arial"/>
              </a:rPr>
              <a:t>狀態</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93320" y="1911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semaphore </a:t>
            </a:r>
            <a:endParaRPr b="0" lang="en-US" sz="2800" spc="-1" strike="noStrike">
              <a:solidFill>
                <a:srgbClr val="000000"/>
              </a:solidFill>
              <a:latin typeface="Arial"/>
            </a:endParaRPr>
          </a:p>
        </p:txBody>
      </p:sp>
      <p:sp>
        <p:nvSpPr>
          <p:cNvPr id="101" name="PlaceHolder 2"/>
          <p:cNvSpPr>
            <a:spLocks noGrp="1"/>
          </p:cNvSpPr>
          <p:nvPr>
            <p:ph/>
          </p:nvPr>
        </p:nvSpPr>
        <p:spPr>
          <a:xfrm>
            <a:off x="311760" y="763920"/>
            <a:ext cx="8520120" cy="1013760"/>
          </a:xfrm>
          <a:prstGeom prst="rect">
            <a:avLst/>
          </a:prstGeom>
          <a:noFill/>
          <a:ln w="0">
            <a:noFill/>
          </a:ln>
        </p:spPr>
        <p:txBody>
          <a:bodyPr lIns="91440" rIns="91440" tIns="91440" bIns="91440" anchor="t">
            <a:normAutofit/>
          </a:bodyPr>
          <a:p>
            <a:pPr indent="0">
              <a:lnSpc>
                <a:spcPct val="115000"/>
              </a:lnSpc>
              <a:buNone/>
              <a:tabLst>
                <a:tab algn="l" pos="0"/>
              </a:tabLst>
            </a:pPr>
            <a:r>
              <a:rPr b="0" lang="zh-TW" sz="1800" spc="-1" strike="noStrike">
                <a:solidFill>
                  <a:schemeClr val="dk2"/>
                </a:solidFill>
                <a:latin typeface="Arial"/>
                <a:ea typeface="Arial"/>
              </a:rPr>
              <a:t>使用 </a:t>
            </a:r>
            <a:r>
              <a:rPr b="0" lang="en-US" sz="1800" spc="-1" strike="noStrike">
                <a:solidFill>
                  <a:schemeClr val="dk2"/>
                </a:solidFill>
                <a:latin typeface="Arial"/>
                <a:ea typeface="Arial"/>
              </a:rPr>
              <a:t>mutex_lock</a:t>
            </a:r>
            <a:r>
              <a:rPr b="0" lang="zh-TW" sz="1800" spc="-1" strike="noStrike">
                <a:solidFill>
                  <a:schemeClr val="dk2"/>
                </a:solidFill>
                <a:latin typeface="Arial"/>
                <a:ea typeface="Arial"/>
              </a:rPr>
              <a:t>避免多個</a:t>
            </a:r>
            <a:r>
              <a:rPr b="0" lang="en-US" sz="1800" spc="-1" strike="noStrike">
                <a:solidFill>
                  <a:schemeClr val="dk2"/>
                </a:solidFill>
                <a:latin typeface="Arial"/>
                <a:ea typeface="Arial"/>
              </a:rPr>
              <a:t>thread (</a:t>
            </a:r>
            <a:r>
              <a:rPr b="0" lang="zh-TW" sz="1800" spc="-1" strike="noStrike">
                <a:solidFill>
                  <a:schemeClr val="dk2"/>
                </a:solidFill>
                <a:latin typeface="Arial"/>
                <a:ea typeface="Arial"/>
              </a:rPr>
              <a:t>使用者</a:t>
            </a:r>
            <a:r>
              <a:rPr b="0" lang="en-US" sz="1800" spc="-1" strike="noStrike">
                <a:solidFill>
                  <a:schemeClr val="dk2"/>
                </a:solidFill>
                <a:latin typeface="Arial"/>
                <a:ea typeface="Arial"/>
              </a:rPr>
              <a:t>)</a:t>
            </a:r>
            <a:r>
              <a:rPr b="0" lang="zh-TW" sz="1800" spc="-1" strike="noStrike">
                <a:solidFill>
                  <a:schemeClr val="dk2"/>
                </a:solidFill>
                <a:latin typeface="Arial"/>
                <a:ea typeface="Arial"/>
              </a:rPr>
              <a:t>存取房間狀態的時候 </a:t>
            </a:r>
            <a:r>
              <a:rPr b="0" lang="en-US" sz="1800" spc="-1" strike="noStrike">
                <a:solidFill>
                  <a:schemeClr val="dk2"/>
                </a:solidFill>
                <a:latin typeface="Arial"/>
                <a:ea typeface="Arial"/>
              </a:rPr>
              <a:t>race condition</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example : reserve_room</a:t>
            </a:r>
            <a:endParaRPr b="0" lang="en-US" sz="1800" spc="-1" strike="noStrike">
              <a:solidFill>
                <a:srgbClr val="000000"/>
              </a:solidFill>
              <a:latin typeface="Arial"/>
            </a:endParaRPr>
          </a:p>
        </p:txBody>
      </p:sp>
      <p:pic>
        <p:nvPicPr>
          <p:cNvPr id="102" name="Google Shape;237;p32" descr=""/>
          <p:cNvPicPr/>
          <p:nvPr/>
        </p:nvPicPr>
        <p:blipFill>
          <a:blip r:embed="rId1"/>
          <a:stretch/>
        </p:blipFill>
        <p:spPr>
          <a:xfrm>
            <a:off x="515160" y="1740600"/>
            <a:ext cx="5238000" cy="3297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timer  </a:t>
            </a:r>
            <a:endParaRPr b="0" lang="en-US" sz="2800" spc="-1" strike="noStrike">
              <a:solidFill>
                <a:srgbClr val="000000"/>
              </a:solidFill>
              <a:latin typeface="Arial"/>
            </a:endParaRPr>
          </a:p>
        </p:txBody>
      </p:sp>
      <p:sp>
        <p:nvSpPr>
          <p:cNvPr id="104"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US" sz="1800" spc="-1" strike="noStrike">
                <a:solidFill>
                  <a:schemeClr val="dk2"/>
                </a:solidFill>
                <a:latin typeface="Arial"/>
                <a:ea typeface="Arial"/>
              </a:rPr>
              <a:t>volatile sig_atomic_t g_tick  // global tick counter</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tick_handler: 100ms </a:t>
            </a:r>
            <a:r>
              <a:rPr b="0" lang="zh-TW" sz="1800" spc="-1" strike="noStrike">
                <a:solidFill>
                  <a:schemeClr val="dk2"/>
                </a:solidFill>
                <a:latin typeface="Arial"/>
                <a:ea typeface="Arial"/>
              </a:rPr>
              <a:t>被呼叫一次</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zh-TW" sz="1800" spc="-1" strike="noStrike">
                <a:solidFill>
                  <a:schemeClr val="dk2"/>
                </a:solidFill>
                <a:latin typeface="Arial"/>
                <a:ea typeface="Arial"/>
              </a:rPr>
              <a:t>使用 </a:t>
            </a:r>
            <a:r>
              <a:rPr b="0" lang="en-US" sz="1800" spc="-1" strike="noStrike">
                <a:solidFill>
                  <a:schemeClr val="dk2"/>
                </a:solidFill>
                <a:latin typeface="Arial"/>
                <a:ea typeface="Arial"/>
              </a:rPr>
              <a:t>ITIMER_REAL</a:t>
            </a:r>
            <a:endParaRPr b="0" lang="en-US" sz="1800" spc="-1" strike="noStrike">
              <a:solidFill>
                <a:srgbClr val="000000"/>
              </a:solidFill>
              <a:latin typeface="Arial"/>
            </a:endParaRPr>
          </a:p>
        </p:txBody>
      </p:sp>
      <p:pic>
        <p:nvPicPr>
          <p:cNvPr id="105" name="Google Shape;244;p33" descr=""/>
          <p:cNvPicPr/>
          <p:nvPr/>
        </p:nvPicPr>
        <p:blipFill>
          <a:blip r:embed="rId1"/>
          <a:stretch/>
        </p:blipFill>
        <p:spPr>
          <a:xfrm>
            <a:off x="311760" y="2050560"/>
            <a:ext cx="4483440" cy="998640"/>
          </a:xfrm>
          <a:prstGeom prst="rect">
            <a:avLst/>
          </a:prstGeom>
          <a:ln w="0">
            <a:noFill/>
          </a:ln>
        </p:spPr>
      </p:pic>
      <p:pic>
        <p:nvPicPr>
          <p:cNvPr id="106" name="Google Shape;245;p33" descr=""/>
          <p:cNvPicPr/>
          <p:nvPr/>
        </p:nvPicPr>
        <p:blipFill>
          <a:blip r:embed="rId2"/>
          <a:stretch/>
        </p:blipFill>
        <p:spPr>
          <a:xfrm>
            <a:off x="4522680" y="2050560"/>
            <a:ext cx="3819240" cy="771120"/>
          </a:xfrm>
          <a:prstGeom prst="rect">
            <a:avLst/>
          </a:prstGeom>
          <a:ln w="0">
            <a:noFill/>
          </a:ln>
        </p:spPr>
      </p:pic>
      <p:pic>
        <p:nvPicPr>
          <p:cNvPr id="107" name="Google Shape;246;p33" descr=""/>
          <p:cNvPicPr/>
          <p:nvPr/>
        </p:nvPicPr>
        <p:blipFill>
          <a:blip r:embed="rId3"/>
          <a:stretch/>
        </p:blipFill>
        <p:spPr>
          <a:xfrm>
            <a:off x="366840" y="3423960"/>
            <a:ext cx="6447960" cy="11044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timer  </a:t>
            </a:r>
            <a:endParaRPr b="0" lang="en-US" sz="2800" spc="-1" strike="noStrike">
              <a:solidFill>
                <a:srgbClr val="000000"/>
              </a:solidFill>
              <a:latin typeface="Arial"/>
            </a:endParaRPr>
          </a:p>
        </p:txBody>
      </p:sp>
      <p:sp>
        <p:nvSpPr>
          <p:cNvPr id="109" name="PlaceHolder 2"/>
          <p:cNvSpPr>
            <a:spLocks noGrp="1"/>
          </p:cNvSpPr>
          <p:nvPr>
            <p:ph/>
          </p:nvPr>
        </p:nvSpPr>
        <p:spPr>
          <a:xfrm>
            <a:off x="311760" y="1152360"/>
            <a:ext cx="8520120" cy="3759120"/>
          </a:xfrm>
          <a:prstGeom prst="rect">
            <a:avLst/>
          </a:prstGeom>
          <a:noFill/>
          <a:ln w="0">
            <a:noFill/>
          </a:ln>
        </p:spPr>
        <p:txBody>
          <a:bodyPr lIns="91440" rIns="91440" tIns="91440" bIns="91440" anchor="t">
            <a:normAutofit fontScale="81111"/>
          </a:bodyPr>
          <a:p>
            <a:pPr indent="0">
              <a:lnSpc>
                <a:spcPct val="115000"/>
              </a:lnSpc>
              <a:buNone/>
              <a:tabLst>
                <a:tab algn="l" pos="0"/>
              </a:tabLst>
            </a:pPr>
            <a:r>
              <a:rPr b="0" lang="en-US" sz="1800" spc="-1" strike="noStrike">
                <a:solidFill>
                  <a:schemeClr val="dk2"/>
                </a:solidFill>
                <a:latin typeface="Arial"/>
                <a:ea typeface="Arial"/>
              </a:rPr>
              <a:t>timer worker thread  </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timer_worker   : while loop , </a:t>
            </a:r>
            <a:r>
              <a:rPr b="0" lang="zh-TW" sz="1800" spc="-1" strike="noStrike">
                <a:solidFill>
                  <a:schemeClr val="dk2"/>
                </a:solidFill>
                <a:latin typeface="Arial"/>
                <a:ea typeface="Arial"/>
              </a:rPr>
              <a:t>每隔</a:t>
            </a:r>
            <a:r>
              <a:rPr b="0" lang="en-US" sz="1800" spc="-1" strike="noStrike">
                <a:solidFill>
                  <a:schemeClr val="dk2"/>
                </a:solidFill>
                <a:latin typeface="Arial"/>
                <a:ea typeface="Arial"/>
              </a:rPr>
              <a:t>10ms scan </a:t>
            </a:r>
            <a:r>
              <a:rPr b="0" lang="zh-TW" sz="1800" spc="-1" strike="noStrike">
                <a:solidFill>
                  <a:schemeClr val="dk2"/>
                </a:solidFill>
                <a:latin typeface="Arial"/>
                <a:ea typeface="Arial"/>
              </a:rPr>
              <a:t>每個房間的狀態 </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如果 </a:t>
            </a:r>
            <a:r>
              <a:rPr b="0" lang="en-US" sz="1800" spc="-1" strike="noStrike">
                <a:solidFill>
                  <a:schemeClr val="dk2"/>
                </a:solidFill>
                <a:latin typeface="Arial"/>
                <a:ea typeface="Arial"/>
              </a:rPr>
              <a:t>reserve </a:t>
            </a:r>
            <a:r>
              <a:rPr b="0" lang="zh-TW" sz="1800" spc="-1" strike="noStrike">
                <a:solidFill>
                  <a:schemeClr val="dk2"/>
                </a:solidFill>
                <a:latin typeface="Arial"/>
                <a:ea typeface="Arial"/>
              </a:rPr>
              <a:t>超過 </a:t>
            </a:r>
            <a:r>
              <a:rPr b="0" lang="en-US" sz="1800" spc="-1" strike="noStrike">
                <a:solidFill>
                  <a:schemeClr val="dk2"/>
                </a:solidFill>
                <a:latin typeface="Arial"/>
                <a:ea typeface="Arial"/>
              </a:rPr>
              <a:t>5s </a:t>
            </a:r>
            <a:r>
              <a:rPr b="0" lang="zh-TW" sz="1800" spc="-1" strike="noStrike">
                <a:solidFill>
                  <a:schemeClr val="dk2"/>
                </a:solidFill>
                <a:latin typeface="Arial"/>
                <a:ea typeface="Arial"/>
              </a:rPr>
              <a:t>沒有</a:t>
            </a:r>
            <a:r>
              <a:rPr b="0" lang="en-US" sz="1800" spc="-1" strike="noStrike">
                <a:solidFill>
                  <a:schemeClr val="dk2"/>
                </a:solidFill>
                <a:latin typeface="Arial"/>
                <a:ea typeface="Arial"/>
              </a:rPr>
              <a:t>check in </a:t>
            </a:r>
            <a:r>
              <a:rPr b="0" lang="zh-TW" sz="1800" spc="-1" strike="noStrike">
                <a:solidFill>
                  <a:schemeClr val="dk2"/>
                </a:solidFill>
                <a:latin typeface="Arial"/>
                <a:ea typeface="Arial"/>
              </a:rPr>
              <a:t>就會被自動 </a:t>
            </a:r>
            <a:r>
              <a:rPr b="0" lang="en-US" sz="1800" spc="-1" strike="noStrike">
                <a:solidFill>
                  <a:schemeClr val="dk2"/>
                </a:solidFill>
                <a:latin typeface="Arial"/>
                <a:ea typeface="Arial"/>
              </a:rPr>
              <a:t>release </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候補機制</a:t>
            </a:r>
            <a:r>
              <a:rPr b="0" lang="en-US" sz="1800" spc="-1" strike="noStrike">
                <a:solidFill>
                  <a:schemeClr val="dk2"/>
                </a:solidFill>
                <a:latin typeface="Arial"/>
                <a:ea typeface="Arial"/>
              </a:rPr>
              <a:t>: </a:t>
            </a:r>
            <a:r>
              <a:rPr b="0" lang="zh-TW" sz="1800" spc="-1" strike="noStrike">
                <a:solidFill>
                  <a:schemeClr val="dk2"/>
                </a:solidFill>
                <a:latin typeface="Arial"/>
                <a:ea typeface="Arial"/>
              </a:rPr>
              <a:t>如果讀書是在使用中並且當前沒有任何空讀書室，</a:t>
            </a:r>
            <a:r>
              <a:rPr b="0" lang="en-US" sz="1800" spc="-1" strike="noStrike">
                <a:solidFill>
                  <a:schemeClr val="dk2"/>
                </a:solidFill>
                <a:latin typeface="Arial"/>
                <a:ea typeface="Arial"/>
              </a:rPr>
              <a:t>reserve</a:t>
            </a:r>
            <a:r>
              <a:rPr b="0" lang="zh-TW" sz="1800" spc="-1" strike="noStrike">
                <a:solidFill>
                  <a:schemeClr val="dk2"/>
                </a:solidFill>
                <a:latin typeface="Arial"/>
                <a:ea typeface="Arial"/>
              </a:rPr>
              <a:t>會進入到</a:t>
            </a:r>
            <a:r>
              <a:rPr b="0" lang="en-US" sz="1800" spc="-1" strike="noStrike">
                <a:solidFill>
                  <a:schemeClr val="dk2"/>
                </a:solidFill>
                <a:latin typeface="Arial"/>
                <a:ea typeface="Arial"/>
              </a:rPr>
              <a:t>waiting list</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當房間釋放時候補名單中以</a:t>
            </a:r>
            <a:r>
              <a:rPr b="0" lang="en-US" sz="1800" spc="-1" strike="noStrike">
                <a:solidFill>
                  <a:schemeClr val="dk2"/>
                </a:solidFill>
                <a:latin typeface="Arial"/>
                <a:ea typeface="Arial"/>
              </a:rPr>
              <a:t>(FIFO)</a:t>
            </a:r>
            <a:r>
              <a:rPr b="0" lang="zh-TW" sz="1800" spc="-1" strike="noStrike">
                <a:solidFill>
                  <a:schemeClr val="dk2"/>
                </a:solidFill>
                <a:latin typeface="Arial"/>
                <a:ea typeface="Arial"/>
              </a:rPr>
              <a:t>依序</a:t>
            </a:r>
            <a:r>
              <a:rPr b="0" lang="en-US" sz="1800" spc="-1" strike="noStrike">
                <a:solidFill>
                  <a:schemeClr val="dk2"/>
                </a:solidFill>
                <a:latin typeface="Arial"/>
                <a:ea typeface="Arial"/>
              </a:rPr>
              <a:t>checkin</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如果 </a:t>
            </a:r>
            <a:r>
              <a:rPr b="0" lang="en-US" sz="1800" spc="-1" strike="noStrike">
                <a:solidFill>
                  <a:schemeClr val="dk2"/>
                </a:solidFill>
                <a:latin typeface="Arial"/>
                <a:ea typeface="Arial"/>
              </a:rPr>
              <a:t>in_use &amp;&amp; (extend==0) </a:t>
            </a:r>
            <a:r>
              <a:rPr b="0" lang="zh-TW" sz="1800" spc="-1" strike="noStrike">
                <a:solidFill>
                  <a:schemeClr val="dk2"/>
                </a:solidFill>
                <a:latin typeface="Arial"/>
                <a:ea typeface="Arial"/>
              </a:rPr>
              <a:t>超過 </a:t>
            </a:r>
            <a:r>
              <a:rPr b="0" lang="en-US" sz="1800" spc="-1" strike="noStrike">
                <a:solidFill>
                  <a:schemeClr val="dk2"/>
                </a:solidFill>
                <a:latin typeface="Arial"/>
                <a:ea typeface="Arial"/>
              </a:rPr>
              <a:t>30s </a:t>
            </a:r>
            <a:r>
              <a:rPr b="0" lang="zh-TW" sz="1800" spc="-1" strike="noStrike">
                <a:solidFill>
                  <a:schemeClr val="dk2"/>
                </a:solidFill>
                <a:latin typeface="Arial"/>
                <a:ea typeface="Arial"/>
              </a:rPr>
              <a:t>就會被自動 </a:t>
            </a:r>
            <a:r>
              <a:rPr b="0" lang="en-US" sz="1800" spc="-1" strike="noStrike">
                <a:solidFill>
                  <a:schemeClr val="dk2"/>
                </a:solidFill>
                <a:latin typeface="Arial"/>
                <a:ea typeface="Arial"/>
              </a:rPr>
              <a:t>release</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in_use &amp;&amp; (extend==1) </a:t>
            </a:r>
            <a:r>
              <a:rPr b="0" lang="zh-TW" sz="1800" spc="-1" strike="noStrike">
                <a:solidFill>
                  <a:schemeClr val="dk2"/>
                </a:solidFill>
                <a:latin typeface="Arial"/>
                <a:ea typeface="Arial"/>
              </a:rPr>
              <a:t>超過 </a:t>
            </a:r>
            <a:r>
              <a:rPr b="0" lang="en-US" sz="1800" spc="-1" strike="noStrike">
                <a:solidFill>
                  <a:schemeClr val="dk2"/>
                </a:solidFill>
                <a:latin typeface="Arial"/>
                <a:ea typeface="Arial"/>
              </a:rPr>
              <a:t>60s </a:t>
            </a:r>
            <a:r>
              <a:rPr b="0" lang="zh-TW" sz="1800" spc="-1" strike="noStrike">
                <a:solidFill>
                  <a:schemeClr val="dk2"/>
                </a:solidFill>
                <a:latin typeface="Arial"/>
                <a:ea typeface="Arial"/>
              </a:rPr>
              <a:t>就會被自動 </a:t>
            </a:r>
            <a:r>
              <a:rPr b="0" lang="en-US" sz="1800" spc="-1" strike="noStrike">
                <a:solidFill>
                  <a:schemeClr val="dk2"/>
                </a:solidFill>
                <a:latin typeface="Arial"/>
                <a:ea typeface="Arial"/>
              </a:rPr>
              <a:t>release</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pic>
        <p:nvPicPr>
          <p:cNvPr id="110" name="Google Shape;253;p34" descr=""/>
          <p:cNvPicPr/>
          <p:nvPr/>
        </p:nvPicPr>
        <p:blipFill>
          <a:blip r:embed="rId1"/>
          <a:srcRect l="0" t="0" r="44473" b="9898"/>
          <a:stretch/>
        </p:blipFill>
        <p:spPr>
          <a:xfrm>
            <a:off x="515880" y="1547280"/>
            <a:ext cx="5076000" cy="5349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66240" y="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timer  </a:t>
            </a:r>
            <a:endParaRPr b="0" lang="en-US" sz="2800" spc="-1" strike="noStrike">
              <a:solidFill>
                <a:srgbClr val="000000"/>
              </a:solidFill>
              <a:latin typeface="Arial"/>
            </a:endParaRPr>
          </a:p>
        </p:txBody>
      </p:sp>
      <p:pic>
        <p:nvPicPr>
          <p:cNvPr id="112" name="Google Shape;259;p35" descr=""/>
          <p:cNvPicPr/>
          <p:nvPr/>
        </p:nvPicPr>
        <p:blipFill>
          <a:blip r:embed="rId1"/>
          <a:stretch/>
        </p:blipFill>
        <p:spPr>
          <a:xfrm>
            <a:off x="186120" y="572760"/>
            <a:ext cx="5002200" cy="1617480"/>
          </a:xfrm>
          <a:prstGeom prst="rect">
            <a:avLst/>
          </a:prstGeom>
          <a:ln w="0">
            <a:noFill/>
          </a:ln>
        </p:spPr>
      </p:pic>
      <p:pic>
        <p:nvPicPr>
          <p:cNvPr id="113" name="Google Shape;260;p35" descr=""/>
          <p:cNvPicPr/>
          <p:nvPr/>
        </p:nvPicPr>
        <p:blipFill>
          <a:blip r:embed="rId2"/>
          <a:stretch/>
        </p:blipFill>
        <p:spPr>
          <a:xfrm>
            <a:off x="186120" y="2190600"/>
            <a:ext cx="6334200" cy="2912040"/>
          </a:xfrm>
          <a:prstGeom prst="rect">
            <a:avLst/>
          </a:prstGeom>
          <a:ln w="0">
            <a:noFill/>
          </a:ln>
        </p:spPr>
      </p:pic>
      <p:sp>
        <p:nvSpPr>
          <p:cNvPr id="114" name="Google Shape;261;p35"/>
          <p:cNvSpPr/>
          <p:nvPr/>
        </p:nvSpPr>
        <p:spPr>
          <a:xfrm>
            <a:off x="5189040" y="1164600"/>
            <a:ext cx="3969360" cy="7311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nano sleep 10ms </a:t>
            </a:r>
            <a:r>
              <a:rPr b="0" lang="zh-TW" sz="1800" spc="-1" strike="noStrike">
                <a:solidFill>
                  <a:schemeClr val="dk2"/>
                </a:solidFill>
                <a:latin typeface="Arial"/>
                <a:ea typeface="Arial"/>
              </a:rPr>
              <a:t>避免</a:t>
            </a:r>
            <a:r>
              <a:rPr b="0" lang="en-US" sz="1800" spc="-1" strike="noStrike">
                <a:solidFill>
                  <a:schemeClr val="dk2"/>
                </a:solidFill>
                <a:latin typeface="Arial"/>
                <a:ea typeface="Arial"/>
              </a:rPr>
              <a:t>busy loop, </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每 </a:t>
            </a:r>
            <a:r>
              <a:rPr b="0" lang="en-US" sz="1800" spc="-1" strike="noStrike">
                <a:solidFill>
                  <a:schemeClr val="dk2"/>
                </a:solidFill>
                <a:latin typeface="Arial"/>
                <a:ea typeface="Arial"/>
              </a:rPr>
              <a:t>10ms </a:t>
            </a:r>
            <a:r>
              <a:rPr b="0" lang="zh-TW" sz="1800" spc="-1" strike="noStrike">
                <a:solidFill>
                  <a:schemeClr val="dk2"/>
                </a:solidFill>
                <a:latin typeface="Arial"/>
                <a:ea typeface="Arial"/>
              </a:rPr>
              <a:t>確認房間狀態</a:t>
            </a:r>
            <a:endParaRPr b="0" lang="en-US" sz="1800" spc="-1" strike="noStrike">
              <a:solidFill>
                <a:srgbClr val="000000"/>
              </a:solidFill>
              <a:latin typeface="Arial"/>
            </a:endParaRPr>
          </a:p>
        </p:txBody>
      </p:sp>
      <p:sp>
        <p:nvSpPr>
          <p:cNvPr id="115" name="Google Shape;262;p35"/>
          <p:cNvSpPr/>
          <p:nvPr/>
        </p:nvSpPr>
        <p:spPr>
          <a:xfrm>
            <a:off x="6520680" y="2278800"/>
            <a:ext cx="2574360" cy="15541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scan </a:t>
            </a:r>
            <a:r>
              <a:rPr b="0" lang="zh-TW" sz="1800" spc="-1" strike="noStrike">
                <a:solidFill>
                  <a:schemeClr val="dk2"/>
                </a:solidFill>
                <a:latin typeface="Arial"/>
                <a:ea typeface="Arial"/>
              </a:rPr>
              <a:t>每個房間 </a:t>
            </a:r>
            <a:r>
              <a:rPr b="0" lang="en-US" sz="1800" spc="-1" strike="noStrike">
                <a:solidFill>
                  <a:schemeClr val="dk2"/>
                </a:solidFill>
                <a:latin typeface="Arial"/>
                <a:ea typeface="Arial"/>
              </a:rPr>
              <a:t>state, </a:t>
            </a:r>
            <a:r>
              <a:rPr b="0" lang="zh-TW" sz="1800" spc="-1" strike="noStrike">
                <a:solidFill>
                  <a:schemeClr val="dk2"/>
                </a:solidFill>
                <a:latin typeface="Arial"/>
                <a:ea typeface="Arial"/>
              </a:rPr>
              <a:t>如果超過時間就</a:t>
            </a:r>
            <a:r>
              <a:rPr b="0" lang="en-US" sz="1800" spc="-1" strike="noStrike">
                <a:solidFill>
                  <a:schemeClr val="dk2"/>
                </a:solidFill>
                <a:latin typeface="Arial"/>
                <a:ea typeface="Arial"/>
              </a:rPr>
              <a:t>release </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US" sz="2800" spc="-1" strike="noStrike">
                <a:solidFill>
                  <a:schemeClr val="dk1"/>
                </a:solidFill>
                <a:latin typeface="Arial"/>
                <a:ea typeface="Arial"/>
              </a:rPr>
              <a:t>ncurse gui</a:t>
            </a:r>
            <a:endParaRPr b="0" lang="en-US" sz="2800" spc="-1" strike="noStrike">
              <a:solidFill>
                <a:srgbClr val="000000"/>
              </a:solidFill>
              <a:latin typeface="Arial"/>
            </a:endParaRPr>
          </a:p>
        </p:txBody>
      </p:sp>
      <p:pic>
        <p:nvPicPr>
          <p:cNvPr id="117" name="Google Shape;268;p36" descr=""/>
          <p:cNvPicPr/>
          <p:nvPr/>
        </p:nvPicPr>
        <p:blipFill>
          <a:blip r:embed="rId1"/>
          <a:stretch/>
        </p:blipFill>
        <p:spPr>
          <a:xfrm>
            <a:off x="152280" y="2269800"/>
            <a:ext cx="2437920" cy="1828440"/>
          </a:xfrm>
          <a:prstGeom prst="rect">
            <a:avLst/>
          </a:prstGeom>
          <a:ln w="0">
            <a:noFill/>
          </a:ln>
        </p:spPr>
      </p:pic>
      <p:pic>
        <p:nvPicPr>
          <p:cNvPr id="118" name="Google Shape;269;p36" descr=""/>
          <p:cNvPicPr/>
          <p:nvPr/>
        </p:nvPicPr>
        <p:blipFill>
          <a:blip r:embed="rId2"/>
          <a:stretch/>
        </p:blipFill>
        <p:spPr>
          <a:xfrm>
            <a:off x="2760120" y="2269800"/>
            <a:ext cx="2437920" cy="1828440"/>
          </a:xfrm>
          <a:prstGeom prst="rect">
            <a:avLst/>
          </a:prstGeom>
          <a:ln w="0">
            <a:noFill/>
          </a:ln>
        </p:spPr>
      </p:pic>
      <p:pic>
        <p:nvPicPr>
          <p:cNvPr id="119" name="Google Shape;270;p36" descr=""/>
          <p:cNvPicPr/>
          <p:nvPr/>
        </p:nvPicPr>
        <p:blipFill>
          <a:blip r:embed="rId3"/>
          <a:stretch/>
        </p:blipFill>
        <p:spPr>
          <a:xfrm>
            <a:off x="5541120" y="2269800"/>
            <a:ext cx="2437920" cy="1828440"/>
          </a:xfrm>
          <a:prstGeom prst="rect">
            <a:avLst/>
          </a:prstGeom>
          <a:ln w="0">
            <a:noFill/>
          </a:ln>
        </p:spPr>
      </p:pic>
      <p:sp>
        <p:nvSpPr>
          <p:cNvPr id="120" name="Google Shape;271;p36"/>
          <p:cNvSpPr/>
          <p:nvPr/>
        </p:nvSpPr>
        <p:spPr>
          <a:xfrm>
            <a:off x="559080" y="1152000"/>
            <a:ext cx="4872600" cy="7311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在 </a:t>
            </a:r>
            <a:r>
              <a:rPr b="0" lang="en-US" sz="1800" spc="-1" strike="noStrike">
                <a:solidFill>
                  <a:schemeClr val="dk2"/>
                </a:solidFill>
                <a:latin typeface="Arial"/>
                <a:ea typeface="Arial"/>
              </a:rPr>
              <a:t>client </a:t>
            </a:r>
            <a:r>
              <a:rPr b="0" lang="zh-TW" sz="1800" spc="-1" strike="noStrike">
                <a:solidFill>
                  <a:schemeClr val="dk2"/>
                </a:solidFill>
                <a:latin typeface="Arial"/>
                <a:ea typeface="Arial"/>
              </a:rPr>
              <a:t>使用 </a:t>
            </a:r>
            <a:r>
              <a:rPr b="0" lang="en-US" sz="1800" spc="-1" strike="noStrike">
                <a:solidFill>
                  <a:schemeClr val="dk2"/>
                </a:solidFill>
                <a:latin typeface="Arial"/>
                <a:ea typeface="Arial"/>
              </a:rPr>
              <a:t>ncurse gui </a:t>
            </a:r>
            <a:r>
              <a:rPr b="0" lang="zh-TW" sz="1800" spc="-1" strike="noStrike">
                <a:solidFill>
                  <a:schemeClr val="dk2"/>
                </a:solidFill>
                <a:latin typeface="Arial"/>
                <a:ea typeface="Arial"/>
              </a:rPr>
              <a:t>的下拉選單來發送 </a:t>
            </a:r>
            <a:r>
              <a:rPr b="0" lang="en-US" sz="1800" spc="-1" strike="noStrike">
                <a:solidFill>
                  <a:schemeClr val="dk2"/>
                </a:solidFill>
                <a:latin typeface="Arial"/>
                <a:ea typeface="Arial"/>
              </a:rPr>
              <a:t>command </a:t>
            </a:r>
            <a:r>
              <a:rPr b="0" lang="zh-TW" sz="1800" spc="-1" strike="noStrike">
                <a:solidFill>
                  <a:schemeClr val="dk2"/>
                </a:solidFill>
                <a:latin typeface="Arial"/>
                <a:ea typeface="Arial"/>
              </a:rPr>
              <a:t>到 </a:t>
            </a:r>
            <a:r>
              <a:rPr b="0" lang="en-US" sz="1800" spc="-1" strike="noStrike">
                <a:solidFill>
                  <a:schemeClr val="dk2"/>
                </a:solidFill>
                <a:latin typeface="Arial"/>
                <a:ea typeface="Arial"/>
              </a:rPr>
              <a:t>server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224640" y="20880"/>
            <a:ext cx="7263360" cy="57240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800" spc="-1" strike="noStrike">
                <a:solidFill>
                  <a:srgbClr val="002f4a"/>
                </a:solidFill>
                <a:latin typeface="Microsoft JhengHei"/>
                <a:ea typeface="Microsoft JhengHei"/>
              </a:rPr>
              <a:t>過程中遇到的困難與解決方法</a:t>
            </a:r>
            <a:endParaRPr b="0" lang="en-US" sz="2800" spc="-1" strike="noStrike">
              <a:solidFill>
                <a:srgbClr val="000000"/>
              </a:solidFill>
              <a:latin typeface="Arial"/>
            </a:endParaRPr>
          </a:p>
        </p:txBody>
      </p:sp>
      <p:sp>
        <p:nvSpPr>
          <p:cNvPr id="122" name="PlaceHolder 2"/>
          <p:cNvSpPr>
            <a:spLocks noGrp="1"/>
          </p:cNvSpPr>
          <p:nvPr>
            <p:ph/>
          </p:nvPr>
        </p:nvSpPr>
        <p:spPr>
          <a:xfrm>
            <a:off x="224640" y="995400"/>
            <a:ext cx="8520120" cy="4147920"/>
          </a:xfrm>
          <a:prstGeom prst="rect">
            <a:avLst/>
          </a:prstGeom>
          <a:noFill/>
          <a:ln w="0">
            <a:noFill/>
          </a:ln>
        </p:spPr>
        <p:txBody>
          <a:bodyPr lIns="91440" rIns="91440" tIns="91440" bIns="91440" anchor="t">
            <a:normAutofit/>
          </a:bodyPr>
          <a:p>
            <a:pPr marL="457200" indent="-317520">
              <a:lnSpc>
                <a:spcPct val="95000"/>
              </a:lnSpc>
              <a:buClr>
                <a:srgbClr val="595959"/>
              </a:buClr>
              <a:buFont typeface="Arial"/>
              <a:buChar char="●"/>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1</a:t>
            </a:r>
            <a:r>
              <a:rPr b="1" lang="zh-TW" sz="1400" spc="-1" strike="noStrike">
                <a:solidFill>
                  <a:schemeClr val="dk2"/>
                </a:solidFill>
                <a:latin typeface="Arial"/>
                <a:ea typeface="Arial"/>
              </a:rPr>
              <a:t>：多使用者同時預約導致 </a:t>
            </a:r>
            <a:r>
              <a:rPr b="1" lang="en-US" sz="1400" spc="-1" strike="noStrike">
                <a:solidFill>
                  <a:schemeClr val="dk2"/>
                </a:solidFill>
                <a:latin typeface="Arial"/>
                <a:ea typeface="Arial"/>
              </a:rPr>
              <a:t>race condition</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2"/>
                </a:solidFill>
                <a:latin typeface="Arial"/>
                <a:ea typeface="Arial"/>
              </a:rPr>
              <a:t>　</a:t>
            </a:r>
            <a:r>
              <a:rPr b="0" lang="en-US" sz="1400" spc="-1" strike="noStrike">
                <a:solidFill>
                  <a:schemeClr val="dk2"/>
                </a:solidFill>
                <a:latin typeface="Arial"/>
                <a:ea typeface="Arial"/>
              </a:rPr>
              <a:t>Solution: </a:t>
            </a:r>
            <a:r>
              <a:rPr b="0" lang="zh-TW" sz="1400" spc="-1" strike="noStrike">
                <a:solidFill>
                  <a:schemeClr val="dk2"/>
                </a:solidFill>
                <a:latin typeface="Arial"/>
                <a:ea typeface="Arial"/>
              </a:rPr>
              <a:t>使用 </a:t>
            </a:r>
            <a:r>
              <a:rPr b="0" lang="en-US" sz="1400" spc="-1" strike="noStrike">
                <a:solidFill>
                  <a:schemeClr val="dk2"/>
                </a:solidFill>
                <a:latin typeface="Arial"/>
                <a:ea typeface="Arial"/>
              </a:rPr>
              <a:t>mutex </a:t>
            </a:r>
            <a:r>
              <a:rPr b="0" lang="zh-TW" sz="1400" spc="-1" strike="noStrike">
                <a:solidFill>
                  <a:schemeClr val="dk2"/>
                </a:solidFill>
                <a:latin typeface="Arial"/>
                <a:ea typeface="Arial"/>
              </a:rPr>
              <a:t>鎖定房間表，確保僅一個任務可修改狀態</a:t>
            </a:r>
            <a:endParaRPr b="0" lang="en-US" sz="1400" spc="-1" strike="noStrike">
              <a:solidFill>
                <a:srgbClr val="000000"/>
              </a:solidFill>
              <a:latin typeface="Arial"/>
            </a:endParaRPr>
          </a:p>
          <a:p>
            <a:pPr marL="457200" indent="-317520">
              <a:lnSpc>
                <a:spcPct val="95000"/>
              </a:lnSpc>
              <a:spcBef>
                <a:spcPts val="1199"/>
              </a:spcBef>
              <a:buClr>
                <a:srgbClr val="595959"/>
              </a:buClr>
              <a:buFont typeface="Arial"/>
              <a:buChar char="●"/>
              <a:tabLst>
                <a:tab algn="l" pos="0"/>
              </a:tabLst>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2</a:t>
            </a:r>
            <a:r>
              <a:rPr b="1" lang="zh-TW" sz="1400" spc="-1" strike="noStrike">
                <a:solidFill>
                  <a:schemeClr val="dk2"/>
                </a:solidFill>
                <a:latin typeface="Arial"/>
                <a:ea typeface="Arial"/>
              </a:rPr>
              <a:t>：多人合作的挑戰</a:t>
            </a:r>
            <a:endParaRPr b="0" lang="en-US" sz="1400" spc="-1" strike="noStrike">
              <a:solidFill>
                <a:srgbClr val="000000"/>
              </a:solidFill>
              <a:latin typeface="Arial"/>
            </a:endParaRPr>
          </a:p>
          <a:p>
            <a:pPr indent="0">
              <a:lnSpc>
                <a:spcPct val="95000"/>
              </a:lnSpc>
              <a:spcBef>
                <a:spcPts val="1199"/>
              </a:spcBef>
              <a:buNone/>
              <a:tabLst>
                <a:tab algn="l" pos="0"/>
              </a:tabLst>
            </a:pPr>
            <a:r>
              <a:rPr b="1" lang="en-US" sz="1400" spc="-1" strike="noStrike">
                <a:solidFill>
                  <a:schemeClr val="dk2"/>
                </a:solidFill>
                <a:latin typeface="Arial"/>
                <a:ea typeface="Arial"/>
              </a:rPr>
              <a:t>   </a:t>
            </a:r>
            <a:r>
              <a:rPr b="0" lang="en-US" sz="1400" spc="-1" strike="noStrike">
                <a:solidFill>
                  <a:schemeClr val="dk2"/>
                </a:solidFill>
                <a:latin typeface="Arial"/>
                <a:ea typeface="Arial"/>
              </a:rPr>
              <a:t>Solution: </a:t>
            </a:r>
            <a:r>
              <a:rPr b="0" lang="zh-TW" sz="1400" spc="-1" strike="noStrike">
                <a:solidFill>
                  <a:schemeClr val="dk2"/>
                </a:solidFill>
                <a:latin typeface="Arial"/>
                <a:ea typeface="Arial"/>
              </a:rPr>
              <a:t>盡量負責不會互相干擾的功能</a:t>
            </a:r>
            <a:endParaRPr b="0" lang="en-US" sz="1400" spc="-1" strike="noStrike">
              <a:solidFill>
                <a:srgbClr val="000000"/>
              </a:solidFill>
              <a:latin typeface="Arial"/>
            </a:endParaRPr>
          </a:p>
          <a:p>
            <a:pPr marL="457200" indent="-317520">
              <a:lnSpc>
                <a:spcPct val="95000"/>
              </a:lnSpc>
              <a:spcBef>
                <a:spcPts val="1199"/>
              </a:spcBef>
              <a:buClr>
                <a:srgbClr val="595959"/>
              </a:buClr>
              <a:buFont typeface="Arial"/>
              <a:buChar char="●"/>
              <a:tabLst>
                <a:tab algn="l" pos="0"/>
              </a:tabLst>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3</a:t>
            </a:r>
            <a:r>
              <a:rPr b="1" lang="zh-TW" sz="1400" spc="-1" strike="noStrike">
                <a:solidFill>
                  <a:schemeClr val="dk2"/>
                </a:solidFill>
                <a:latin typeface="Arial"/>
                <a:ea typeface="Arial"/>
              </a:rPr>
              <a:t>：按鈕抖動造成重複觸發</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2"/>
                </a:solidFill>
                <a:latin typeface="Arial"/>
                <a:ea typeface="Arial"/>
              </a:rPr>
              <a:t>　</a:t>
            </a:r>
            <a:r>
              <a:rPr b="0" lang="en-US" sz="1400" spc="-1" strike="noStrike">
                <a:solidFill>
                  <a:schemeClr val="dk2"/>
                </a:solidFill>
                <a:latin typeface="Arial"/>
                <a:ea typeface="Arial"/>
              </a:rPr>
              <a:t>Solution :  </a:t>
            </a:r>
            <a:r>
              <a:rPr b="0" lang="zh-TW" sz="1400" spc="-1" strike="noStrike">
                <a:solidFill>
                  <a:schemeClr val="dk2"/>
                </a:solidFill>
                <a:latin typeface="Arial"/>
                <a:ea typeface="Arial"/>
              </a:rPr>
              <a:t>軟體除抖機制：在 </a:t>
            </a:r>
            <a:r>
              <a:rPr b="0" lang="en-US" sz="1400" spc="-1" strike="noStrike">
                <a:solidFill>
                  <a:schemeClr val="dk2"/>
                </a:solidFill>
                <a:latin typeface="Arial"/>
                <a:ea typeface="Arial"/>
              </a:rPr>
              <a:t>ISR </a:t>
            </a:r>
            <a:r>
              <a:rPr b="0" lang="zh-TW" sz="1400" spc="-1" strike="noStrike">
                <a:solidFill>
                  <a:schemeClr val="dk2"/>
                </a:solidFill>
                <a:latin typeface="Arial"/>
                <a:ea typeface="Arial"/>
              </a:rPr>
              <a:t>中加入 </a:t>
            </a:r>
            <a:r>
              <a:rPr b="0" lang="en-US" sz="1400" spc="-1" strike="noStrike">
                <a:solidFill>
                  <a:schemeClr val="dk2"/>
                </a:solidFill>
                <a:latin typeface="Arial"/>
                <a:ea typeface="Arial"/>
              </a:rPr>
              <a:t>ignore window (50~100 ms)</a:t>
            </a:r>
            <a:endParaRPr b="0" lang="en-US" sz="1400" spc="-1" strike="noStrike">
              <a:solidFill>
                <a:srgbClr val="000000"/>
              </a:solidFill>
              <a:latin typeface="Arial"/>
            </a:endParaRPr>
          </a:p>
          <a:p>
            <a:pPr marL="457200" indent="-317520">
              <a:lnSpc>
                <a:spcPct val="95000"/>
              </a:lnSpc>
              <a:spcBef>
                <a:spcPts val="1199"/>
              </a:spcBef>
              <a:buClr>
                <a:srgbClr val="595959"/>
              </a:buClr>
              <a:buFont typeface="Arial"/>
              <a:buChar char="●"/>
              <a:tabLst>
                <a:tab algn="l" pos="0"/>
              </a:tabLst>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4</a:t>
            </a:r>
            <a:r>
              <a:rPr b="1" lang="zh-TW" sz="1400" spc="-1" strike="noStrike">
                <a:solidFill>
                  <a:schemeClr val="dk2"/>
                </a:solidFill>
                <a:latin typeface="Arial"/>
                <a:ea typeface="Arial"/>
              </a:rPr>
              <a:t>：</a:t>
            </a:r>
            <a:r>
              <a:rPr b="1" lang="en-US" sz="1400" spc="-1" strike="noStrike">
                <a:solidFill>
                  <a:schemeClr val="dk2"/>
                </a:solidFill>
                <a:latin typeface="Arial"/>
                <a:ea typeface="Arial"/>
              </a:rPr>
              <a:t>RFID  </a:t>
            </a:r>
            <a:endParaRPr b="0" lang="en-US" sz="1400" spc="-1" strike="noStrike">
              <a:solidFill>
                <a:srgbClr val="000000"/>
              </a:solidFill>
              <a:latin typeface="Arial"/>
            </a:endParaRPr>
          </a:p>
          <a:p>
            <a:pPr indent="0">
              <a:lnSpc>
                <a:spcPct val="95000"/>
              </a:lnSpc>
              <a:spcBef>
                <a:spcPts val="1199"/>
              </a:spcBef>
              <a:spcAft>
                <a:spcPts val="1199"/>
              </a:spcAft>
              <a:buNone/>
              <a:tabLst>
                <a:tab algn="l" pos="0"/>
              </a:tabLst>
            </a:pPr>
            <a:r>
              <a:rPr b="1" lang="en-US" sz="1400" spc="-1" strike="noStrike">
                <a:solidFill>
                  <a:schemeClr val="dk2"/>
                </a:solidFill>
                <a:latin typeface="Arial"/>
                <a:ea typeface="Arial"/>
              </a:rPr>
              <a:t>   </a:t>
            </a:r>
            <a:r>
              <a:rPr b="0" lang="zh-TW" sz="1400" spc="-1" strike="noStrike">
                <a:solidFill>
                  <a:schemeClr val="dk2"/>
                </a:solidFill>
                <a:latin typeface="Arial"/>
                <a:ea typeface="Arial"/>
              </a:rPr>
              <a:t>我們原本直接在</a:t>
            </a:r>
            <a:r>
              <a:rPr b="0" lang="en-US" sz="1400" spc="-1" strike="noStrike">
                <a:solidFill>
                  <a:schemeClr val="dk2"/>
                </a:solidFill>
                <a:latin typeface="Arial"/>
                <a:ea typeface="Arial"/>
              </a:rPr>
              <a:t>driver </a:t>
            </a:r>
            <a:r>
              <a:rPr b="0" lang="zh-TW" sz="1400" spc="-1" strike="noStrike">
                <a:solidFill>
                  <a:schemeClr val="dk2"/>
                </a:solidFill>
                <a:latin typeface="Arial"/>
                <a:ea typeface="Arial"/>
              </a:rPr>
              <a:t>加入 </a:t>
            </a:r>
            <a:r>
              <a:rPr b="0" lang="en-US" sz="1400" spc="-1" strike="noStrike">
                <a:solidFill>
                  <a:schemeClr val="dk2"/>
                </a:solidFill>
                <a:latin typeface="Arial"/>
                <a:ea typeface="Arial"/>
              </a:rPr>
              <a:t>RFID </a:t>
            </a:r>
            <a:r>
              <a:rPr b="0" lang="zh-TW" sz="1400" spc="-1" strike="noStrike">
                <a:solidFill>
                  <a:schemeClr val="dk2"/>
                </a:solidFill>
                <a:latin typeface="Arial"/>
                <a:ea typeface="Arial"/>
              </a:rPr>
              <a:t>但是 </a:t>
            </a:r>
            <a:r>
              <a:rPr b="0" lang="en-US" sz="1400" spc="-1" strike="noStrike">
                <a:solidFill>
                  <a:schemeClr val="dk2"/>
                </a:solidFill>
                <a:latin typeface="Arial"/>
                <a:ea typeface="Arial"/>
              </a:rPr>
              <a:t>RFID </a:t>
            </a:r>
            <a:r>
              <a:rPr b="0" lang="zh-TW" sz="1400" spc="-1" strike="noStrike">
                <a:solidFill>
                  <a:schemeClr val="dk2"/>
                </a:solidFill>
                <a:latin typeface="Arial"/>
                <a:ea typeface="Arial"/>
              </a:rPr>
              <a:t>的設計複雜</a:t>
            </a:r>
            <a:r>
              <a:rPr b="0" lang="en-US" sz="1400" spc="-1" strike="noStrike">
                <a:solidFill>
                  <a:schemeClr val="dk2"/>
                </a:solidFill>
                <a:latin typeface="Arial"/>
                <a:ea typeface="Arial"/>
              </a:rPr>
              <a:t>, </a:t>
            </a:r>
            <a:r>
              <a:rPr b="0" lang="zh-TW" sz="1400" spc="-1" strike="noStrike">
                <a:solidFill>
                  <a:schemeClr val="dk2"/>
                </a:solidFill>
                <a:latin typeface="Arial"/>
                <a:ea typeface="Arial"/>
              </a:rPr>
              <a:t>沒有時間實做</a:t>
            </a:r>
            <a:r>
              <a:rPr b="0" lang="en-US" sz="1400" spc="-1" strike="noStrike">
                <a:solidFill>
                  <a:schemeClr val="dk2"/>
                </a:solidFill>
                <a:latin typeface="Arial"/>
                <a:ea typeface="Arial"/>
              </a:rPr>
              <a:t>, </a:t>
            </a:r>
            <a:r>
              <a:rPr b="0" lang="zh-TW" sz="1400" spc="-1" strike="noStrike">
                <a:solidFill>
                  <a:schemeClr val="dk2"/>
                </a:solidFill>
                <a:latin typeface="Arial"/>
                <a:ea typeface="Arial"/>
              </a:rPr>
              <a:t>所以最後</a:t>
            </a:r>
            <a:r>
              <a:rPr b="0" lang="en-US" sz="1400" spc="-1" strike="noStrike">
                <a:solidFill>
                  <a:schemeClr val="dk2"/>
                </a:solidFill>
                <a:latin typeface="Arial"/>
                <a:ea typeface="Arial"/>
              </a:rPr>
              <a:t>RFID </a:t>
            </a:r>
            <a:r>
              <a:rPr b="0" lang="zh-TW" sz="1400" spc="-1" strike="noStrike">
                <a:solidFill>
                  <a:schemeClr val="dk2"/>
                </a:solidFill>
                <a:latin typeface="Arial"/>
                <a:ea typeface="Arial"/>
              </a:rPr>
              <a:t>是用</a:t>
            </a:r>
            <a:r>
              <a:rPr b="0" lang="en-US" sz="1400" spc="-1" strike="noStrike">
                <a:solidFill>
                  <a:schemeClr val="dk2"/>
                </a:solidFill>
                <a:latin typeface="Arial"/>
                <a:ea typeface="Arial"/>
              </a:rPr>
              <a:t>python </a:t>
            </a:r>
            <a:r>
              <a:rPr b="0" lang="zh-TW" sz="1400" spc="-1" strike="noStrike">
                <a:solidFill>
                  <a:schemeClr val="dk2"/>
                </a:solidFill>
                <a:latin typeface="Arial"/>
                <a:ea typeface="Arial"/>
              </a:rPr>
              <a:t>串接到</a:t>
            </a:r>
            <a:r>
              <a:rPr b="0" lang="en-US" sz="1400" spc="-1" strike="noStrike">
                <a:solidFill>
                  <a:schemeClr val="dk2"/>
                </a:solidFill>
                <a:latin typeface="Arial"/>
                <a:ea typeface="Arial"/>
              </a:rPr>
              <a:t>server</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Google Shape;282;p38" descr=""/>
          <p:cNvPicPr/>
          <p:nvPr/>
        </p:nvPicPr>
        <p:blipFill>
          <a:blip r:embed="rId1"/>
          <a:stretch/>
        </p:blipFill>
        <p:spPr>
          <a:xfrm>
            <a:off x="152280" y="152280"/>
            <a:ext cx="4334760" cy="4838400"/>
          </a:xfrm>
          <a:prstGeom prst="rect">
            <a:avLst/>
          </a:prstGeom>
          <a:ln w="0">
            <a:noFill/>
          </a:ln>
        </p:spPr>
      </p:pic>
      <p:sp>
        <p:nvSpPr>
          <p:cNvPr id="124" name="Google Shape;283;p38"/>
          <p:cNvSpPr/>
          <p:nvPr/>
        </p:nvSpPr>
        <p:spPr>
          <a:xfrm>
            <a:off x="5000400" y="424440"/>
            <a:ext cx="4161240" cy="15541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RFID </a:t>
            </a:r>
            <a:r>
              <a:rPr b="0" lang="zh-TW" sz="1800" spc="-1" strike="noStrike">
                <a:solidFill>
                  <a:schemeClr val="dk2"/>
                </a:solidFill>
                <a:latin typeface="Arial"/>
                <a:ea typeface="Arial"/>
              </a:rPr>
              <a:t>要設定一堆 </a:t>
            </a:r>
            <a:r>
              <a:rPr b="0" lang="en-US" sz="1800" spc="-1" strike="noStrike">
                <a:solidFill>
                  <a:schemeClr val="dk2"/>
                </a:solidFill>
                <a:latin typeface="Arial"/>
                <a:ea typeface="Arial"/>
              </a:rPr>
              <a:t>register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python </a:t>
            </a:r>
            <a:r>
              <a:rPr b="0" lang="zh-TW" sz="1800" spc="-1" strike="noStrike">
                <a:solidFill>
                  <a:schemeClr val="dk2"/>
                </a:solidFill>
                <a:latin typeface="Arial"/>
                <a:ea typeface="Arial"/>
              </a:rPr>
              <a:t>大概 兩百多行  </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當然要一行一行翻譯成 </a:t>
            </a:r>
            <a:r>
              <a:rPr b="0" lang="en-US" sz="1800" spc="-1" strike="noStrike">
                <a:solidFill>
                  <a:schemeClr val="dk2"/>
                </a:solidFill>
                <a:latin typeface="Arial"/>
                <a:ea typeface="Arial"/>
              </a:rPr>
              <a:t>c </a:t>
            </a:r>
            <a:r>
              <a:rPr b="0" lang="zh-TW" sz="1800" spc="-1" strike="noStrike">
                <a:solidFill>
                  <a:schemeClr val="dk2"/>
                </a:solidFill>
                <a:latin typeface="Arial"/>
                <a:ea typeface="Arial"/>
              </a:rPr>
              <a:t>也是可行的</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不過因為來不及做完所以就直接呼叫現成的</a:t>
            </a:r>
            <a:r>
              <a:rPr b="0" lang="en-US" sz="1800" spc="-1" strike="noStrike">
                <a:solidFill>
                  <a:schemeClr val="dk2"/>
                </a:solidFill>
                <a:latin typeface="Arial"/>
                <a:ea typeface="Arial"/>
              </a:rPr>
              <a:t>python library </a:t>
            </a:r>
            <a:r>
              <a:rPr b="0" lang="zh-TW" sz="1800" spc="-1" strike="noStrike">
                <a:solidFill>
                  <a:schemeClr val="dk2"/>
                </a:solidFill>
                <a:latin typeface="Arial"/>
                <a:ea typeface="Arial"/>
              </a:rPr>
              <a:t>了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224640" y="20880"/>
            <a:ext cx="7263360" cy="57240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800" spc="-1" strike="noStrike">
                <a:solidFill>
                  <a:srgbClr val="002f4a"/>
                </a:solidFill>
                <a:latin typeface="Microsoft JhengHei"/>
                <a:ea typeface="Microsoft JhengHei"/>
              </a:rPr>
              <a:t>團隊分工</a:t>
            </a:r>
            <a:endParaRPr b="0" lang="en-US" sz="2800" spc="-1" strike="noStrike">
              <a:solidFill>
                <a:srgbClr val="000000"/>
              </a:solidFill>
              <a:latin typeface="Arial"/>
            </a:endParaRPr>
          </a:p>
        </p:txBody>
      </p:sp>
      <p:sp>
        <p:nvSpPr>
          <p:cNvPr id="126" name="Google Shape;289;p39"/>
          <p:cNvSpPr/>
          <p:nvPr/>
        </p:nvSpPr>
        <p:spPr>
          <a:xfrm>
            <a:off x="880560" y="1338120"/>
            <a:ext cx="7170120" cy="2015640"/>
          </a:xfrm>
          <a:prstGeom prst="rect">
            <a:avLst/>
          </a:prstGeom>
          <a:noFill/>
          <a:ln w="0">
            <a:noFill/>
          </a:ln>
        </p:spPr>
        <p:style>
          <a:lnRef idx="0"/>
          <a:fillRef idx="0"/>
          <a:effectRef idx="0"/>
          <a:fontRef idx="minor"/>
        </p:style>
        <p:txBody>
          <a:bodyPr lIns="68400" rIns="68400" tIns="34200" bIns="34200" anchor="t">
            <a:normAutofit fontScale="93550" lnSpcReduction="20000"/>
          </a:bodyPr>
          <a:p>
            <a:pPr marL="457200" indent="-322560" algn="just">
              <a:lnSpc>
                <a:spcPct val="200000"/>
              </a:lnSpc>
              <a:buClr>
                <a:srgbClr val="31394d"/>
              </a:buClr>
              <a:buFont typeface="Arial"/>
              <a:buChar char="●"/>
            </a:pPr>
            <a:r>
              <a:rPr b="0" lang="zh-TW" sz="1600" spc="-1" strike="noStrike">
                <a:solidFill>
                  <a:srgbClr val="31394d"/>
                </a:solidFill>
                <a:latin typeface="Arial"/>
                <a:ea typeface="Arial"/>
              </a:rPr>
              <a:t>洪翊庭</a:t>
            </a:r>
            <a:r>
              <a:rPr b="0" lang="en-US" sz="1600" spc="-1" strike="noStrike">
                <a:solidFill>
                  <a:srgbClr val="31394d"/>
                </a:solidFill>
                <a:latin typeface="Arial"/>
                <a:ea typeface="Arial"/>
              </a:rPr>
              <a:t>:client/server/driver </a:t>
            </a:r>
            <a:r>
              <a:rPr b="0" lang="zh-TW" sz="1600" spc="-1" strike="noStrike">
                <a:solidFill>
                  <a:srgbClr val="31394d"/>
                </a:solidFill>
                <a:latin typeface="Arial"/>
                <a:ea typeface="Arial"/>
              </a:rPr>
              <a:t>最初版本設計</a:t>
            </a:r>
            <a:r>
              <a:rPr b="0" lang="en-US" sz="1600" spc="-1" strike="noStrike">
                <a:solidFill>
                  <a:srgbClr val="31394d"/>
                </a:solidFill>
                <a:latin typeface="Arial"/>
                <a:ea typeface="Arial"/>
              </a:rPr>
              <a:t>, 7seg,led, </a:t>
            </a:r>
            <a:r>
              <a:rPr b="0" lang="zh-TW" sz="1600" spc="-1" strike="noStrike">
                <a:solidFill>
                  <a:srgbClr val="31394d"/>
                </a:solidFill>
                <a:latin typeface="Arial"/>
                <a:ea typeface="Arial"/>
              </a:rPr>
              <a:t>按鈕串接</a:t>
            </a:r>
            <a:r>
              <a:rPr b="0" lang="en-US" sz="1600" spc="-1" strike="noStrike">
                <a:solidFill>
                  <a:srgbClr val="31394d"/>
                </a:solidFill>
                <a:latin typeface="Arial"/>
                <a:ea typeface="Arial"/>
              </a:rPr>
              <a:t>,ncurse, user waiting queue</a:t>
            </a:r>
            <a:endParaRPr b="0" lang="en-US" sz="1600" spc="-1" strike="noStrike">
              <a:solidFill>
                <a:srgbClr val="000000"/>
              </a:solidFill>
              <a:latin typeface="Arial"/>
            </a:endParaRPr>
          </a:p>
          <a:p>
            <a:pPr marL="457200" indent="-322560" algn="just">
              <a:lnSpc>
                <a:spcPct val="200000"/>
              </a:lnSpc>
              <a:buClr>
                <a:srgbClr val="31394d"/>
              </a:buClr>
              <a:buFont typeface="Arial"/>
              <a:buChar char="●"/>
            </a:pPr>
            <a:r>
              <a:rPr b="0" lang="zh-TW" sz="1600" spc="-1" strike="noStrike">
                <a:solidFill>
                  <a:srgbClr val="31394d"/>
                </a:solidFill>
                <a:latin typeface="Arial"/>
                <a:ea typeface="Arial"/>
              </a:rPr>
              <a:t>朱嘉祥</a:t>
            </a:r>
            <a:r>
              <a:rPr b="0" lang="en-US" sz="1600" spc="-1" strike="noStrike">
                <a:solidFill>
                  <a:srgbClr val="31394d"/>
                </a:solidFill>
                <a:latin typeface="Arial"/>
                <a:ea typeface="Arial"/>
              </a:rPr>
              <a:t>: 7seg </a:t>
            </a:r>
            <a:r>
              <a:rPr b="0" lang="zh-TW" sz="1600" spc="-1" strike="noStrike">
                <a:solidFill>
                  <a:srgbClr val="31394d"/>
                </a:solidFill>
                <a:latin typeface="Arial"/>
                <a:ea typeface="Arial"/>
              </a:rPr>
              <a:t>更新</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等待機制</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單日預約限制</a:t>
            </a:r>
            <a:r>
              <a:rPr b="0" lang="en-US" sz="1600" spc="-1" strike="noStrike">
                <a:solidFill>
                  <a:srgbClr val="31394d"/>
                </a:solidFill>
                <a:latin typeface="Arial"/>
                <a:ea typeface="Arial"/>
              </a:rPr>
              <a:t>, ncurse, share memory</a:t>
            </a:r>
            <a:endParaRPr b="0" lang="en-US" sz="1600" spc="-1" strike="noStrike">
              <a:solidFill>
                <a:srgbClr val="000000"/>
              </a:solidFill>
              <a:latin typeface="Arial"/>
            </a:endParaRPr>
          </a:p>
          <a:p>
            <a:pPr marL="457200" indent="-322560" algn="just">
              <a:lnSpc>
                <a:spcPct val="200000"/>
              </a:lnSpc>
              <a:buClr>
                <a:srgbClr val="31394d"/>
              </a:buClr>
              <a:buFont typeface="Arial"/>
              <a:buChar char="●"/>
            </a:pPr>
            <a:r>
              <a:rPr b="0" lang="zh-TW" sz="1600" spc="-1" strike="noStrike">
                <a:solidFill>
                  <a:srgbClr val="31394d"/>
                </a:solidFill>
                <a:latin typeface="Arial"/>
                <a:ea typeface="Arial"/>
              </a:rPr>
              <a:t>謝佳鴻</a:t>
            </a:r>
            <a:r>
              <a:rPr b="0" lang="en-US" sz="1600" spc="-1" strike="noStrike">
                <a:solidFill>
                  <a:srgbClr val="31394d"/>
                </a:solidFill>
                <a:latin typeface="Arial"/>
                <a:ea typeface="Arial"/>
              </a:rPr>
              <a:t>: rfid </a:t>
            </a:r>
            <a:r>
              <a:rPr b="0" lang="zh-TW" sz="1600" spc="-1" strike="noStrike">
                <a:solidFill>
                  <a:srgbClr val="31394d"/>
                </a:solidFill>
                <a:latin typeface="Arial"/>
                <a:ea typeface="Arial"/>
              </a:rPr>
              <a:t>串接</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新增</a:t>
            </a:r>
            <a:r>
              <a:rPr b="0" lang="en-US" sz="1600" spc="-1" strike="noStrike">
                <a:solidFill>
                  <a:srgbClr val="31394d"/>
                </a:solidFill>
                <a:latin typeface="Arial"/>
                <a:ea typeface="Arial"/>
              </a:rPr>
              <a:t>register </a:t>
            </a:r>
            <a:r>
              <a:rPr b="0" lang="zh-TW" sz="1600" spc="-1" strike="noStrike">
                <a:solidFill>
                  <a:srgbClr val="31394d"/>
                </a:solidFill>
                <a:latin typeface="Arial"/>
                <a:ea typeface="Arial"/>
              </a:rPr>
              <a:t>機制</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使用者避免重複 </a:t>
            </a:r>
            <a:r>
              <a:rPr b="0" lang="en-US" sz="1600" spc="-1" strike="noStrike">
                <a:solidFill>
                  <a:srgbClr val="31394d"/>
                </a:solidFill>
                <a:latin typeface="Arial"/>
                <a:ea typeface="Arial"/>
              </a:rPr>
              <a:t>reserve, share memory</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2025-12-19T10:19:23Z</dcterms:modified>
  <cp:revision>2</cp:revision>
  <dc:subject/>
  <dc:title/>
</cp:coreProperties>
</file>