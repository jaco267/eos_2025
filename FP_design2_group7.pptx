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y="5143500" cx="9144000"/>
  <p:notesSz cx="6858000" cy="9144000"/>
  <p:embeddedFontLst>
    <p:embeddedFont>
      <p:font typeface="Roboto Mono"/>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RobotoMono-regular.fntdata"/><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RobotoMono-italic.fntdata"/><Relationship Id="rId12" Type="http://schemas.openxmlformats.org/officeDocument/2006/relationships/slide" Target="slides/slide7.xml"/><Relationship Id="rId34" Type="http://schemas.openxmlformats.org/officeDocument/2006/relationships/font" Target="fonts/RobotoMono-bold.fntdata"/><Relationship Id="rId15" Type="http://schemas.openxmlformats.org/officeDocument/2006/relationships/slide" Target="slides/slide10.xml"/><Relationship Id="rId14" Type="http://schemas.openxmlformats.org/officeDocument/2006/relationships/slide" Target="slides/slide9.xml"/><Relationship Id="rId36" Type="http://schemas.openxmlformats.org/officeDocument/2006/relationships/font" Target="fonts/RobotoMono-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864b07390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864b07390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864b073901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864b073901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864b073901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864b073901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864b073901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864b073901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acff0e9b1f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acff0e9b1f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ad5a0957ca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ad5a0957ca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a72a270d65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a72a270d65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864b073901_2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864b073901_2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864b073901_2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864b073901_2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864b073901_2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864b073901_2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aad2ad582f_1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aad2ad582f_1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864b073901_2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864b073901_2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864b073901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864b073901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ab8caed4e5_4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ab8caed4e5_4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ab8caed4e5_4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ab8caed4e5_4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aad2ad582f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aad2ad582f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aad2ad582f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aad2ad582f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aad2ad582f_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aad2ad582f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aad2ad582f_1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aad2ad582f_1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ab8caed4e5_4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ab8caed4e5_4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ab8caed4e5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ab8caed4e5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ab8caed4e5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ab8caed4e5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ab8caed4e5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ab8caed4e5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aad2ad582f_1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aad2ad582f_1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864b073901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864b073901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b1a13ae47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b1a13ae47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864b073901_2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864b073901_2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zh-TW"/>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5.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1.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4.png"/><Relationship Id="rId4" Type="http://schemas.openxmlformats.org/officeDocument/2006/relationships/image" Target="../media/image15.png"/><Relationship Id="rId5"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0.png"/><Relationship Id="rId4" Type="http://schemas.openxmlformats.org/officeDocument/2006/relationships/image" Target="../media/image14.png"/><Relationship Id="rId5"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6.png"/><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2.png"/><Relationship Id="rId4" Type="http://schemas.openxmlformats.org/officeDocument/2006/relationships/image" Target="../media/image19.png"/><Relationship Id="rId5"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title"/>
          </p:nvPr>
        </p:nvSpPr>
        <p:spPr>
          <a:xfrm>
            <a:off x="311700" y="1140973"/>
            <a:ext cx="8520600" cy="2060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zh-TW" sz="3600"/>
              <a:t>期末專題</a:t>
            </a:r>
            <a:endParaRPr b="1" sz="3600"/>
          </a:p>
          <a:p>
            <a:pPr indent="0" lvl="0" marL="0" rtl="0" algn="l">
              <a:lnSpc>
                <a:spcPct val="115000"/>
              </a:lnSpc>
              <a:spcBef>
                <a:spcPts val="0"/>
              </a:spcBef>
              <a:spcAft>
                <a:spcPts val="0"/>
              </a:spcAft>
              <a:buClr>
                <a:schemeClr val="dk1"/>
              </a:buClr>
              <a:buSzPts val="1100"/>
              <a:buFont typeface="Arial"/>
              <a:buNone/>
            </a:pPr>
            <a:r>
              <a:rPr b="1" lang="zh-TW" sz="3600"/>
              <a:t>讀書室預約系統   </a:t>
            </a:r>
            <a:endParaRPr b="1" sz="3600"/>
          </a:p>
          <a:p>
            <a:pPr indent="0" lvl="0" marL="0" rtl="0" algn="l">
              <a:spcBef>
                <a:spcPts val="1200"/>
              </a:spcBef>
              <a:spcAft>
                <a:spcPts val="0"/>
              </a:spcAft>
              <a:buNone/>
            </a:pPr>
            <a:r>
              <a:t/>
            </a:r>
            <a:endParaRPr/>
          </a:p>
        </p:txBody>
      </p:sp>
      <p:sp>
        <p:nvSpPr>
          <p:cNvPr id="55" name="Google Shape;55;p13"/>
          <p:cNvSpPr txBox="1"/>
          <p:nvPr>
            <p:ph idx="1" type="body"/>
          </p:nvPr>
        </p:nvSpPr>
        <p:spPr>
          <a:xfrm>
            <a:off x="1709392" y="4212675"/>
            <a:ext cx="7351500" cy="464700"/>
          </a:xfrm>
          <a:prstGeom prst="rect">
            <a:avLst/>
          </a:prstGeom>
        </p:spPr>
        <p:txBody>
          <a:bodyPr anchorCtr="0" anchor="t" bIns="91425" lIns="91425" spcFirstLastPara="1" rIns="91425" wrap="square" tIns="91425">
            <a:noAutofit/>
          </a:bodyPr>
          <a:lstStyle/>
          <a:p>
            <a:pPr indent="0" lvl="0" marL="0" rtl="0" algn="ctr">
              <a:lnSpc>
                <a:spcPct val="95000"/>
              </a:lnSpc>
              <a:spcBef>
                <a:spcPts val="0"/>
              </a:spcBef>
              <a:spcAft>
                <a:spcPts val="1200"/>
              </a:spcAft>
              <a:buClr>
                <a:schemeClr val="dk1"/>
              </a:buClr>
              <a:buSzPts val="770"/>
              <a:buFont typeface="Arial"/>
              <a:buNone/>
            </a:pPr>
            <a:r>
              <a:rPr lang="zh-TW" sz="1850">
                <a:solidFill>
                  <a:schemeClr val="dk1"/>
                </a:solidFill>
              </a:rPr>
              <a:t>Members(group7) : 洪翊庭 朱嘉祥 謝佳鴻      授課教授 : 黃育綸 </a:t>
            </a:r>
            <a:endParaRPr sz="1360">
              <a:solidFill>
                <a:schemeClr val="dk1"/>
              </a:solidFill>
            </a:endParaRPr>
          </a:p>
        </p:txBody>
      </p:sp>
      <p:cxnSp>
        <p:nvCxnSpPr>
          <p:cNvPr id="56" name="Google Shape;56;p13"/>
          <p:cNvCxnSpPr/>
          <p:nvPr/>
        </p:nvCxnSpPr>
        <p:spPr>
          <a:xfrm flipH="1" rot="10800000">
            <a:off x="230525" y="2983966"/>
            <a:ext cx="8699400" cy="10800"/>
          </a:xfrm>
          <a:prstGeom prst="straightConnector1">
            <a:avLst/>
          </a:prstGeom>
          <a:noFill/>
          <a:ln cap="flat" cmpd="sng" w="9525">
            <a:solidFill>
              <a:schemeClr val="dk1"/>
            </a:solidFill>
            <a:prstDash val="solid"/>
            <a:round/>
            <a:headEnd len="med" w="med" type="none"/>
            <a:tailEnd len="med" w="med" type="none"/>
          </a:ln>
        </p:spPr>
      </p:cxnSp>
      <p:sp>
        <p:nvSpPr>
          <p:cNvPr id="57" name="Google Shape;57;p13"/>
          <p:cNvSpPr txBox="1"/>
          <p:nvPr/>
        </p:nvSpPr>
        <p:spPr>
          <a:xfrm>
            <a:off x="6164322" y="2555865"/>
            <a:ext cx="3000000" cy="461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sz="1800">
                <a:solidFill>
                  <a:schemeClr val="dk1"/>
                </a:solidFill>
              </a:rPr>
              <a:t>Date: 2025/12/19</a:t>
            </a:r>
            <a:endParaRPr sz="70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442190" y="368906"/>
            <a:ext cx="1441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zh-TW" sz="3020"/>
              <a:t>大綱</a:t>
            </a:r>
            <a:endParaRPr sz="3020"/>
          </a:p>
        </p:txBody>
      </p:sp>
      <p:sp>
        <p:nvSpPr>
          <p:cNvPr id="63" name="Google Shape;63;p14"/>
          <p:cNvSpPr txBox="1"/>
          <p:nvPr>
            <p:ph idx="1" type="body"/>
          </p:nvPr>
        </p:nvSpPr>
        <p:spPr>
          <a:xfrm>
            <a:off x="3345625" y="434796"/>
            <a:ext cx="3028800" cy="2190300"/>
          </a:xfrm>
          <a:prstGeom prst="rect">
            <a:avLst/>
          </a:prstGeom>
        </p:spPr>
        <p:txBody>
          <a:bodyPr anchorCtr="0" anchor="t" bIns="91425" lIns="91425" spcFirstLastPara="1" rIns="91425" wrap="square" tIns="91425">
            <a:normAutofit/>
          </a:bodyPr>
          <a:lstStyle/>
          <a:p>
            <a:pPr indent="-381000" lvl="0" marL="457200" rtl="0" algn="l">
              <a:lnSpc>
                <a:spcPct val="200000"/>
              </a:lnSpc>
              <a:spcBef>
                <a:spcPts val="0"/>
              </a:spcBef>
              <a:spcAft>
                <a:spcPts val="0"/>
              </a:spcAft>
              <a:buSzPts val="2400"/>
              <a:buChar char="●"/>
            </a:pPr>
            <a:r>
              <a:rPr lang="zh-TW" sz="2400"/>
              <a:t>系統說明</a:t>
            </a:r>
            <a:endParaRPr sz="2400"/>
          </a:p>
          <a:p>
            <a:pPr indent="-381000" lvl="0" marL="457200" rtl="0" algn="l">
              <a:lnSpc>
                <a:spcPct val="200000"/>
              </a:lnSpc>
              <a:spcBef>
                <a:spcPts val="0"/>
              </a:spcBef>
              <a:spcAft>
                <a:spcPts val="0"/>
              </a:spcAft>
              <a:buSzPts val="2400"/>
              <a:buChar char="●"/>
            </a:pPr>
            <a:r>
              <a:rPr lang="zh-TW" sz="2400"/>
              <a:t>硬體架構(含I/O)</a:t>
            </a:r>
            <a:endParaRPr sz="2400"/>
          </a:p>
          <a:p>
            <a:pPr indent="-381000" lvl="0" marL="457200" rtl="0" algn="l">
              <a:lnSpc>
                <a:spcPct val="200000"/>
              </a:lnSpc>
              <a:spcBef>
                <a:spcPts val="0"/>
              </a:spcBef>
              <a:spcAft>
                <a:spcPts val="0"/>
              </a:spcAft>
              <a:buSzPts val="2400"/>
              <a:buChar char="●"/>
            </a:pPr>
            <a:r>
              <a:rPr lang="zh-TW" sz="2400"/>
              <a:t>軟體設計</a:t>
            </a:r>
            <a:endParaRPr sz="2400"/>
          </a:p>
        </p:txBody>
      </p:sp>
      <p:sp>
        <p:nvSpPr>
          <p:cNvPr id="64" name="Google Shape;64;p14"/>
          <p:cNvSpPr txBox="1"/>
          <p:nvPr>
            <p:ph idx="1" type="body"/>
          </p:nvPr>
        </p:nvSpPr>
        <p:spPr>
          <a:xfrm>
            <a:off x="3345782" y="2625099"/>
            <a:ext cx="3028800" cy="2037900"/>
          </a:xfrm>
          <a:prstGeom prst="rect">
            <a:avLst/>
          </a:prstGeom>
        </p:spPr>
        <p:txBody>
          <a:bodyPr anchorCtr="0" anchor="t" bIns="91425" lIns="91425" spcFirstLastPara="1" rIns="91425" wrap="square" tIns="91425">
            <a:normAutofit/>
          </a:bodyPr>
          <a:lstStyle/>
          <a:p>
            <a:pPr indent="-381000" lvl="0" marL="457200" rtl="0" algn="l">
              <a:lnSpc>
                <a:spcPct val="200000"/>
              </a:lnSpc>
              <a:spcBef>
                <a:spcPts val="0"/>
              </a:spcBef>
              <a:spcAft>
                <a:spcPts val="0"/>
              </a:spcAft>
              <a:buSzPts val="2400"/>
              <a:buChar char="●"/>
            </a:pPr>
            <a:r>
              <a:rPr lang="zh-TW" sz="2400"/>
              <a:t>結合上課所學</a:t>
            </a:r>
            <a:endParaRPr/>
          </a:p>
          <a:p>
            <a:pPr indent="-381000" lvl="0" marL="457200" rtl="0" algn="l">
              <a:lnSpc>
                <a:spcPct val="200000"/>
              </a:lnSpc>
              <a:spcBef>
                <a:spcPts val="0"/>
              </a:spcBef>
              <a:spcAft>
                <a:spcPts val="0"/>
              </a:spcAft>
              <a:buSzPts val="2400"/>
              <a:buChar char="●"/>
            </a:pPr>
            <a:r>
              <a:rPr lang="zh-TW" sz="2400"/>
              <a:t>可能遇到的困難</a:t>
            </a:r>
            <a:endParaRPr sz="2400"/>
          </a:p>
          <a:p>
            <a:pPr indent="-381000" lvl="0" marL="457200" rtl="0" algn="l">
              <a:lnSpc>
                <a:spcPct val="200000"/>
              </a:lnSpc>
              <a:spcBef>
                <a:spcPts val="0"/>
              </a:spcBef>
              <a:spcAft>
                <a:spcPts val="0"/>
              </a:spcAft>
              <a:buSzPts val="2400"/>
              <a:buChar char="●"/>
            </a:pPr>
            <a:r>
              <a:rPr lang="zh-TW" sz="2400"/>
              <a:t>團隊分工</a:t>
            </a:r>
            <a:endParaRPr sz="2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ph type="title"/>
          </p:nvPr>
        </p:nvSpPr>
        <p:spPr>
          <a:xfrm>
            <a:off x="105084" y="-44844"/>
            <a:ext cx="1930500" cy="373800"/>
          </a:xfrm>
          <a:prstGeom prst="rect">
            <a:avLst/>
          </a:prstGeom>
        </p:spPr>
        <p:txBody>
          <a:bodyPr anchorCtr="0" anchor="t" bIns="91425" lIns="91425" spcFirstLastPara="1" rIns="91425" wrap="square" tIns="91425">
            <a:noAutofit/>
          </a:bodyPr>
          <a:lstStyle/>
          <a:p>
            <a:pPr indent="0" lvl="0" marL="0" rtl="0" algn="l">
              <a:lnSpc>
                <a:spcPct val="200000"/>
              </a:lnSpc>
              <a:spcBef>
                <a:spcPts val="0"/>
              </a:spcBef>
              <a:spcAft>
                <a:spcPts val="1200"/>
              </a:spcAft>
              <a:buNone/>
            </a:pPr>
            <a:r>
              <a:rPr lang="zh-TW">
                <a:solidFill>
                  <a:schemeClr val="dk2"/>
                </a:solidFill>
              </a:rPr>
              <a:t>系統說明</a:t>
            </a:r>
            <a:endParaRPr sz="2600"/>
          </a:p>
        </p:txBody>
      </p:sp>
      <p:sp>
        <p:nvSpPr>
          <p:cNvPr id="70" name="Google Shape;70;p15"/>
          <p:cNvSpPr txBox="1"/>
          <p:nvPr>
            <p:ph idx="1" type="body"/>
          </p:nvPr>
        </p:nvSpPr>
        <p:spPr>
          <a:xfrm>
            <a:off x="311700" y="1123327"/>
            <a:ext cx="8520600" cy="3747300"/>
          </a:xfrm>
          <a:prstGeom prst="rect">
            <a:avLst/>
          </a:prstGeom>
        </p:spPr>
        <p:txBody>
          <a:bodyPr anchorCtr="0" anchor="t" bIns="91425" lIns="91425" spcFirstLastPara="1" rIns="91425" wrap="square" tIns="91425">
            <a:normAutofit lnSpcReduction="10000"/>
          </a:bodyPr>
          <a:lstStyle/>
          <a:p>
            <a:pPr indent="0" lvl="0" marL="0" rtl="0" algn="l">
              <a:lnSpc>
                <a:spcPct val="95000"/>
              </a:lnSpc>
              <a:spcBef>
                <a:spcPts val="0"/>
              </a:spcBef>
              <a:spcAft>
                <a:spcPts val="0"/>
              </a:spcAft>
              <a:buSzPts val="275"/>
              <a:buNone/>
            </a:pPr>
            <a:r>
              <a:rPr b="1" lang="zh-TW" sz="1400">
                <a:solidFill>
                  <a:schemeClr val="dk1"/>
                </a:solidFill>
              </a:rPr>
              <a:t>讀書室預約與使用管理系統</a:t>
            </a:r>
            <a:r>
              <a:rPr lang="zh-TW" sz="1400">
                <a:solidFill>
                  <a:schemeClr val="dk1"/>
                </a:solidFill>
              </a:rPr>
              <a:t>：提供讀書室資訊、預約、報到、釋放</a:t>
            </a:r>
            <a:r>
              <a:rPr lang="zh-TW" sz="1400">
                <a:solidFill>
                  <a:schemeClr val="dk1"/>
                </a:solidFill>
              </a:rPr>
              <a:t>、延長、到時提醒</a:t>
            </a:r>
            <a:r>
              <a:rPr lang="zh-TW" sz="1400">
                <a:solidFill>
                  <a:schemeClr val="dk1"/>
                </a:solidFill>
              </a:rPr>
              <a:t>。</a:t>
            </a:r>
            <a:endParaRPr sz="1400">
              <a:solidFill>
                <a:schemeClr val="dk1"/>
              </a:solidFill>
            </a:endParaRPr>
          </a:p>
          <a:p>
            <a:pPr indent="0" lvl="0" marL="0" rtl="0" algn="l">
              <a:lnSpc>
                <a:spcPct val="95000"/>
              </a:lnSpc>
              <a:spcBef>
                <a:spcPts val="1200"/>
              </a:spcBef>
              <a:spcAft>
                <a:spcPts val="0"/>
              </a:spcAft>
              <a:buSzPts val="275"/>
              <a:buNone/>
            </a:pPr>
            <a:r>
              <a:rPr lang="zh-TW" sz="1400">
                <a:solidFill>
                  <a:schemeClr val="dk1"/>
                </a:solidFill>
              </a:rPr>
              <a:t>三色LED顯示</a:t>
            </a:r>
            <a:r>
              <a:rPr lang="zh-TW" sz="1400">
                <a:solidFill>
                  <a:schemeClr val="dk1"/>
                </a:solidFill>
              </a:rPr>
              <a:t>讀書室使用</a:t>
            </a:r>
            <a:r>
              <a:rPr lang="zh-TW" sz="1400">
                <a:solidFill>
                  <a:schemeClr val="dk1"/>
                </a:solidFill>
              </a:rPr>
              <a:t>狀態  (🟢=空閒, 🟡= 已預約 , 🔴=使用中）</a:t>
            </a:r>
            <a:endParaRPr sz="1400">
              <a:solidFill>
                <a:schemeClr val="dk1"/>
              </a:solidFill>
            </a:endParaRPr>
          </a:p>
          <a:p>
            <a:pPr indent="0" lvl="0" marL="0" rtl="0" algn="l">
              <a:lnSpc>
                <a:spcPct val="95000"/>
              </a:lnSpc>
              <a:spcBef>
                <a:spcPts val="1200"/>
              </a:spcBef>
              <a:spcAft>
                <a:spcPts val="0"/>
              </a:spcAft>
              <a:buSzPts val="275"/>
              <a:buNone/>
            </a:pPr>
            <a:r>
              <a:rPr lang="zh-TW" sz="1400">
                <a:solidFill>
                  <a:schemeClr val="dk1"/>
                </a:solidFill>
              </a:rPr>
              <a:t>七段顯示器：顯示目前選取的房間號</a:t>
            </a:r>
            <a:endParaRPr sz="1400">
              <a:solidFill>
                <a:schemeClr val="dk1"/>
              </a:solidFill>
            </a:endParaRPr>
          </a:p>
          <a:p>
            <a:pPr indent="0" lvl="0" marL="0" rtl="0" algn="l">
              <a:lnSpc>
                <a:spcPct val="95000"/>
              </a:lnSpc>
              <a:spcBef>
                <a:spcPts val="1200"/>
              </a:spcBef>
              <a:spcAft>
                <a:spcPts val="0"/>
              </a:spcAft>
              <a:buClr>
                <a:schemeClr val="dk1"/>
              </a:buClr>
              <a:buSzPts val="275"/>
              <a:buFont typeface="Arial"/>
              <a:buNone/>
            </a:pPr>
            <a:r>
              <a:rPr b="1" lang="zh-TW" sz="1427">
                <a:solidFill>
                  <a:schemeClr val="dk1"/>
                </a:solidFill>
              </a:rPr>
              <a:t>提供給客人的功能：</a:t>
            </a:r>
            <a:endParaRPr b="1" sz="1427">
              <a:solidFill>
                <a:schemeClr val="dk1"/>
              </a:solidFill>
            </a:endParaRPr>
          </a:p>
          <a:p>
            <a:pPr indent="-319257" lvl="0" marL="457200" rtl="0" algn="l">
              <a:lnSpc>
                <a:spcPct val="95000"/>
              </a:lnSpc>
              <a:spcBef>
                <a:spcPts val="1200"/>
              </a:spcBef>
              <a:spcAft>
                <a:spcPts val="0"/>
              </a:spcAft>
              <a:buClr>
                <a:schemeClr val="dk1"/>
              </a:buClr>
              <a:buSzPts val="1428"/>
              <a:buChar char="●"/>
            </a:pPr>
            <a:r>
              <a:rPr lang="zh-TW" sz="1400">
                <a:solidFill>
                  <a:srgbClr val="FF0000"/>
                </a:solidFill>
              </a:rPr>
              <a:t>查看讀書室資訊：看板或網頁即時顯示?。</a:t>
            </a:r>
            <a:br>
              <a:rPr lang="zh-TW" sz="1427">
                <a:solidFill>
                  <a:schemeClr val="dk1"/>
                </a:solidFill>
              </a:rPr>
            </a:br>
            <a:endParaRPr sz="1427">
              <a:solidFill>
                <a:schemeClr val="dk1"/>
              </a:solidFill>
            </a:endParaRPr>
          </a:p>
          <a:p>
            <a:pPr indent="-319257" lvl="0" marL="457200" rtl="0" algn="l">
              <a:lnSpc>
                <a:spcPct val="95000"/>
              </a:lnSpc>
              <a:spcBef>
                <a:spcPts val="0"/>
              </a:spcBef>
              <a:spcAft>
                <a:spcPts val="0"/>
              </a:spcAft>
              <a:buClr>
                <a:schemeClr val="dk1"/>
              </a:buClr>
              <a:buSzPts val="1428"/>
              <a:buChar char="●"/>
            </a:pPr>
            <a:r>
              <a:rPr lang="zh-TW" sz="1427">
                <a:solidFill>
                  <a:schemeClr val="dk1"/>
                </a:solidFill>
              </a:rPr>
              <a:t>立即預約：選擇讀書室與時段送出。</a:t>
            </a:r>
            <a:br>
              <a:rPr lang="zh-TW" sz="1427">
                <a:solidFill>
                  <a:schemeClr val="dk1"/>
                </a:solidFill>
              </a:rPr>
            </a:br>
            <a:endParaRPr sz="1427">
              <a:solidFill>
                <a:schemeClr val="dk1"/>
              </a:solidFill>
            </a:endParaRPr>
          </a:p>
          <a:p>
            <a:pPr indent="-319257" lvl="0" marL="457200" rtl="0" algn="l">
              <a:lnSpc>
                <a:spcPct val="95000"/>
              </a:lnSpc>
              <a:spcBef>
                <a:spcPts val="0"/>
              </a:spcBef>
              <a:spcAft>
                <a:spcPts val="0"/>
              </a:spcAft>
              <a:buClr>
                <a:schemeClr val="dk1"/>
              </a:buClr>
              <a:buSzPts val="1428"/>
              <a:buChar char="●"/>
            </a:pPr>
            <a:r>
              <a:rPr lang="zh-TW" sz="1427">
                <a:solidFill>
                  <a:schemeClr val="dk1"/>
                </a:solidFill>
              </a:rPr>
              <a:t>報到/開始使用：現場按Check-in (</a:t>
            </a:r>
            <a:r>
              <a:rPr lang="zh-TW" sz="1427">
                <a:solidFill>
                  <a:schemeClr val="dk1"/>
                </a:solidFill>
              </a:rPr>
              <a:t>按鈕) 與</a:t>
            </a:r>
            <a:r>
              <a:rPr lang="zh-TW" sz="1427">
                <a:solidFill>
                  <a:schemeClr val="dk1"/>
                </a:solidFill>
              </a:rPr>
              <a:t>刷卡 (</a:t>
            </a:r>
            <a:r>
              <a:rPr lang="zh-TW" sz="1427">
                <a:solidFill>
                  <a:schemeClr val="dk1"/>
                </a:solidFill>
              </a:rPr>
              <a:t>RFID) </a:t>
            </a:r>
            <a:r>
              <a:rPr lang="zh-TW" sz="1427">
                <a:solidFill>
                  <a:schemeClr val="dk1"/>
                </a:solidFill>
              </a:rPr>
              <a:t>後開始計時。</a:t>
            </a:r>
            <a:br>
              <a:rPr lang="zh-TW" sz="1427">
                <a:solidFill>
                  <a:schemeClr val="dk1"/>
                </a:solidFill>
              </a:rPr>
            </a:br>
            <a:endParaRPr sz="1427">
              <a:solidFill>
                <a:schemeClr val="dk1"/>
              </a:solidFill>
            </a:endParaRPr>
          </a:p>
          <a:p>
            <a:pPr indent="-319257" lvl="0" marL="457200" rtl="0" algn="l">
              <a:lnSpc>
                <a:spcPct val="95000"/>
              </a:lnSpc>
              <a:spcBef>
                <a:spcPts val="0"/>
              </a:spcBef>
              <a:spcAft>
                <a:spcPts val="0"/>
              </a:spcAft>
              <a:buClr>
                <a:schemeClr val="dk1"/>
              </a:buClr>
              <a:buSzPts val="1428"/>
              <a:buChar char="●"/>
            </a:pPr>
            <a:r>
              <a:rPr lang="zh-TW" sz="1427">
                <a:solidFill>
                  <a:schemeClr val="dk1"/>
                </a:solidFill>
              </a:rPr>
              <a:t>提前釋放/取消：按「Release」或於頁面取消並釋出剩餘時段。</a:t>
            </a:r>
            <a:br>
              <a:rPr lang="zh-TW" sz="1427">
                <a:solidFill>
                  <a:schemeClr val="dk1"/>
                </a:solidFill>
              </a:rPr>
            </a:br>
            <a:endParaRPr sz="1427">
              <a:solidFill>
                <a:schemeClr val="dk1"/>
              </a:solidFill>
            </a:endParaRPr>
          </a:p>
          <a:p>
            <a:pPr indent="-319257" lvl="0" marL="457200" rtl="0" algn="l">
              <a:lnSpc>
                <a:spcPct val="95000"/>
              </a:lnSpc>
              <a:spcBef>
                <a:spcPts val="0"/>
              </a:spcBef>
              <a:spcAft>
                <a:spcPts val="0"/>
              </a:spcAft>
              <a:buClr>
                <a:schemeClr val="dk1"/>
              </a:buClr>
              <a:buSzPts val="1428"/>
              <a:buChar char="●"/>
            </a:pPr>
            <a:r>
              <a:rPr lang="zh-TW" sz="1427">
                <a:solidFill>
                  <a:schemeClr val="dk1"/>
                </a:solidFill>
              </a:rPr>
              <a:t>延長申請：無人候補時可延長一次（時長可設定）。</a:t>
            </a:r>
            <a:br>
              <a:rPr lang="zh-TW" sz="1427">
                <a:solidFill>
                  <a:schemeClr val="dk1"/>
                </a:solidFill>
              </a:rPr>
            </a:br>
            <a:endParaRPr sz="1427">
              <a:solidFill>
                <a:schemeClr val="dk1"/>
              </a:solidFill>
            </a:endParaRPr>
          </a:p>
          <a:p>
            <a:pPr indent="-319257" lvl="0" marL="457200" rtl="0" algn="l">
              <a:lnSpc>
                <a:spcPct val="95000"/>
              </a:lnSpc>
              <a:spcBef>
                <a:spcPts val="0"/>
              </a:spcBef>
              <a:spcAft>
                <a:spcPts val="0"/>
              </a:spcAft>
              <a:buClr>
                <a:schemeClr val="dk1"/>
              </a:buClr>
              <a:buSzPts val="1428"/>
              <a:buChar char="●"/>
            </a:pPr>
            <a:r>
              <a:rPr lang="zh-TW" sz="1427">
                <a:solidFill>
                  <a:schemeClr val="dk1"/>
                </a:solidFill>
              </a:rPr>
              <a:t>到時提醒：即將到時 </a:t>
            </a:r>
            <a:r>
              <a:rPr lang="zh-TW" sz="1427">
                <a:solidFill>
                  <a:schemeClr val="dk1"/>
                </a:solidFill>
              </a:rPr>
              <a:t>(剩餘5秒) </a:t>
            </a:r>
            <a:r>
              <a:rPr lang="zh-TW" sz="1427">
                <a:solidFill>
                  <a:schemeClr val="dk1"/>
                </a:solidFill>
              </a:rPr>
              <a:t>與逾時通知</a:t>
            </a:r>
            <a:endParaRPr sz="2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105084" y="-59796"/>
            <a:ext cx="1930500" cy="373800"/>
          </a:xfrm>
          <a:prstGeom prst="rect">
            <a:avLst/>
          </a:prstGeom>
        </p:spPr>
        <p:txBody>
          <a:bodyPr anchorCtr="0" anchor="t" bIns="91425" lIns="91425" spcFirstLastPara="1" rIns="91425" wrap="square" tIns="91425">
            <a:noAutofit/>
          </a:bodyPr>
          <a:lstStyle/>
          <a:p>
            <a:pPr indent="0" lvl="0" marL="0" rtl="0" algn="l">
              <a:lnSpc>
                <a:spcPct val="200000"/>
              </a:lnSpc>
              <a:spcBef>
                <a:spcPts val="0"/>
              </a:spcBef>
              <a:spcAft>
                <a:spcPts val="1200"/>
              </a:spcAft>
              <a:buNone/>
            </a:pPr>
            <a:r>
              <a:rPr lang="zh-TW" sz="2900">
                <a:solidFill>
                  <a:schemeClr val="dk2"/>
                </a:solidFill>
              </a:rPr>
              <a:t>系統說明</a:t>
            </a:r>
            <a:endParaRPr sz="2700"/>
          </a:p>
        </p:txBody>
      </p:sp>
      <p:sp>
        <p:nvSpPr>
          <p:cNvPr id="76" name="Google Shape;76;p16"/>
          <p:cNvSpPr txBox="1"/>
          <p:nvPr>
            <p:ph idx="1" type="body"/>
          </p:nvPr>
        </p:nvSpPr>
        <p:spPr>
          <a:xfrm>
            <a:off x="402950" y="920924"/>
            <a:ext cx="8520600" cy="3609600"/>
          </a:xfrm>
          <a:prstGeom prst="rect">
            <a:avLst/>
          </a:prstGeom>
        </p:spPr>
        <p:txBody>
          <a:bodyPr anchorCtr="0" anchor="t" bIns="91425" lIns="91425" spcFirstLastPara="1" rIns="91425" wrap="square" tIns="91425">
            <a:normAutofit fontScale="92500" lnSpcReduction="20000"/>
          </a:bodyPr>
          <a:lstStyle/>
          <a:p>
            <a:pPr indent="0" lvl="0" marL="0" rtl="0" algn="l">
              <a:spcBef>
                <a:spcPts val="1200"/>
              </a:spcBef>
              <a:spcAft>
                <a:spcPts val="0"/>
              </a:spcAft>
              <a:buClr>
                <a:schemeClr val="dk1"/>
              </a:buClr>
              <a:buSzPct val="68750"/>
              <a:buFont typeface="Arial"/>
              <a:buNone/>
            </a:pPr>
            <a:r>
              <a:rPr b="1" lang="zh-TW" sz="1600">
                <a:solidFill>
                  <a:schemeClr val="dk1"/>
                </a:solidFill>
              </a:rPr>
              <a:t>預約規則</a:t>
            </a:r>
            <a:endParaRPr b="1" sz="1600">
              <a:solidFill>
                <a:schemeClr val="dk1"/>
              </a:solidFill>
            </a:endParaRPr>
          </a:p>
          <a:p>
            <a:pPr indent="-322580" lvl="0" marL="457200" rtl="0" algn="l">
              <a:spcBef>
                <a:spcPts val="1200"/>
              </a:spcBef>
              <a:spcAft>
                <a:spcPts val="0"/>
              </a:spcAft>
              <a:buClr>
                <a:schemeClr val="dk1"/>
              </a:buClr>
              <a:buSzPct val="100000"/>
              <a:buChar char="●"/>
            </a:pPr>
            <a:r>
              <a:rPr lang="zh-TW" sz="1600">
                <a:solidFill>
                  <a:schemeClr val="dk1"/>
                </a:solidFill>
              </a:rPr>
              <a:t>時段單位：30分鐘 （可調整）。</a:t>
            </a:r>
            <a:br>
              <a:rPr lang="zh-TW" sz="1600">
                <a:solidFill>
                  <a:schemeClr val="dk1"/>
                </a:solidFill>
              </a:rPr>
            </a:br>
            <a:endParaRPr sz="1600">
              <a:solidFill>
                <a:schemeClr val="dk1"/>
              </a:solidFill>
            </a:endParaRPr>
          </a:p>
          <a:p>
            <a:pPr indent="-322580" lvl="0" marL="457200" rtl="0" algn="l">
              <a:spcBef>
                <a:spcPts val="0"/>
              </a:spcBef>
              <a:spcAft>
                <a:spcPts val="0"/>
              </a:spcAft>
              <a:buClr>
                <a:schemeClr val="dk1"/>
              </a:buClr>
              <a:buSzPct val="100000"/>
              <a:buChar char="●"/>
            </a:pPr>
            <a:r>
              <a:rPr lang="zh-TW" sz="1600">
                <a:solidFill>
                  <a:schemeClr val="dk1"/>
                </a:solidFill>
              </a:rPr>
              <a:t>取用時限：預約後5分鐘內需報到；逾時自動取消並釋出。</a:t>
            </a:r>
            <a:br>
              <a:rPr lang="zh-TW" sz="1600">
                <a:solidFill>
                  <a:schemeClr val="dk1"/>
                </a:solidFill>
              </a:rPr>
            </a:br>
            <a:endParaRPr sz="1600">
              <a:solidFill>
                <a:schemeClr val="dk1"/>
              </a:solidFill>
            </a:endParaRPr>
          </a:p>
          <a:p>
            <a:pPr indent="-322580" lvl="0" marL="457200" rtl="0" algn="l">
              <a:spcBef>
                <a:spcPts val="0"/>
              </a:spcBef>
              <a:spcAft>
                <a:spcPts val="0"/>
              </a:spcAft>
              <a:buClr>
                <a:schemeClr val="dk1"/>
              </a:buClr>
              <a:buSzPct val="100000"/>
              <a:buChar char="●"/>
            </a:pPr>
            <a:r>
              <a:rPr lang="zh-TW" sz="1600">
                <a:solidFill>
                  <a:schemeClr val="dk1"/>
                </a:solidFill>
              </a:rPr>
              <a:t>使用上限：單日最多2次；不得同時持有多筆預約。</a:t>
            </a:r>
            <a:br>
              <a:rPr lang="zh-TW" sz="1600">
                <a:solidFill>
                  <a:schemeClr val="dk1"/>
                </a:solidFill>
              </a:rPr>
            </a:br>
            <a:endParaRPr sz="1600">
              <a:solidFill>
                <a:schemeClr val="dk1"/>
              </a:solidFill>
            </a:endParaRPr>
          </a:p>
          <a:p>
            <a:pPr indent="-322580" lvl="0" marL="457200" rtl="0" algn="l">
              <a:spcBef>
                <a:spcPts val="0"/>
              </a:spcBef>
              <a:spcAft>
                <a:spcPts val="0"/>
              </a:spcAft>
              <a:buClr>
                <a:schemeClr val="dk1"/>
              </a:buClr>
              <a:buSzPct val="100000"/>
              <a:buChar char="●"/>
            </a:pPr>
            <a:r>
              <a:rPr lang="zh-TW" sz="1600">
                <a:solidFill>
                  <a:schemeClr val="dk1"/>
                </a:solidFill>
              </a:rPr>
              <a:t>延長規則：無人候補可延長1次。</a:t>
            </a:r>
            <a:br>
              <a:rPr lang="zh-TW" sz="1600">
                <a:solidFill>
                  <a:schemeClr val="dk1"/>
                </a:solidFill>
              </a:rPr>
            </a:br>
            <a:endParaRPr sz="1600">
              <a:solidFill>
                <a:schemeClr val="dk1"/>
              </a:solidFill>
            </a:endParaRPr>
          </a:p>
          <a:p>
            <a:pPr indent="-322580" lvl="0" marL="457200" rtl="0" algn="l">
              <a:spcBef>
                <a:spcPts val="0"/>
              </a:spcBef>
              <a:spcAft>
                <a:spcPts val="0"/>
              </a:spcAft>
              <a:buClr>
                <a:schemeClr val="dk1"/>
              </a:buClr>
              <a:buSzPct val="100000"/>
              <a:buChar char="●"/>
            </a:pPr>
            <a:r>
              <a:rPr lang="zh-TW" sz="1600">
                <a:solidFill>
                  <a:schemeClr val="dk1"/>
                </a:solidFill>
              </a:rPr>
              <a:t>釋放規則：提前釋放立即開放；逾時未釋放由系統自動釋放。</a:t>
            </a:r>
            <a:br>
              <a:rPr lang="zh-TW" sz="1600">
                <a:solidFill>
                  <a:schemeClr val="dk1"/>
                </a:solidFill>
              </a:rPr>
            </a:br>
            <a:endParaRPr sz="1600">
              <a:solidFill>
                <a:schemeClr val="dk1"/>
              </a:solidFill>
            </a:endParaRPr>
          </a:p>
          <a:p>
            <a:pPr indent="-322580" lvl="0" marL="457200" rtl="0" algn="l">
              <a:spcBef>
                <a:spcPts val="0"/>
              </a:spcBef>
              <a:spcAft>
                <a:spcPts val="0"/>
              </a:spcAft>
              <a:buClr>
                <a:schemeClr val="dk1"/>
              </a:buClr>
              <a:buSzPct val="100000"/>
              <a:buChar char="●"/>
            </a:pPr>
            <a:r>
              <a:rPr lang="zh-TW" sz="1600">
                <a:solidFill>
                  <a:schemeClr val="dk1"/>
                </a:solidFill>
              </a:rPr>
              <a:t>候補機制 : 所有讀書室有人使用時，一旦有讀書室釋出將依序通知分配給隊列中最早等待者之後讀書室開放後使用順序採(FIFO)</a:t>
            </a:r>
            <a:endParaRPr sz="1600">
              <a:solidFill>
                <a:schemeClr val="dk1"/>
              </a:solidFill>
            </a:endParaRPr>
          </a:p>
          <a:p>
            <a:pPr indent="0" lvl="0" marL="0" rtl="0" algn="l">
              <a:spcBef>
                <a:spcPts val="1200"/>
              </a:spcBef>
              <a:spcAft>
                <a:spcPts val="1200"/>
              </a:spcAft>
              <a:buNone/>
            </a:pPr>
            <a:r>
              <a:t/>
            </a:r>
            <a:endParaRPr sz="16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0" name="Shape 80"/>
        <p:cNvGrpSpPr/>
        <p:nvPr/>
      </p:nvGrpSpPr>
      <p:grpSpPr>
        <a:xfrm>
          <a:off x="0" y="0"/>
          <a:ext cx="0" cy="0"/>
          <a:chOff x="0" y="0"/>
          <a:chExt cx="0" cy="0"/>
        </a:xfrm>
      </p:grpSpPr>
      <p:sp>
        <p:nvSpPr>
          <p:cNvPr id="81" name="Google Shape;81;p17"/>
          <p:cNvSpPr txBox="1"/>
          <p:nvPr>
            <p:ph type="title"/>
          </p:nvPr>
        </p:nvSpPr>
        <p:spPr>
          <a:xfrm>
            <a:off x="35087" y="63748"/>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訂房機制</a:t>
            </a:r>
            <a:endParaRPr/>
          </a:p>
        </p:txBody>
      </p:sp>
      <p:pic>
        <p:nvPicPr>
          <p:cNvPr id="82" name="Google Shape;82;p17"/>
          <p:cNvPicPr preferRelativeResize="0"/>
          <p:nvPr/>
        </p:nvPicPr>
        <p:blipFill>
          <a:blip r:embed="rId3">
            <a:alphaModFix/>
          </a:blip>
          <a:stretch>
            <a:fillRect/>
          </a:stretch>
        </p:blipFill>
        <p:spPr>
          <a:xfrm>
            <a:off x="152400" y="818750"/>
            <a:ext cx="7876851" cy="4078050"/>
          </a:xfrm>
          <a:prstGeom prst="rect">
            <a:avLst/>
          </a:prstGeom>
          <a:noFill/>
          <a:ln>
            <a:noFill/>
          </a:ln>
        </p:spPr>
      </p:pic>
      <p:sp>
        <p:nvSpPr>
          <p:cNvPr id="83" name="Google Shape;83;p17"/>
          <p:cNvSpPr txBox="1"/>
          <p:nvPr/>
        </p:nvSpPr>
        <p:spPr>
          <a:xfrm>
            <a:off x="6631196" y="785970"/>
            <a:ext cx="2474700" cy="120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a:solidFill>
                  <a:schemeClr val="dk2"/>
                </a:solidFill>
              </a:rPr>
              <a:t>day_count</a:t>
            </a:r>
            <a:r>
              <a:rPr lang="zh-TW">
                <a:solidFill>
                  <a:schemeClr val="dk2"/>
                </a:solidFill>
              </a:rPr>
              <a:t>:</a:t>
            </a:r>
            <a:r>
              <a:rPr lang="zh-TW">
                <a:solidFill>
                  <a:schemeClr val="dk2"/>
                </a:solidFill>
              </a:rPr>
              <a:t>當天訂房次數</a:t>
            </a:r>
            <a:endParaRPr>
              <a:solidFill>
                <a:schemeClr val="dk2"/>
              </a:solidFill>
            </a:endParaRPr>
          </a:p>
          <a:p>
            <a:pPr indent="0" lvl="0" marL="0" rtl="0" algn="l">
              <a:spcBef>
                <a:spcPts val="0"/>
              </a:spcBef>
              <a:spcAft>
                <a:spcPts val="0"/>
              </a:spcAft>
              <a:buNone/>
            </a:pPr>
            <a:r>
              <a:rPr lang="zh-TW">
                <a:solidFill>
                  <a:schemeClr val="dk2"/>
                </a:solidFill>
              </a:rPr>
              <a:t>room_count</a:t>
            </a:r>
            <a:r>
              <a:rPr lang="zh-TW">
                <a:solidFill>
                  <a:schemeClr val="dk2"/>
                </a:solidFill>
              </a:rPr>
              <a:t>:</a:t>
            </a:r>
            <a:r>
              <a:rPr lang="zh-TW">
                <a:solidFill>
                  <a:schemeClr val="dk2"/>
                </a:solidFill>
              </a:rPr>
              <a:t>目前使用房間數</a:t>
            </a:r>
            <a:endParaRPr>
              <a:solidFill>
                <a:schemeClr val="dk2"/>
              </a:solidFill>
            </a:endParaRPr>
          </a:p>
          <a:p>
            <a:pPr indent="0" lvl="0" marL="0" rtl="0" algn="l">
              <a:spcBef>
                <a:spcPts val="0"/>
              </a:spcBef>
              <a:spcAft>
                <a:spcPts val="0"/>
              </a:spcAft>
              <a:buNone/>
            </a:pPr>
            <a:r>
              <a:rPr lang="zh-TW">
                <a:solidFill>
                  <a:schemeClr val="dk2"/>
                </a:solidFill>
              </a:rPr>
              <a:t>checkin_time:checkin的時間</a:t>
            </a:r>
            <a:endParaRPr>
              <a:solidFill>
                <a:schemeClr val="dk2"/>
              </a:solidFill>
            </a:endParaRPr>
          </a:p>
          <a:p>
            <a:pPr indent="0" lvl="0" marL="0" rtl="0" algn="l">
              <a:spcBef>
                <a:spcPts val="0"/>
              </a:spcBef>
              <a:spcAft>
                <a:spcPts val="0"/>
              </a:spcAft>
              <a:buNone/>
            </a:pPr>
            <a:r>
              <a:rPr lang="zh-TW">
                <a:solidFill>
                  <a:schemeClr val="dk2"/>
                </a:solidFill>
              </a:rPr>
              <a:t>use_time:剩餘使用時間</a:t>
            </a:r>
            <a:endParaRPr>
              <a:solidFill>
                <a:schemeClr val="dk2"/>
              </a:solidFill>
            </a:endParaRPr>
          </a:p>
          <a:p>
            <a:pPr indent="0" lvl="0" marL="0" rtl="0" algn="l">
              <a:spcBef>
                <a:spcPts val="0"/>
              </a:spcBef>
              <a:spcAft>
                <a:spcPts val="0"/>
              </a:spcAft>
              <a:buNone/>
            </a:pPr>
            <a:r>
              <a:rPr lang="zh-TW">
                <a:solidFill>
                  <a:schemeClr val="dk2"/>
                </a:solidFill>
              </a:rPr>
              <a:t>R</a:t>
            </a:r>
            <a:r>
              <a:rPr lang="zh-TW">
                <a:solidFill>
                  <a:schemeClr val="dk2"/>
                </a:solidFill>
              </a:rPr>
              <a:t>oom_empty:空房數量</a:t>
            </a:r>
            <a:endParaRPr>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5087" y="63748"/>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訂房機制</a:t>
            </a:r>
            <a:endParaRPr/>
          </a:p>
        </p:txBody>
      </p:sp>
      <p:sp>
        <p:nvSpPr>
          <p:cNvPr id="89" name="Google Shape;89;p18"/>
          <p:cNvSpPr txBox="1"/>
          <p:nvPr/>
        </p:nvSpPr>
        <p:spPr>
          <a:xfrm>
            <a:off x="1836450" y="674000"/>
            <a:ext cx="1649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800">
                <a:solidFill>
                  <a:schemeClr val="dk2"/>
                </a:solidFill>
              </a:rPr>
              <a:t>Reserve</a:t>
            </a:r>
            <a:endParaRPr sz="1800">
              <a:solidFill>
                <a:schemeClr val="dk2"/>
              </a:solidFill>
            </a:endParaRPr>
          </a:p>
        </p:txBody>
      </p:sp>
      <p:sp>
        <p:nvSpPr>
          <p:cNvPr id="90" name="Google Shape;90;p18"/>
          <p:cNvSpPr txBox="1"/>
          <p:nvPr/>
        </p:nvSpPr>
        <p:spPr>
          <a:xfrm>
            <a:off x="5685725" y="454175"/>
            <a:ext cx="1649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800">
                <a:solidFill>
                  <a:schemeClr val="dk2"/>
                </a:solidFill>
              </a:rPr>
              <a:t>Timer</a:t>
            </a:r>
            <a:endParaRPr sz="1800">
              <a:solidFill>
                <a:schemeClr val="dk2"/>
              </a:solidFill>
            </a:endParaRPr>
          </a:p>
        </p:txBody>
      </p:sp>
      <p:pic>
        <p:nvPicPr>
          <p:cNvPr id="91" name="Google Shape;91;p18"/>
          <p:cNvPicPr preferRelativeResize="0"/>
          <p:nvPr/>
        </p:nvPicPr>
        <p:blipFill>
          <a:blip r:embed="rId3">
            <a:alphaModFix/>
          </a:blip>
          <a:stretch>
            <a:fillRect/>
          </a:stretch>
        </p:blipFill>
        <p:spPr>
          <a:xfrm>
            <a:off x="152400" y="1473750"/>
            <a:ext cx="4092724" cy="2855647"/>
          </a:xfrm>
          <a:prstGeom prst="rect">
            <a:avLst/>
          </a:prstGeom>
          <a:noFill/>
          <a:ln>
            <a:noFill/>
          </a:ln>
        </p:spPr>
      </p:pic>
      <p:pic>
        <p:nvPicPr>
          <p:cNvPr id="92" name="Google Shape;92;p18"/>
          <p:cNvPicPr preferRelativeResize="0"/>
          <p:nvPr/>
        </p:nvPicPr>
        <p:blipFill>
          <a:blip r:embed="rId4">
            <a:alphaModFix/>
          </a:blip>
          <a:stretch>
            <a:fillRect/>
          </a:stretch>
        </p:blipFill>
        <p:spPr>
          <a:xfrm>
            <a:off x="4397524" y="1068275"/>
            <a:ext cx="4379479" cy="392282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9"/>
          <p:cNvSpPr txBox="1"/>
          <p:nvPr>
            <p:ph type="title"/>
          </p:nvPr>
        </p:nvSpPr>
        <p:spPr>
          <a:xfrm>
            <a:off x="52775" y="56627"/>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zh-TW">
                <a:solidFill>
                  <a:srgbClr val="002F4A"/>
                </a:solidFill>
              </a:rPr>
              <a:t>硬體架構 (含I/O)</a:t>
            </a:r>
            <a:endParaRPr/>
          </a:p>
        </p:txBody>
      </p:sp>
      <p:pic>
        <p:nvPicPr>
          <p:cNvPr id="98" name="Google Shape;98;p19"/>
          <p:cNvPicPr preferRelativeResize="0"/>
          <p:nvPr/>
        </p:nvPicPr>
        <p:blipFill>
          <a:blip r:embed="rId3">
            <a:alphaModFix/>
          </a:blip>
          <a:stretch>
            <a:fillRect/>
          </a:stretch>
        </p:blipFill>
        <p:spPr>
          <a:xfrm>
            <a:off x="3740050" y="2644758"/>
            <a:ext cx="1506737" cy="1121400"/>
          </a:xfrm>
          <a:prstGeom prst="rect">
            <a:avLst/>
          </a:prstGeom>
          <a:noFill/>
          <a:ln>
            <a:noFill/>
          </a:ln>
        </p:spPr>
      </p:pic>
      <p:pic>
        <p:nvPicPr>
          <p:cNvPr id="99" name="Google Shape;99;p19"/>
          <p:cNvPicPr preferRelativeResize="0"/>
          <p:nvPr/>
        </p:nvPicPr>
        <p:blipFill>
          <a:blip r:embed="rId4">
            <a:alphaModFix/>
          </a:blip>
          <a:stretch>
            <a:fillRect/>
          </a:stretch>
        </p:blipFill>
        <p:spPr>
          <a:xfrm>
            <a:off x="5399728" y="2490335"/>
            <a:ext cx="3135800" cy="1328025"/>
          </a:xfrm>
          <a:prstGeom prst="rect">
            <a:avLst/>
          </a:prstGeom>
          <a:noFill/>
          <a:ln>
            <a:noFill/>
          </a:ln>
        </p:spPr>
      </p:pic>
      <p:sp>
        <p:nvSpPr>
          <p:cNvPr id="100" name="Google Shape;100;p19"/>
          <p:cNvSpPr txBox="1"/>
          <p:nvPr/>
        </p:nvSpPr>
        <p:spPr>
          <a:xfrm>
            <a:off x="4177069" y="1623279"/>
            <a:ext cx="1113900" cy="35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a:solidFill>
                  <a:schemeClr val="dk2"/>
                </a:solidFill>
              </a:rPr>
              <a:t>讀書室</a:t>
            </a:r>
            <a:endParaRPr>
              <a:solidFill>
                <a:schemeClr val="dk2"/>
              </a:solidFill>
            </a:endParaRPr>
          </a:p>
          <a:p>
            <a:pPr indent="0" lvl="0" marL="0" rtl="0" algn="l">
              <a:spcBef>
                <a:spcPts val="0"/>
              </a:spcBef>
              <a:spcAft>
                <a:spcPts val="0"/>
              </a:spcAft>
              <a:buNone/>
            </a:pPr>
            <a:r>
              <a:rPr lang="zh-TW">
                <a:solidFill>
                  <a:schemeClr val="dk2"/>
                </a:solidFill>
              </a:rPr>
              <a:t>編號顯示</a:t>
            </a:r>
            <a:endParaRPr>
              <a:solidFill>
                <a:schemeClr val="dk2"/>
              </a:solidFill>
            </a:endParaRPr>
          </a:p>
        </p:txBody>
      </p:sp>
      <p:cxnSp>
        <p:nvCxnSpPr>
          <p:cNvPr id="101" name="Google Shape;101;p19"/>
          <p:cNvCxnSpPr/>
          <p:nvPr/>
        </p:nvCxnSpPr>
        <p:spPr>
          <a:xfrm>
            <a:off x="3926418" y="2076222"/>
            <a:ext cx="90300" cy="554100"/>
          </a:xfrm>
          <a:prstGeom prst="straightConnector1">
            <a:avLst/>
          </a:prstGeom>
          <a:noFill/>
          <a:ln cap="flat" cmpd="sng" w="19050">
            <a:solidFill>
              <a:schemeClr val="dk1"/>
            </a:solidFill>
            <a:prstDash val="solid"/>
            <a:round/>
            <a:headEnd len="med" w="med" type="triangle"/>
            <a:tailEnd len="med" w="med" type="none"/>
          </a:ln>
        </p:spPr>
      </p:cxnSp>
      <p:sp>
        <p:nvSpPr>
          <p:cNvPr id="102" name="Google Shape;102;p19"/>
          <p:cNvSpPr txBox="1"/>
          <p:nvPr/>
        </p:nvSpPr>
        <p:spPr>
          <a:xfrm>
            <a:off x="3403093" y="1822022"/>
            <a:ext cx="953700" cy="35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a:solidFill>
                  <a:schemeClr val="dk2"/>
                </a:solidFill>
              </a:rPr>
              <a:t>狀態顯示</a:t>
            </a:r>
            <a:endParaRPr>
              <a:solidFill>
                <a:schemeClr val="dk2"/>
              </a:solidFill>
            </a:endParaRPr>
          </a:p>
        </p:txBody>
      </p:sp>
      <p:cxnSp>
        <p:nvCxnSpPr>
          <p:cNvPr id="103" name="Google Shape;103;p19"/>
          <p:cNvCxnSpPr/>
          <p:nvPr/>
        </p:nvCxnSpPr>
        <p:spPr>
          <a:xfrm flipH="1">
            <a:off x="4521982" y="2147161"/>
            <a:ext cx="39900" cy="914100"/>
          </a:xfrm>
          <a:prstGeom prst="straightConnector1">
            <a:avLst/>
          </a:prstGeom>
          <a:noFill/>
          <a:ln cap="flat" cmpd="sng" w="19050">
            <a:solidFill>
              <a:schemeClr val="dk1"/>
            </a:solidFill>
            <a:prstDash val="solid"/>
            <a:round/>
            <a:headEnd len="med" w="med" type="triangle"/>
            <a:tailEnd len="med" w="med" type="none"/>
          </a:ln>
        </p:spPr>
      </p:cxnSp>
      <p:sp>
        <p:nvSpPr>
          <p:cNvPr id="104" name="Google Shape;104;p19"/>
          <p:cNvSpPr txBox="1"/>
          <p:nvPr/>
        </p:nvSpPr>
        <p:spPr>
          <a:xfrm>
            <a:off x="5360904" y="1723125"/>
            <a:ext cx="1915200" cy="32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a:solidFill>
                  <a:schemeClr val="dk2"/>
                </a:solidFill>
              </a:rPr>
              <a:t>按鈕,7seg LED </a:t>
            </a:r>
            <a:r>
              <a:rPr lang="zh-TW">
                <a:solidFill>
                  <a:schemeClr val="dk2"/>
                </a:solidFill>
              </a:rPr>
              <a:t>顯示下一間讀書室狀態</a:t>
            </a:r>
            <a:endParaRPr>
              <a:solidFill>
                <a:schemeClr val="dk2"/>
              </a:solidFill>
            </a:endParaRPr>
          </a:p>
        </p:txBody>
      </p:sp>
      <p:cxnSp>
        <p:nvCxnSpPr>
          <p:cNvPr id="105" name="Google Shape;105;p19"/>
          <p:cNvCxnSpPr/>
          <p:nvPr/>
        </p:nvCxnSpPr>
        <p:spPr>
          <a:xfrm flipH="1" rot="10800000">
            <a:off x="4856575" y="2234850"/>
            <a:ext cx="710700" cy="1116600"/>
          </a:xfrm>
          <a:prstGeom prst="straightConnector1">
            <a:avLst/>
          </a:prstGeom>
          <a:noFill/>
          <a:ln cap="flat" cmpd="sng" w="19050">
            <a:solidFill>
              <a:schemeClr val="dk1"/>
            </a:solidFill>
            <a:prstDash val="solid"/>
            <a:round/>
            <a:headEnd len="med" w="med" type="none"/>
            <a:tailEnd len="med" w="med" type="triangle"/>
          </a:ln>
        </p:spPr>
      </p:cxnSp>
      <p:cxnSp>
        <p:nvCxnSpPr>
          <p:cNvPr id="106" name="Google Shape;106;p19"/>
          <p:cNvCxnSpPr/>
          <p:nvPr/>
        </p:nvCxnSpPr>
        <p:spPr>
          <a:xfrm flipH="1">
            <a:off x="5065700" y="3154347"/>
            <a:ext cx="295200" cy="388500"/>
          </a:xfrm>
          <a:prstGeom prst="straightConnector1">
            <a:avLst/>
          </a:prstGeom>
          <a:noFill/>
          <a:ln cap="flat" cmpd="sng" w="19050">
            <a:solidFill>
              <a:srgbClr val="FF9900"/>
            </a:solidFill>
            <a:prstDash val="solid"/>
            <a:round/>
            <a:headEnd len="med" w="med" type="triangle"/>
            <a:tailEnd len="med" w="med" type="none"/>
          </a:ln>
        </p:spPr>
      </p:cxnSp>
      <p:sp>
        <p:nvSpPr>
          <p:cNvPr id="107" name="Google Shape;107;p19"/>
          <p:cNvSpPr txBox="1"/>
          <p:nvPr/>
        </p:nvSpPr>
        <p:spPr>
          <a:xfrm>
            <a:off x="4911900" y="905518"/>
            <a:ext cx="1740600" cy="768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zh-TW" sz="1600">
                <a:solidFill>
                  <a:srgbClr val="FF0000"/>
                </a:solidFill>
              </a:rPr>
              <a:t>Server :</a:t>
            </a:r>
            <a:r>
              <a:rPr lang="zh-TW" sz="1600">
                <a:solidFill>
                  <a:srgbClr val="333333"/>
                </a:solidFill>
              </a:rPr>
              <a:t> </a:t>
            </a:r>
            <a:endParaRPr sz="1600">
              <a:solidFill>
                <a:srgbClr val="333333"/>
              </a:solidFill>
            </a:endParaRPr>
          </a:p>
          <a:p>
            <a:pPr indent="0" lvl="0" marL="0" rtl="0" algn="ctr">
              <a:spcBef>
                <a:spcPts val="0"/>
              </a:spcBef>
              <a:spcAft>
                <a:spcPts val="0"/>
              </a:spcAft>
              <a:buNone/>
            </a:pPr>
            <a:r>
              <a:rPr lang="zh-TW" sz="1600">
                <a:solidFill>
                  <a:srgbClr val="333333"/>
                </a:solidFill>
              </a:rPr>
              <a:t>提供讀書室</a:t>
            </a:r>
            <a:endParaRPr sz="1600">
              <a:solidFill>
                <a:srgbClr val="333333"/>
              </a:solidFill>
            </a:endParaRPr>
          </a:p>
          <a:p>
            <a:pPr indent="0" lvl="0" marL="0" rtl="0" algn="ctr">
              <a:spcBef>
                <a:spcPts val="0"/>
              </a:spcBef>
              <a:spcAft>
                <a:spcPts val="0"/>
              </a:spcAft>
              <a:buNone/>
            </a:pPr>
            <a:r>
              <a:rPr lang="zh-TW" sz="1600">
                <a:solidFill>
                  <a:srgbClr val="333333"/>
                </a:solidFill>
              </a:rPr>
              <a:t>預約服務</a:t>
            </a:r>
            <a:endParaRPr sz="1600">
              <a:solidFill>
                <a:srgbClr val="333333"/>
              </a:solidFill>
            </a:endParaRPr>
          </a:p>
        </p:txBody>
      </p:sp>
      <p:pic>
        <p:nvPicPr>
          <p:cNvPr id="108" name="Google Shape;108;p19"/>
          <p:cNvPicPr preferRelativeResize="0"/>
          <p:nvPr/>
        </p:nvPicPr>
        <p:blipFill rotWithShape="1">
          <a:blip r:embed="rId5">
            <a:alphaModFix/>
          </a:blip>
          <a:srcRect b="11758" l="21403" r="14707" t="14565"/>
          <a:stretch/>
        </p:blipFill>
        <p:spPr>
          <a:xfrm rot="-5400000">
            <a:off x="1264151" y="2026145"/>
            <a:ext cx="1023475" cy="1573624"/>
          </a:xfrm>
          <a:prstGeom prst="rect">
            <a:avLst/>
          </a:prstGeom>
          <a:noFill/>
          <a:ln>
            <a:noFill/>
          </a:ln>
        </p:spPr>
      </p:pic>
      <p:cxnSp>
        <p:nvCxnSpPr>
          <p:cNvPr id="109" name="Google Shape;109;p19"/>
          <p:cNvCxnSpPr/>
          <p:nvPr/>
        </p:nvCxnSpPr>
        <p:spPr>
          <a:xfrm>
            <a:off x="1618325" y="3699023"/>
            <a:ext cx="6300" cy="1425900"/>
          </a:xfrm>
          <a:prstGeom prst="straightConnector1">
            <a:avLst/>
          </a:prstGeom>
          <a:noFill/>
          <a:ln cap="flat" cmpd="sng" w="19125">
            <a:solidFill>
              <a:srgbClr val="FF0000"/>
            </a:solidFill>
            <a:prstDash val="solid"/>
            <a:round/>
            <a:headEnd len="med" w="med" type="triangle"/>
            <a:tailEnd len="med" w="med" type="triangle"/>
          </a:ln>
        </p:spPr>
      </p:cxnSp>
      <p:sp>
        <p:nvSpPr>
          <p:cNvPr id="110" name="Google Shape;110;p19"/>
          <p:cNvSpPr txBox="1"/>
          <p:nvPr/>
        </p:nvSpPr>
        <p:spPr>
          <a:xfrm>
            <a:off x="2530225" y="2778946"/>
            <a:ext cx="738600" cy="322500"/>
          </a:xfrm>
          <a:prstGeom prst="rect">
            <a:avLst/>
          </a:prstGeom>
          <a:noFill/>
          <a:ln>
            <a:noFill/>
          </a:ln>
        </p:spPr>
        <p:txBody>
          <a:bodyPr anchorCtr="0" anchor="t" bIns="91725" lIns="91725" spcFirstLastPara="1" rIns="91725" wrap="square" tIns="91725">
            <a:noAutofit/>
          </a:bodyPr>
          <a:lstStyle/>
          <a:p>
            <a:pPr indent="0" lvl="0" marL="0" rtl="0" algn="l">
              <a:spcBef>
                <a:spcPts val="0"/>
              </a:spcBef>
              <a:spcAft>
                <a:spcPts val="0"/>
              </a:spcAft>
              <a:buNone/>
            </a:pPr>
            <a:r>
              <a:rPr lang="zh-TW" sz="1404">
                <a:solidFill>
                  <a:srgbClr val="31394D"/>
                </a:solidFill>
              </a:rPr>
              <a:t>Socket</a:t>
            </a:r>
            <a:endParaRPr sz="1404">
              <a:solidFill>
                <a:srgbClr val="31394D"/>
              </a:solidFill>
            </a:endParaRPr>
          </a:p>
        </p:txBody>
      </p:sp>
      <p:sp>
        <p:nvSpPr>
          <p:cNvPr id="111" name="Google Shape;111;p19"/>
          <p:cNvSpPr/>
          <p:nvPr/>
        </p:nvSpPr>
        <p:spPr>
          <a:xfrm>
            <a:off x="3290225" y="900427"/>
            <a:ext cx="5517000" cy="3017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2" name="Google Shape;112;p19"/>
          <p:cNvSpPr txBox="1"/>
          <p:nvPr/>
        </p:nvSpPr>
        <p:spPr>
          <a:xfrm>
            <a:off x="7549579" y="2176734"/>
            <a:ext cx="860100" cy="35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a:solidFill>
                  <a:schemeClr val="dk2"/>
                </a:solidFill>
              </a:rPr>
              <a:t>刷房卡</a:t>
            </a:r>
            <a:endParaRPr>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0"/>
          <p:cNvSpPr txBox="1"/>
          <p:nvPr>
            <p:ph type="title"/>
          </p:nvPr>
        </p:nvSpPr>
        <p:spPr>
          <a:xfrm>
            <a:off x="224691" y="20925"/>
            <a:ext cx="4675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solidFill>
                  <a:srgbClr val="002F4A"/>
                </a:solidFill>
              </a:rPr>
              <a:t>硬體架構 (含I/O)</a:t>
            </a:r>
            <a:endParaRPr>
              <a:solidFill>
                <a:srgbClr val="002F4A"/>
              </a:solidFill>
            </a:endParaRPr>
          </a:p>
          <a:p>
            <a:pPr indent="0" lvl="0" marL="0" rtl="0" algn="l">
              <a:lnSpc>
                <a:spcPct val="200000"/>
              </a:lnSpc>
              <a:spcBef>
                <a:spcPts val="0"/>
              </a:spcBef>
              <a:spcAft>
                <a:spcPts val="1200"/>
              </a:spcAft>
              <a:buNone/>
            </a:pPr>
            <a:r>
              <a:t/>
            </a:r>
            <a:endParaRPr sz="3000">
              <a:solidFill>
                <a:schemeClr val="dk2"/>
              </a:solidFill>
            </a:endParaRPr>
          </a:p>
        </p:txBody>
      </p:sp>
      <p:sp>
        <p:nvSpPr>
          <p:cNvPr id="118" name="Google Shape;118;p20"/>
          <p:cNvSpPr txBox="1"/>
          <p:nvPr/>
        </p:nvSpPr>
        <p:spPr>
          <a:xfrm>
            <a:off x="8862132" y="4883004"/>
            <a:ext cx="150900" cy="184800"/>
          </a:xfrm>
          <a:prstGeom prst="rect">
            <a:avLst/>
          </a:prstGeom>
          <a:noFill/>
          <a:ln>
            <a:noFill/>
          </a:ln>
        </p:spPr>
        <p:txBody>
          <a:bodyPr anchorCtr="0" anchor="t" bIns="22850" lIns="45725" spcFirstLastPara="1" rIns="45725" wrap="square" tIns="22850">
            <a:spAutoFit/>
          </a:bodyPr>
          <a:lstStyle/>
          <a:p>
            <a:pPr indent="0" lvl="0" marL="0" marR="0" rtl="0" algn="l">
              <a:spcBef>
                <a:spcPts val="0"/>
              </a:spcBef>
              <a:spcAft>
                <a:spcPts val="0"/>
              </a:spcAft>
              <a:buNone/>
            </a:pPr>
            <a:r>
              <a:rPr lang="zh-TW" sz="900">
                <a:solidFill>
                  <a:srgbClr val="31394D"/>
                </a:solidFill>
                <a:latin typeface="Calibri"/>
                <a:ea typeface="Calibri"/>
                <a:cs typeface="Calibri"/>
                <a:sym typeface="Calibri"/>
              </a:rPr>
              <a:t>6</a:t>
            </a:r>
            <a:endParaRPr sz="900">
              <a:solidFill>
                <a:srgbClr val="31394D"/>
              </a:solidFill>
              <a:latin typeface="Calibri"/>
              <a:ea typeface="Calibri"/>
              <a:cs typeface="Calibri"/>
              <a:sym typeface="Calibri"/>
            </a:endParaRPr>
          </a:p>
        </p:txBody>
      </p:sp>
      <p:pic>
        <p:nvPicPr>
          <p:cNvPr id="119" name="Google Shape;119;p20"/>
          <p:cNvPicPr preferRelativeResize="0"/>
          <p:nvPr/>
        </p:nvPicPr>
        <p:blipFill rotWithShape="1">
          <a:blip r:embed="rId3">
            <a:alphaModFix/>
          </a:blip>
          <a:srcRect b="11758" l="21403" r="14707" t="14565"/>
          <a:stretch/>
        </p:blipFill>
        <p:spPr>
          <a:xfrm rot="-5400000">
            <a:off x="3821000" y="435563"/>
            <a:ext cx="1023475" cy="1573624"/>
          </a:xfrm>
          <a:prstGeom prst="rect">
            <a:avLst/>
          </a:prstGeom>
          <a:noFill/>
          <a:ln>
            <a:noFill/>
          </a:ln>
        </p:spPr>
      </p:pic>
      <p:sp>
        <p:nvSpPr>
          <p:cNvPr id="120" name="Google Shape;120;p20"/>
          <p:cNvSpPr txBox="1"/>
          <p:nvPr/>
        </p:nvSpPr>
        <p:spPr>
          <a:xfrm>
            <a:off x="5168025" y="770025"/>
            <a:ext cx="1740600" cy="747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zh-TW" sz="1600">
                <a:solidFill>
                  <a:srgbClr val="FF0000"/>
                </a:solidFill>
              </a:rPr>
              <a:t>Server :</a:t>
            </a:r>
            <a:r>
              <a:rPr lang="zh-TW" sz="1600">
                <a:solidFill>
                  <a:srgbClr val="333333"/>
                </a:solidFill>
              </a:rPr>
              <a:t> </a:t>
            </a:r>
            <a:endParaRPr sz="1600">
              <a:solidFill>
                <a:srgbClr val="333333"/>
              </a:solidFill>
            </a:endParaRPr>
          </a:p>
          <a:p>
            <a:pPr indent="0" lvl="0" marL="0" rtl="0" algn="ctr">
              <a:spcBef>
                <a:spcPts val="0"/>
              </a:spcBef>
              <a:spcAft>
                <a:spcPts val="0"/>
              </a:spcAft>
              <a:buNone/>
            </a:pPr>
            <a:r>
              <a:rPr lang="zh-TW" sz="1600">
                <a:solidFill>
                  <a:srgbClr val="333333"/>
                </a:solidFill>
              </a:rPr>
              <a:t>提供讀書室</a:t>
            </a:r>
            <a:endParaRPr sz="1600">
              <a:solidFill>
                <a:srgbClr val="333333"/>
              </a:solidFill>
            </a:endParaRPr>
          </a:p>
          <a:p>
            <a:pPr indent="0" lvl="0" marL="0" rtl="0" algn="ctr">
              <a:spcBef>
                <a:spcPts val="0"/>
              </a:spcBef>
              <a:spcAft>
                <a:spcPts val="0"/>
              </a:spcAft>
              <a:buNone/>
            </a:pPr>
            <a:r>
              <a:rPr lang="zh-TW" sz="1600">
                <a:solidFill>
                  <a:srgbClr val="333333"/>
                </a:solidFill>
              </a:rPr>
              <a:t>預約服務</a:t>
            </a:r>
            <a:endParaRPr sz="1600">
              <a:solidFill>
                <a:srgbClr val="333333"/>
              </a:solidFill>
            </a:endParaRPr>
          </a:p>
        </p:txBody>
      </p:sp>
      <p:cxnSp>
        <p:nvCxnSpPr>
          <p:cNvPr id="121" name="Google Shape;121;p20"/>
          <p:cNvCxnSpPr>
            <a:endCxn id="122" idx="3"/>
          </p:cNvCxnSpPr>
          <p:nvPr/>
        </p:nvCxnSpPr>
        <p:spPr>
          <a:xfrm flipH="1">
            <a:off x="3033262" y="1682125"/>
            <a:ext cx="953700" cy="1121400"/>
          </a:xfrm>
          <a:prstGeom prst="straightConnector1">
            <a:avLst/>
          </a:prstGeom>
          <a:noFill/>
          <a:ln cap="flat" cmpd="sng" w="19050">
            <a:solidFill>
              <a:srgbClr val="FF0000"/>
            </a:solidFill>
            <a:prstDash val="solid"/>
            <a:round/>
            <a:headEnd len="med" w="med" type="triangle"/>
            <a:tailEnd len="med" w="med" type="triangle"/>
          </a:ln>
        </p:spPr>
      </p:cxnSp>
      <p:cxnSp>
        <p:nvCxnSpPr>
          <p:cNvPr id="123" name="Google Shape;123;p20"/>
          <p:cNvCxnSpPr>
            <a:endCxn id="124" idx="3"/>
          </p:cNvCxnSpPr>
          <p:nvPr/>
        </p:nvCxnSpPr>
        <p:spPr>
          <a:xfrm>
            <a:off x="4719362" y="1674637"/>
            <a:ext cx="1067400" cy="1128900"/>
          </a:xfrm>
          <a:prstGeom prst="straightConnector1">
            <a:avLst/>
          </a:prstGeom>
          <a:noFill/>
          <a:ln cap="flat" cmpd="sng" w="19050">
            <a:solidFill>
              <a:srgbClr val="FF0000"/>
            </a:solidFill>
            <a:prstDash val="solid"/>
            <a:round/>
            <a:headEnd len="med" w="med" type="triangle"/>
            <a:tailEnd len="med" w="med" type="triangle"/>
          </a:ln>
        </p:spPr>
      </p:cxnSp>
      <p:sp>
        <p:nvSpPr>
          <p:cNvPr id="125" name="Google Shape;125;p20"/>
          <p:cNvSpPr txBox="1"/>
          <p:nvPr/>
        </p:nvSpPr>
        <p:spPr>
          <a:xfrm>
            <a:off x="2095939" y="3959309"/>
            <a:ext cx="2517600" cy="810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zh-TW">
                <a:solidFill>
                  <a:srgbClr val="38761D"/>
                </a:solidFill>
              </a:rPr>
              <a:t>Client :</a:t>
            </a:r>
            <a:endParaRPr>
              <a:solidFill>
                <a:srgbClr val="38761D"/>
              </a:solidFill>
            </a:endParaRPr>
          </a:p>
          <a:p>
            <a:pPr indent="0" lvl="0" marL="0" rtl="0" algn="ctr">
              <a:spcBef>
                <a:spcPts val="0"/>
              </a:spcBef>
              <a:spcAft>
                <a:spcPts val="0"/>
              </a:spcAft>
              <a:buNone/>
            </a:pPr>
            <a:r>
              <a:rPr lang="zh-TW">
                <a:solidFill>
                  <a:srgbClr val="31394D"/>
                </a:solidFill>
              </a:rPr>
              <a:t>處理I/O並回傳給server</a:t>
            </a:r>
            <a:endParaRPr>
              <a:solidFill>
                <a:srgbClr val="31394D"/>
              </a:solidFill>
            </a:endParaRPr>
          </a:p>
          <a:p>
            <a:pPr indent="0" lvl="0" marL="0" rtl="0" algn="ctr">
              <a:spcBef>
                <a:spcPts val="0"/>
              </a:spcBef>
              <a:spcAft>
                <a:spcPts val="0"/>
              </a:spcAft>
              <a:buNone/>
            </a:pPr>
            <a:r>
              <a:rPr lang="zh-TW">
                <a:solidFill>
                  <a:srgbClr val="31394D"/>
                </a:solidFill>
              </a:rPr>
              <a:t>在LED上顯示預約狀態</a:t>
            </a:r>
            <a:endParaRPr>
              <a:solidFill>
                <a:srgbClr val="31394D"/>
              </a:solidFill>
            </a:endParaRPr>
          </a:p>
        </p:txBody>
      </p:sp>
      <p:sp>
        <p:nvSpPr>
          <p:cNvPr id="126" name="Google Shape;126;p20"/>
          <p:cNvSpPr txBox="1"/>
          <p:nvPr/>
        </p:nvSpPr>
        <p:spPr>
          <a:xfrm>
            <a:off x="4581839" y="3969094"/>
            <a:ext cx="2517600" cy="987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zh-TW">
                <a:solidFill>
                  <a:srgbClr val="38761D"/>
                </a:solidFill>
              </a:rPr>
              <a:t>Client :</a:t>
            </a:r>
            <a:endParaRPr>
              <a:solidFill>
                <a:srgbClr val="38761D"/>
              </a:solidFill>
            </a:endParaRPr>
          </a:p>
          <a:p>
            <a:pPr indent="0" lvl="0" marL="0" rtl="0" algn="ctr">
              <a:spcBef>
                <a:spcPts val="0"/>
              </a:spcBef>
              <a:spcAft>
                <a:spcPts val="0"/>
              </a:spcAft>
              <a:buNone/>
            </a:pPr>
            <a:r>
              <a:rPr lang="zh-TW">
                <a:solidFill>
                  <a:srgbClr val="31394D"/>
                </a:solidFill>
              </a:rPr>
              <a:t>處理I/O並回傳給server</a:t>
            </a:r>
            <a:endParaRPr>
              <a:solidFill>
                <a:srgbClr val="31394D"/>
              </a:solidFill>
            </a:endParaRPr>
          </a:p>
          <a:p>
            <a:pPr indent="0" lvl="0" marL="0" rtl="0" algn="ctr">
              <a:spcBef>
                <a:spcPts val="0"/>
              </a:spcBef>
              <a:spcAft>
                <a:spcPts val="0"/>
              </a:spcAft>
              <a:buNone/>
            </a:pPr>
            <a:r>
              <a:rPr lang="zh-TW">
                <a:solidFill>
                  <a:srgbClr val="31394D"/>
                </a:solidFill>
              </a:rPr>
              <a:t>在LED上顯示預約狀態</a:t>
            </a:r>
            <a:endParaRPr>
              <a:solidFill>
                <a:srgbClr val="31394D"/>
              </a:solidFill>
            </a:endParaRPr>
          </a:p>
        </p:txBody>
      </p:sp>
      <p:sp>
        <p:nvSpPr>
          <p:cNvPr id="127" name="Google Shape;127;p20"/>
          <p:cNvSpPr txBox="1"/>
          <p:nvPr/>
        </p:nvSpPr>
        <p:spPr>
          <a:xfrm>
            <a:off x="2809725" y="1921350"/>
            <a:ext cx="736200" cy="32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a:solidFill>
                  <a:srgbClr val="31394D"/>
                </a:solidFill>
              </a:rPr>
              <a:t>Socket</a:t>
            </a:r>
            <a:endParaRPr>
              <a:solidFill>
                <a:srgbClr val="31394D"/>
              </a:solidFill>
            </a:endParaRPr>
          </a:p>
        </p:txBody>
      </p:sp>
      <p:sp>
        <p:nvSpPr>
          <p:cNvPr id="128" name="Google Shape;128;p20"/>
          <p:cNvSpPr txBox="1"/>
          <p:nvPr/>
        </p:nvSpPr>
        <p:spPr>
          <a:xfrm>
            <a:off x="5418650" y="1921350"/>
            <a:ext cx="736200" cy="32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a:solidFill>
                  <a:srgbClr val="31394D"/>
                </a:solidFill>
              </a:rPr>
              <a:t>Socket</a:t>
            </a:r>
            <a:endParaRPr>
              <a:solidFill>
                <a:srgbClr val="31394D"/>
              </a:solidFill>
            </a:endParaRPr>
          </a:p>
        </p:txBody>
      </p:sp>
      <p:cxnSp>
        <p:nvCxnSpPr>
          <p:cNvPr id="129" name="Google Shape;129;p20"/>
          <p:cNvCxnSpPr>
            <a:endCxn id="130" idx="3"/>
          </p:cNvCxnSpPr>
          <p:nvPr/>
        </p:nvCxnSpPr>
        <p:spPr>
          <a:xfrm flipH="1">
            <a:off x="1843019" y="3469019"/>
            <a:ext cx="444600" cy="873900"/>
          </a:xfrm>
          <a:prstGeom prst="straightConnector1">
            <a:avLst/>
          </a:prstGeom>
          <a:noFill/>
          <a:ln cap="flat" cmpd="sng" w="19050">
            <a:solidFill>
              <a:srgbClr val="FF9900"/>
            </a:solidFill>
            <a:prstDash val="solid"/>
            <a:round/>
            <a:headEnd len="med" w="med" type="triangle"/>
            <a:tailEnd len="med" w="med" type="none"/>
          </a:ln>
        </p:spPr>
      </p:cxnSp>
      <p:sp>
        <p:nvSpPr>
          <p:cNvPr id="131" name="Google Shape;131;p20"/>
          <p:cNvSpPr txBox="1"/>
          <p:nvPr/>
        </p:nvSpPr>
        <p:spPr>
          <a:xfrm>
            <a:off x="773976" y="2761757"/>
            <a:ext cx="1113900" cy="35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a:solidFill>
                  <a:schemeClr val="dk2"/>
                </a:solidFill>
              </a:rPr>
              <a:t>讀書室</a:t>
            </a:r>
            <a:endParaRPr>
              <a:solidFill>
                <a:schemeClr val="dk2"/>
              </a:solidFill>
            </a:endParaRPr>
          </a:p>
          <a:p>
            <a:pPr indent="0" lvl="0" marL="0" rtl="0" algn="l">
              <a:spcBef>
                <a:spcPts val="0"/>
              </a:spcBef>
              <a:spcAft>
                <a:spcPts val="0"/>
              </a:spcAft>
              <a:buNone/>
            </a:pPr>
            <a:r>
              <a:rPr lang="zh-TW">
                <a:solidFill>
                  <a:schemeClr val="dk2"/>
                </a:solidFill>
              </a:rPr>
              <a:t>編號顯示</a:t>
            </a:r>
            <a:endParaRPr>
              <a:solidFill>
                <a:schemeClr val="dk2"/>
              </a:solidFill>
            </a:endParaRPr>
          </a:p>
        </p:txBody>
      </p:sp>
      <p:cxnSp>
        <p:nvCxnSpPr>
          <p:cNvPr id="132" name="Google Shape;132;p20"/>
          <p:cNvCxnSpPr/>
          <p:nvPr/>
        </p:nvCxnSpPr>
        <p:spPr>
          <a:xfrm>
            <a:off x="523325" y="3214700"/>
            <a:ext cx="90300" cy="554100"/>
          </a:xfrm>
          <a:prstGeom prst="straightConnector1">
            <a:avLst/>
          </a:prstGeom>
          <a:noFill/>
          <a:ln cap="flat" cmpd="sng" w="19050">
            <a:solidFill>
              <a:schemeClr val="dk1"/>
            </a:solidFill>
            <a:prstDash val="solid"/>
            <a:round/>
            <a:headEnd len="med" w="med" type="triangle"/>
            <a:tailEnd len="med" w="med" type="none"/>
          </a:ln>
        </p:spPr>
      </p:cxnSp>
      <p:sp>
        <p:nvSpPr>
          <p:cNvPr id="133" name="Google Shape;133;p20"/>
          <p:cNvSpPr txBox="1"/>
          <p:nvPr/>
        </p:nvSpPr>
        <p:spPr>
          <a:xfrm>
            <a:off x="0" y="2960500"/>
            <a:ext cx="953700" cy="35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a:solidFill>
                  <a:schemeClr val="dk2"/>
                </a:solidFill>
              </a:rPr>
              <a:t>狀態顯示</a:t>
            </a:r>
            <a:endParaRPr>
              <a:solidFill>
                <a:schemeClr val="dk2"/>
              </a:solidFill>
            </a:endParaRPr>
          </a:p>
        </p:txBody>
      </p:sp>
      <p:cxnSp>
        <p:nvCxnSpPr>
          <p:cNvPr id="134" name="Google Shape;134;p20"/>
          <p:cNvCxnSpPr/>
          <p:nvPr/>
        </p:nvCxnSpPr>
        <p:spPr>
          <a:xfrm>
            <a:off x="7665800" y="3247500"/>
            <a:ext cx="90300" cy="554100"/>
          </a:xfrm>
          <a:prstGeom prst="straightConnector1">
            <a:avLst/>
          </a:prstGeom>
          <a:noFill/>
          <a:ln cap="flat" cmpd="sng" w="19050">
            <a:solidFill>
              <a:schemeClr val="dk1"/>
            </a:solidFill>
            <a:prstDash val="solid"/>
            <a:round/>
            <a:headEnd len="med" w="med" type="triangle"/>
            <a:tailEnd len="med" w="med" type="none"/>
          </a:ln>
        </p:spPr>
      </p:cxnSp>
      <p:sp>
        <p:nvSpPr>
          <p:cNvPr id="135" name="Google Shape;135;p20"/>
          <p:cNvSpPr txBox="1"/>
          <p:nvPr/>
        </p:nvSpPr>
        <p:spPr>
          <a:xfrm>
            <a:off x="7142475" y="2993300"/>
            <a:ext cx="953700" cy="35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a:solidFill>
                  <a:schemeClr val="dk2"/>
                </a:solidFill>
              </a:rPr>
              <a:t>狀態顯示</a:t>
            </a:r>
            <a:endParaRPr>
              <a:solidFill>
                <a:schemeClr val="dk2"/>
              </a:solidFill>
            </a:endParaRPr>
          </a:p>
        </p:txBody>
      </p:sp>
      <p:sp>
        <p:nvSpPr>
          <p:cNvPr id="136" name="Google Shape;136;p20"/>
          <p:cNvSpPr txBox="1"/>
          <p:nvPr/>
        </p:nvSpPr>
        <p:spPr>
          <a:xfrm>
            <a:off x="8058425" y="2730800"/>
            <a:ext cx="954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a:solidFill>
                  <a:schemeClr val="dk2"/>
                </a:solidFill>
              </a:rPr>
              <a:t>讀書室</a:t>
            </a:r>
            <a:endParaRPr>
              <a:solidFill>
                <a:schemeClr val="dk2"/>
              </a:solidFill>
            </a:endParaRPr>
          </a:p>
          <a:p>
            <a:pPr indent="0" lvl="0" marL="0" rtl="0" algn="l">
              <a:spcBef>
                <a:spcPts val="0"/>
              </a:spcBef>
              <a:spcAft>
                <a:spcPts val="0"/>
              </a:spcAft>
              <a:buNone/>
            </a:pPr>
            <a:r>
              <a:rPr lang="zh-TW">
                <a:solidFill>
                  <a:schemeClr val="dk2"/>
                </a:solidFill>
              </a:rPr>
              <a:t>編號顯示</a:t>
            </a:r>
            <a:endParaRPr>
              <a:solidFill>
                <a:schemeClr val="dk2"/>
              </a:solidFill>
            </a:endParaRPr>
          </a:p>
        </p:txBody>
      </p:sp>
      <p:pic>
        <p:nvPicPr>
          <p:cNvPr id="130" name="Google Shape;130;p20"/>
          <p:cNvPicPr preferRelativeResize="0"/>
          <p:nvPr/>
        </p:nvPicPr>
        <p:blipFill>
          <a:blip r:embed="rId4">
            <a:alphaModFix/>
          </a:blip>
          <a:stretch>
            <a:fillRect/>
          </a:stretch>
        </p:blipFill>
        <p:spPr>
          <a:xfrm>
            <a:off x="336282" y="3782219"/>
            <a:ext cx="1506737" cy="1121400"/>
          </a:xfrm>
          <a:prstGeom prst="rect">
            <a:avLst/>
          </a:prstGeom>
          <a:noFill/>
          <a:ln>
            <a:noFill/>
          </a:ln>
        </p:spPr>
      </p:pic>
      <p:cxnSp>
        <p:nvCxnSpPr>
          <p:cNvPr id="137" name="Google Shape;137;p20"/>
          <p:cNvCxnSpPr/>
          <p:nvPr/>
        </p:nvCxnSpPr>
        <p:spPr>
          <a:xfrm flipH="1">
            <a:off x="1118889" y="3285638"/>
            <a:ext cx="39900" cy="914100"/>
          </a:xfrm>
          <a:prstGeom prst="straightConnector1">
            <a:avLst/>
          </a:prstGeom>
          <a:noFill/>
          <a:ln cap="flat" cmpd="sng" w="19050">
            <a:solidFill>
              <a:schemeClr val="dk1"/>
            </a:solidFill>
            <a:prstDash val="solid"/>
            <a:round/>
            <a:headEnd len="med" w="med" type="triangle"/>
            <a:tailEnd len="med" w="med" type="none"/>
          </a:ln>
        </p:spPr>
      </p:cxnSp>
      <p:pic>
        <p:nvPicPr>
          <p:cNvPr id="138" name="Google Shape;138;p20"/>
          <p:cNvPicPr preferRelativeResize="0"/>
          <p:nvPr/>
        </p:nvPicPr>
        <p:blipFill>
          <a:blip r:embed="rId4">
            <a:alphaModFix/>
          </a:blip>
          <a:stretch>
            <a:fillRect/>
          </a:stretch>
        </p:blipFill>
        <p:spPr>
          <a:xfrm>
            <a:off x="7556746" y="3794124"/>
            <a:ext cx="1440497" cy="1072100"/>
          </a:xfrm>
          <a:prstGeom prst="rect">
            <a:avLst/>
          </a:prstGeom>
          <a:noFill/>
          <a:ln>
            <a:noFill/>
          </a:ln>
        </p:spPr>
      </p:pic>
      <p:cxnSp>
        <p:nvCxnSpPr>
          <p:cNvPr id="139" name="Google Shape;139;p20"/>
          <p:cNvCxnSpPr/>
          <p:nvPr/>
        </p:nvCxnSpPr>
        <p:spPr>
          <a:xfrm flipH="1">
            <a:off x="8313699" y="3318425"/>
            <a:ext cx="39900" cy="914100"/>
          </a:xfrm>
          <a:prstGeom prst="straightConnector1">
            <a:avLst/>
          </a:prstGeom>
          <a:noFill/>
          <a:ln cap="flat" cmpd="sng" w="19050">
            <a:solidFill>
              <a:schemeClr val="dk1"/>
            </a:solidFill>
            <a:prstDash val="solid"/>
            <a:round/>
            <a:headEnd len="med" w="med" type="triangle"/>
            <a:tailEnd len="med" w="med" type="none"/>
          </a:ln>
        </p:spPr>
      </p:cxnSp>
      <p:sp>
        <p:nvSpPr>
          <p:cNvPr id="140" name="Google Shape;140;p20"/>
          <p:cNvSpPr txBox="1"/>
          <p:nvPr/>
        </p:nvSpPr>
        <p:spPr>
          <a:xfrm>
            <a:off x="1219650" y="2242650"/>
            <a:ext cx="1181100" cy="35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a:solidFill>
                  <a:schemeClr val="dk2"/>
                </a:solidFill>
              </a:rPr>
              <a:t>checkin按鈕</a:t>
            </a:r>
            <a:endParaRPr>
              <a:solidFill>
                <a:schemeClr val="dk2"/>
              </a:solidFill>
            </a:endParaRPr>
          </a:p>
        </p:txBody>
      </p:sp>
      <p:cxnSp>
        <p:nvCxnSpPr>
          <p:cNvPr id="141" name="Google Shape;141;p20"/>
          <p:cNvCxnSpPr/>
          <p:nvPr/>
        </p:nvCxnSpPr>
        <p:spPr>
          <a:xfrm flipH="1" rot="10800000">
            <a:off x="1442875" y="2601775"/>
            <a:ext cx="299100" cy="1928700"/>
          </a:xfrm>
          <a:prstGeom prst="straightConnector1">
            <a:avLst/>
          </a:prstGeom>
          <a:noFill/>
          <a:ln cap="flat" cmpd="sng" w="19050">
            <a:solidFill>
              <a:schemeClr val="dk1"/>
            </a:solidFill>
            <a:prstDash val="solid"/>
            <a:round/>
            <a:headEnd len="med" w="med" type="none"/>
            <a:tailEnd len="med" w="med" type="triangle"/>
          </a:ln>
        </p:spPr>
      </p:cxnSp>
      <p:sp>
        <p:nvSpPr>
          <p:cNvPr id="142" name="Google Shape;142;p20"/>
          <p:cNvSpPr txBox="1"/>
          <p:nvPr/>
        </p:nvSpPr>
        <p:spPr>
          <a:xfrm>
            <a:off x="8049846" y="2242650"/>
            <a:ext cx="1181100" cy="35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a:solidFill>
                  <a:schemeClr val="dk2"/>
                </a:solidFill>
              </a:rPr>
              <a:t>checkin按鈕</a:t>
            </a:r>
            <a:endParaRPr>
              <a:solidFill>
                <a:schemeClr val="dk2"/>
              </a:solidFill>
            </a:endParaRPr>
          </a:p>
        </p:txBody>
      </p:sp>
      <p:cxnSp>
        <p:nvCxnSpPr>
          <p:cNvPr id="143" name="Google Shape;143;p20"/>
          <p:cNvCxnSpPr/>
          <p:nvPr/>
        </p:nvCxnSpPr>
        <p:spPr>
          <a:xfrm flipH="1" rot="10800000">
            <a:off x="8634800" y="2631600"/>
            <a:ext cx="351300" cy="1854000"/>
          </a:xfrm>
          <a:prstGeom prst="straightConnector1">
            <a:avLst/>
          </a:prstGeom>
          <a:noFill/>
          <a:ln cap="flat" cmpd="sng" w="19050">
            <a:solidFill>
              <a:schemeClr val="dk1"/>
            </a:solidFill>
            <a:prstDash val="solid"/>
            <a:round/>
            <a:headEnd len="med" w="med" type="none"/>
            <a:tailEnd len="med" w="med" type="triangle"/>
          </a:ln>
        </p:spPr>
      </p:cxnSp>
      <p:pic>
        <p:nvPicPr>
          <p:cNvPr id="144" name="Google Shape;144;p20"/>
          <p:cNvPicPr preferRelativeResize="0"/>
          <p:nvPr/>
        </p:nvPicPr>
        <p:blipFill>
          <a:blip r:embed="rId5">
            <a:alphaModFix/>
          </a:blip>
          <a:stretch>
            <a:fillRect/>
          </a:stretch>
        </p:blipFill>
        <p:spPr>
          <a:xfrm>
            <a:off x="2301766" y="2904473"/>
            <a:ext cx="2416671" cy="1023475"/>
          </a:xfrm>
          <a:prstGeom prst="rect">
            <a:avLst/>
          </a:prstGeom>
          <a:noFill/>
          <a:ln>
            <a:noFill/>
          </a:ln>
        </p:spPr>
      </p:pic>
      <p:pic>
        <p:nvPicPr>
          <p:cNvPr id="145" name="Google Shape;145;p20"/>
          <p:cNvPicPr preferRelativeResize="0"/>
          <p:nvPr/>
        </p:nvPicPr>
        <p:blipFill>
          <a:blip r:embed="rId5">
            <a:alphaModFix/>
          </a:blip>
          <a:stretch>
            <a:fillRect/>
          </a:stretch>
        </p:blipFill>
        <p:spPr>
          <a:xfrm>
            <a:off x="4894475" y="2885956"/>
            <a:ext cx="2248000" cy="952044"/>
          </a:xfrm>
          <a:prstGeom prst="rect">
            <a:avLst/>
          </a:prstGeom>
          <a:noFill/>
          <a:ln>
            <a:noFill/>
          </a:ln>
        </p:spPr>
      </p:pic>
      <p:cxnSp>
        <p:nvCxnSpPr>
          <p:cNvPr id="146" name="Google Shape;146;p20"/>
          <p:cNvCxnSpPr>
            <a:stCxn id="138" idx="1"/>
          </p:cNvCxnSpPr>
          <p:nvPr/>
        </p:nvCxnSpPr>
        <p:spPr>
          <a:xfrm rot="10800000">
            <a:off x="6222046" y="3696874"/>
            <a:ext cx="1334700" cy="633300"/>
          </a:xfrm>
          <a:prstGeom prst="straightConnector1">
            <a:avLst/>
          </a:prstGeom>
          <a:noFill/>
          <a:ln cap="flat" cmpd="sng" w="19050">
            <a:solidFill>
              <a:srgbClr val="FF9900"/>
            </a:solidFill>
            <a:prstDash val="solid"/>
            <a:round/>
            <a:headEnd len="med" w="med" type="none"/>
            <a:tailEnd len="med" w="med" type="triangle"/>
          </a:ln>
        </p:spPr>
      </p:cxnSp>
      <p:cxnSp>
        <p:nvCxnSpPr>
          <p:cNvPr id="147" name="Google Shape;147;p20"/>
          <p:cNvCxnSpPr/>
          <p:nvPr/>
        </p:nvCxnSpPr>
        <p:spPr>
          <a:xfrm flipH="1">
            <a:off x="6951375" y="2452125"/>
            <a:ext cx="135900" cy="634800"/>
          </a:xfrm>
          <a:prstGeom prst="straightConnector1">
            <a:avLst/>
          </a:prstGeom>
          <a:noFill/>
          <a:ln cap="flat" cmpd="sng" w="19050">
            <a:solidFill>
              <a:schemeClr val="dk1"/>
            </a:solidFill>
            <a:prstDash val="solid"/>
            <a:round/>
            <a:headEnd len="med" w="med" type="triangle"/>
            <a:tailEnd len="med" w="med" type="none"/>
          </a:ln>
        </p:spPr>
      </p:cxnSp>
      <p:sp>
        <p:nvSpPr>
          <p:cNvPr id="148" name="Google Shape;148;p20"/>
          <p:cNvSpPr txBox="1"/>
          <p:nvPr/>
        </p:nvSpPr>
        <p:spPr>
          <a:xfrm>
            <a:off x="6720529" y="2171884"/>
            <a:ext cx="860100" cy="35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a:solidFill>
                  <a:schemeClr val="dk2"/>
                </a:solidFill>
              </a:rPr>
              <a:t>刷房卡</a:t>
            </a:r>
            <a:endParaRPr>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1"/>
          <p:cNvSpPr txBox="1"/>
          <p:nvPr>
            <p:ph type="title"/>
          </p:nvPr>
        </p:nvSpPr>
        <p:spPr>
          <a:xfrm>
            <a:off x="224691" y="20925"/>
            <a:ext cx="4675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solidFill>
                  <a:srgbClr val="002F4A"/>
                </a:solidFill>
              </a:rPr>
              <a:t>硬體架構 (含I/O)</a:t>
            </a:r>
            <a:endParaRPr sz="3000">
              <a:solidFill>
                <a:schemeClr val="dk2"/>
              </a:solidFill>
            </a:endParaRPr>
          </a:p>
        </p:txBody>
      </p:sp>
      <p:sp>
        <p:nvSpPr>
          <p:cNvPr id="154" name="Google Shape;154;p21"/>
          <p:cNvSpPr txBox="1"/>
          <p:nvPr/>
        </p:nvSpPr>
        <p:spPr>
          <a:xfrm>
            <a:off x="8862132" y="4883004"/>
            <a:ext cx="150900" cy="184800"/>
          </a:xfrm>
          <a:prstGeom prst="rect">
            <a:avLst/>
          </a:prstGeom>
          <a:noFill/>
          <a:ln>
            <a:noFill/>
          </a:ln>
        </p:spPr>
        <p:txBody>
          <a:bodyPr anchorCtr="0" anchor="t" bIns="22850" lIns="45725" spcFirstLastPara="1" rIns="45725" wrap="square" tIns="22850">
            <a:spAutoFit/>
          </a:bodyPr>
          <a:lstStyle/>
          <a:p>
            <a:pPr indent="0" lvl="0" marL="0" marR="0" rtl="0" algn="l">
              <a:spcBef>
                <a:spcPts val="0"/>
              </a:spcBef>
              <a:spcAft>
                <a:spcPts val="0"/>
              </a:spcAft>
              <a:buNone/>
            </a:pPr>
            <a:r>
              <a:rPr lang="zh-TW" sz="900">
                <a:solidFill>
                  <a:srgbClr val="31394D"/>
                </a:solidFill>
                <a:latin typeface="Calibri"/>
                <a:ea typeface="Calibri"/>
                <a:cs typeface="Calibri"/>
                <a:sym typeface="Calibri"/>
              </a:rPr>
              <a:t>6</a:t>
            </a:r>
            <a:endParaRPr sz="900">
              <a:solidFill>
                <a:srgbClr val="31394D"/>
              </a:solidFill>
              <a:latin typeface="Calibri"/>
              <a:ea typeface="Calibri"/>
              <a:cs typeface="Calibri"/>
              <a:sym typeface="Calibri"/>
            </a:endParaRPr>
          </a:p>
        </p:txBody>
      </p:sp>
      <p:sp>
        <p:nvSpPr>
          <p:cNvPr id="155" name="Google Shape;155;p21"/>
          <p:cNvSpPr txBox="1"/>
          <p:nvPr/>
        </p:nvSpPr>
        <p:spPr>
          <a:xfrm>
            <a:off x="849025" y="1242726"/>
            <a:ext cx="6710100" cy="3514200"/>
          </a:xfrm>
          <a:prstGeom prst="rect">
            <a:avLst/>
          </a:prstGeom>
          <a:noFill/>
          <a:ln>
            <a:noFill/>
          </a:ln>
        </p:spPr>
        <p:txBody>
          <a:bodyPr anchorCtr="0" anchor="t" bIns="34275" lIns="68575" spcFirstLastPara="1" rIns="68575" wrap="square" tIns="34275">
            <a:normAutofit/>
          </a:bodyPr>
          <a:lstStyle/>
          <a:p>
            <a:pPr indent="-330200" lvl="0" marL="457200" rtl="0" algn="l">
              <a:lnSpc>
                <a:spcPct val="150000"/>
              </a:lnSpc>
              <a:spcBef>
                <a:spcPts val="800"/>
              </a:spcBef>
              <a:spcAft>
                <a:spcPts val="0"/>
              </a:spcAft>
              <a:buClr>
                <a:srgbClr val="31394D"/>
              </a:buClr>
              <a:buSzPts val="1600"/>
              <a:buChar char="●"/>
            </a:pPr>
            <a:r>
              <a:rPr lang="zh-TW" sz="1600">
                <a:solidFill>
                  <a:srgbClr val="31394D"/>
                </a:solidFill>
              </a:rPr>
              <a:t>Server端</a:t>
            </a:r>
            <a:endParaRPr sz="1600">
              <a:solidFill>
                <a:srgbClr val="31394D"/>
              </a:solidFill>
            </a:endParaRPr>
          </a:p>
          <a:p>
            <a:pPr indent="-330200" lvl="1" marL="914400" rtl="0" algn="l">
              <a:lnSpc>
                <a:spcPct val="150000"/>
              </a:lnSpc>
              <a:spcBef>
                <a:spcPts val="0"/>
              </a:spcBef>
              <a:spcAft>
                <a:spcPts val="0"/>
              </a:spcAft>
              <a:buClr>
                <a:srgbClr val="31394D"/>
              </a:buClr>
              <a:buSzPts val="1600"/>
              <a:buChar char="○"/>
            </a:pPr>
            <a:r>
              <a:rPr lang="zh-TW" sz="1600">
                <a:solidFill>
                  <a:srgbClr val="31394D"/>
                </a:solidFill>
              </a:rPr>
              <a:t>Raspberry pi </a:t>
            </a:r>
            <a:endParaRPr sz="1600">
              <a:solidFill>
                <a:srgbClr val="31394D"/>
              </a:solidFill>
            </a:endParaRPr>
          </a:p>
          <a:p>
            <a:pPr indent="-330200" lvl="0" marL="457200" rtl="0" algn="l">
              <a:lnSpc>
                <a:spcPct val="150000"/>
              </a:lnSpc>
              <a:spcBef>
                <a:spcPts val="0"/>
              </a:spcBef>
              <a:spcAft>
                <a:spcPts val="0"/>
              </a:spcAft>
              <a:buClr>
                <a:srgbClr val="31394D"/>
              </a:buClr>
              <a:buSzPts val="1600"/>
              <a:buChar char="●"/>
            </a:pPr>
            <a:r>
              <a:rPr lang="zh-TW" sz="1600">
                <a:solidFill>
                  <a:srgbClr val="31394D"/>
                </a:solidFill>
              </a:rPr>
              <a:t>Client端:</a:t>
            </a:r>
            <a:endParaRPr sz="1600">
              <a:solidFill>
                <a:srgbClr val="31394D"/>
              </a:solidFill>
            </a:endParaRPr>
          </a:p>
          <a:p>
            <a:pPr indent="-330200" lvl="1" marL="914400" rtl="0" algn="l">
              <a:lnSpc>
                <a:spcPct val="150000"/>
              </a:lnSpc>
              <a:spcBef>
                <a:spcPts val="0"/>
              </a:spcBef>
              <a:spcAft>
                <a:spcPts val="0"/>
              </a:spcAft>
              <a:buClr>
                <a:srgbClr val="31394D"/>
              </a:buClr>
              <a:buSzPts val="1600"/>
              <a:buChar char="○"/>
            </a:pPr>
            <a:r>
              <a:rPr lang="zh-TW" sz="1600">
                <a:solidFill>
                  <a:srgbClr val="31394D"/>
                </a:solidFill>
              </a:rPr>
              <a:t>Raspberry pi </a:t>
            </a:r>
            <a:endParaRPr sz="1600">
              <a:solidFill>
                <a:srgbClr val="31394D"/>
              </a:solidFill>
            </a:endParaRPr>
          </a:p>
          <a:p>
            <a:pPr indent="-330200" lvl="1" marL="914400" rtl="0" algn="l">
              <a:lnSpc>
                <a:spcPct val="150000"/>
              </a:lnSpc>
              <a:spcBef>
                <a:spcPts val="0"/>
              </a:spcBef>
              <a:spcAft>
                <a:spcPts val="0"/>
              </a:spcAft>
              <a:buClr>
                <a:srgbClr val="31394D"/>
              </a:buClr>
              <a:buSzPts val="1600"/>
              <a:buChar char="○"/>
            </a:pPr>
            <a:r>
              <a:rPr lang="zh-TW" sz="1600">
                <a:solidFill>
                  <a:srgbClr val="31394D"/>
                </a:solidFill>
              </a:rPr>
              <a:t>1個按鈕 (切換顯示下一個讀書室的狀態)</a:t>
            </a:r>
            <a:endParaRPr sz="1600">
              <a:solidFill>
                <a:srgbClr val="31394D"/>
              </a:solidFill>
            </a:endParaRPr>
          </a:p>
          <a:p>
            <a:pPr indent="-330200" lvl="1" marL="914400" rtl="0" algn="l">
              <a:lnSpc>
                <a:spcPct val="150000"/>
              </a:lnSpc>
              <a:spcBef>
                <a:spcPts val="0"/>
              </a:spcBef>
              <a:spcAft>
                <a:spcPts val="0"/>
              </a:spcAft>
              <a:buClr>
                <a:srgbClr val="31394D"/>
              </a:buClr>
              <a:buSzPts val="1600"/>
              <a:buChar char="○"/>
            </a:pPr>
            <a:r>
              <a:rPr lang="zh-TW" sz="1600">
                <a:solidFill>
                  <a:srgbClr val="31394D"/>
                </a:solidFill>
              </a:rPr>
              <a:t>1個七段顯示器 (顯示當前讀書室號碼)</a:t>
            </a:r>
            <a:endParaRPr sz="1600">
              <a:solidFill>
                <a:srgbClr val="31394D"/>
              </a:solidFill>
            </a:endParaRPr>
          </a:p>
          <a:p>
            <a:pPr indent="-330200" lvl="1" marL="914400" rtl="0" algn="l">
              <a:lnSpc>
                <a:spcPct val="150000"/>
              </a:lnSpc>
              <a:spcBef>
                <a:spcPts val="0"/>
              </a:spcBef>
              <a:spcAft>
                <a:spcPts val="0"/>
              </a:spcAft>
              <a:buClr>
                <a:srgbClr val="31394D"/>
              </a:buClr>
              <a:buSzPts val="1600"/>
              <a:buChar char="○"/>
            </a:pPr>
            <a:r>
              <a:rPr lang="zh-TW" sz="1600">
                <a:solidFill>
                  <a:srgbClr val="31394D"/>
                </a:solidFill>
              </a:rPr>
              <a:t>3種顏色LED (顯示當前讀書室狀態)</a:t>
            </a:r>
            <a:endParaRPr sz="1600">
              <a:solidFill>
                <a:srgbClr val="31394D"/>
              </a:solidFill>
            </a:endParaRPr>
          </a:p>
          <a:p>
            <a:pPr indent="-330200" lvl="1" marL="914400" rtl="0" algn="l">
              <a:lnSpc>
                <a:spcPct val="150000"/>
              </a:lnSpc>
              <a:spcBef>
                <a:spcPts val="0"/>
              </a:spcBef>
              <a:spcAft>
                <a:spcPts val="0"/>
              </a:spcAft>
              <a:buClr>
                <a:srgbClr val="31394D"/>
              </a:buClr>
              <a:buSzPts val="1600"/>
              <a:buChar char="○"/>
            </a:pPr>
            <a:r>
              <a:rPr lang="zh-TW" sz="1600">
                <a:solidFill>
                  <a:srgbClr val="31394D"/>
                </a:solidFill>
              </a:rPr>
              <a:t>RFID (刷房卡)</a:t>
            </a:r>
            <a:endParaRPr sz="1600">
              <a:solidFill>
                <a:srgbClr val="31394D"/>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9" name="Shape 159"/>
        <p:cNvGrpSpPr/>
        <p:nvPr/>
      </p:nvGrpSpPr>
      <p:grpSpPr>
        <a:xfrm>
          <a:off x="0" y="0"/>
          <a:ext cx="0" cy="0"/>
          <a:chOff x="0" y="0"/>
          <a:chExt cx="0" cy="0"/>
        </a:xfrm>
      </p:grpSpPr>
      <p:sp>
        <p:nvSpPr>
          <p:cNvPr id="160" name="Google Shape;160;p22"/>
          <p:cNvSpPr txBox="1"/>
          <p:nvPr>
            <p:ph type="title"/>
          </p:nvPr>
        </p:nvSpPr>
        <p:spPr>
          <a:xfrm>
            <a:off x="224691" y="20925"/>
            <a:ext cx="4675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solidFill>
                  <a:srgbClr val="002F4A"/>
                </a:solidFill>
              </a:rPr>
              <a:t>軟體設計</a:t>
            </a:r>
            <a:endParaRPr>
              <a:solidFill>
                <a:srgbClr val="002F4A"/>
              </a:solidFill>
            </a:endParaRPr>
          </a:p>
          <a:p>
            <a:pPr indent="0" lvl="0" marL="0" rtl="0" algn="l">
              <a:lnSpc>
                <a:spcPct val="200000"/>
              </a:lnSpc>
              <a:spcBef>
                <a:spcPts val="0"/>
              </a:spcBef>
              <a:spcAft>
                <a:spcPts val="1200"/>
              </a:spcAft>
              <a:buNone/>
            </a:pPr>
            <a:r>
              <a:t/>
            </a:r>
            <a:endParaRPr sz="3000">
              <a:solidFill>
                <a:schemeClr val="dk2"/>
              </a:solidFill>
            </a:endParaRPr>
          </a:p>
        </p:txBody>
      </p:sp>
      <p:sp>
        <p:nvSpPr>
          <p:cNvPr id="161" name="Google Shape;161;p22"/>
          <p:cNvSpPr txBox="1"/>
          <p:nvPr/>
        </p:nvSpPr>
        <p:spPr>
          <a:xfrm>
            <a:off x="2724250" y="5307275"/>
            <a:ext cx="6890400" cy="2647500"/>
          </a:xfrm>
          <a:prstGeom prst="rect">
            <a:avLst/>
          </a:prstGeom>
          <a:noFill/>
          <a:ln>
            <a:noFill/>
          </a:ln>
        </p:spPr>
        <p:txBody>
          <a:bodyPr anchorCtr="0" anchor="t" bIns="91425" lIns="91425" spcFirstLastPara="1" rIns="91425" wrap="square" tIns="91425">
            <a:spAutoFit/>
          </a:bodyPr>
          <a:lstStyle/>
          <a:p>
            <a:pPr indent="-330200" lvl="0" marL="457200" rtl="0" algn="l">
              <a:lnSpc>
                <a:spcPct val="150000"/>
              </a:lnSpc>
              <a:spcBef>
                <a:spcPts val="0"/>
              </a:spcBef>
              <a:spcAft>
                <a:spcPts val="0"/>
              </a:spcAft>
              <a:buClr>
                <a:srgbClr val="333333"/>
              </a:buClr>
              <a:buSzPts val="1600"/>
              <a:buFont typeface="Roboto"/>
              <a:buChar char="●"/>
            </a:pPr>
            <a:r>
              <a:rPr b="1" lang="zh-TW" sz="1600">
                <a:solidFill>
                  <a:srgbClr val="333333"/>
                </a:solidFill>
                <a:latin typeface="Microsoft JhengHei"/>
                <a:ea typeface="Microsoft JhengHei"/>
                <a:cs typeface="Microsoft JhengHei"/>
                <a:sym typeface="Microsoft JhengHei"/>
              </a:rPr>
              <a:t>Client</a:t>
            </a:r>
            <a:r>
              <a:rPr lang="zh-TW" sz="1600">
                <a:solidFill>
                  <a:srgbClr val="333333"/>
                </a:solidFill>
                <a:latin typeface="Microsoft JhengHei"/>
                <a:ea typeface="Microsoft JhengHei"/>
                <a:cs typeface="Microsoft JhengHei"/>
                <a:sym typeface="Microsoft JhengHei"/>
              </a:rPr>
              <a:t>: 從 server 讀取房間狀態，</a:t>
            </a:r>
            <a:endParaRPr sz="1600">
              <a:solidFill>
                <a:srgbClr val="333333"/>
              </a:solidFill>
              <a:latin typeface="Microsoft JhengHei"/>
              <a:ea typeface="Microsoft JhengHei"/>
              <a:cs typeface="Microsoft JhengHei"/>
              <a:sym typeface="Microsoft JhengHei"/>
            </a:endParaRPr>
          </a:p>
          <a:p>
            <a:pPr indent="0" lvl="0" marL="457200" rtl="0" algn="l">
              <a:lnSpc>
                <a:spcPct val="150000"/>
              </a:lnSpc>
              <a:spcBef>
                <a:spcPts val="0"/>
              </a:spcBef>
              <a:spcAft>
                <a:spcPts val="0"/>
              </a:spcAft>
              <a:buNone/>
            </a:pPr>
            <a:r>
              <a:rPr lang="zh-TW" sz="1600">
                <a:solidFill>
                  <a:srgbClr val="333333"/>
                </a:solidFill>
                <a:latin typeface="Microsoft JhengHei"/>
                <a:ea typeface="Microsoft JhengHei"/>
                <a:cs typeface="Microsoft JhengHei"/>
                <a:sym typeface="Microsoft JhengHei"/>
              </a:rPr>
              <a:t>並顯示在七段顯示器畫面。</a:t>
            </a:r>
            <a:endParaRPr sz="1600">
              <a:solidFill>
                <a:srgbClr val="333333"/>
              </a:solidFill>
              <a:latin typeface="Microsoft JhengHei"/>
              <a:ea typeface="Microsoft JhengHei"/>
              <a:cs typeface="Microsoft JhengHei"/>
              <a:sym typeface="Microsoft JhengHei"/>
            </a:endParaRPr>
          </a:p>
          <a:p>
            <a:pPr indent="0" lvl="0" marL="457200" rtl="0" algn="l">
              <a:lnSpc>
                <a:spcPct val="150000"/>
              </a:lnSpc>
              <a:spcBef>
                <a:spcPts val="0"/>
              </a:spcBef>
              <a:spcAft>
                <a:spcPts val="0"/>
              </a:spcAft>
              <a:buNone/>
            </a:pPr>
            <a:r>
              <a:rPr lang="zh-TW" sz="1600">
                <a:solidFill>
                  <a:srgbClr val="333333"/>
                </a:solidFill>
                <a:latin typeface="Microsoft JhengHei"/>
                <a:ea typeface="Microsoft JhengHei"/>
                <a:cs typeface="Microsoft JhengHei"/>
                <a:sym typeface="Microsoft JhengHei"/>
              </a:rPr>
              <a:t>將訂房客戶操控的動作送給 server。</a:t>
            </a:r>
            <a:endParaRPr sz="1600">
              <a:solidFill>
                <a:srgbClr val="333333"/>
              </a:solidFill>
              <a:latin typeface="Microsoft JhengHei"/>
              <a:ea typeface="Microsoft JhengHei"/>
              <a:cs typeface="Microsoft JhengHei"/>
              <a:sym typeface="Microsoft JhengHei"/>
            </a:endParaRPr>
          </a:p>
          <a:p>
            <a:pPr indent="-330200" lvl="0" marL="457200" rtl="0" algn="l">
              <a:lnSpc>
                <a:spcPct val="150000"/>
              </a:lnSpc>
              <a:spcBef>
                <a:spcPts val="0"/>
              </a:spcBef>
              <a:spcAft>
                <a:spcPts val="0"/>
              </a:spcAft>
              <a:buClr>
                <a:srgbClr val="333333"/>
              </a:buClr>
              <a:buSzPts val="1600"/>
              <a:buFont typeface="Roboto"/>
              <a:buChar char="●"/>
            </a:pPr>
            <a:r>
              <a:rPr b="1" lang="zh-TW" sz="1600">
                <a:solidFill>
                  <a:srgbClr val="333333"/>
                </a:solidFill>
                <a:latin typeface="Microsoft JhengHei"/>
                <a:ea typeface="Microsoft JhengHei"/>
                <a:cs typeface="Microsoft JhengHei"/>
                <a:sym typeface="Microsoft JhengHei"/>
              </a:rPr>
              <a:t>Server(主程式)</a:t>
            </a:r>
            <a:r>
              <a:rPr lang="zh-TW" sz="1600">
                <a:solidFill>
                  <a:srgbClr val="333333"/>
                </a:solidFill>
                <a:latin typeface="Microsoft JhengHei"/>
                <a:ea typeface="Microsoft JhengHei"/>
                <a:cs typeface="Microsoft JhengHei"/>
                <a:sym typeface="Microsoft JhengHei"/>
              </a:rPr>
              <a:t>: 接收 client 送來的操控動作，</a:t>
            </a:r>
            <a:endParaRPr sz="1600">
              <a:solidFill>
                <a:srgbClr val="333333"/>
              </a:solidFill>
              <a:latin typeface="Microsoft JhengHei"/>
              <a:ea typeface="Microsoft JhengHei"/>
              <a:cs typeface="Microsoft JhengHei"/>
              <a:sym typeface="Microsoft JhengHei"/>
            </a:endParaRPr>
          </a:p>
          <a:p>
            <a:pPr indent="0" lvl="0" marL="457200" rtl="0" algn="l">
              <a:lnSpc>
                <a:spcPct val="150000"/>
              </a:lnSpc>
              <a:spcBef>
                <a:spcPts val="0"/>
              </a:spcBef>
              <a:spcAft>
                <a:spcPts val="0"/>
              </a:spcAft>
              <a:buNone/>
            </a:pPr>
            <a:r>
              <a:rPr lang="zh-TW" sz="1600">
                <a:solidFill>
                  <a:srgbClr val="333333"/>
                </a:solidFill>
                <a:latin typeface="Microsoft JhengHei"/>
                <a:ea typeface="Microsoft JhengHei"/>
                <a:cs typeface="Microsoft JhengHei"/>
                <a:sym typeface="Microsoft JhengHei"/>
              </a:rPr>
              <a:t>並計算房間狀態、時間等。</a:t>
            </a:r>
            <a:endParaRPr sz="1600">
              <a:solidFill>
                <a:srgbClr val="333333"/>
              </a:solidFill>
              <a:latin typeface="Microsoft JhengHei"/>
              <a:ea typeface="Microsoft JhengHei"/>
              <a:cs typeface="Microsoft JhengHei"/>
              <a:sym typeface="Microsoft JhengHei"/>
            </a:endParaRPr>
          </a:p>
          <a:p>
            <a:pPr indent="0" lvl="0" marL="457200" rtl="0" algn="l">
              <a:lnSpc>
                <a:spcPct val="150000"/>
              </a:lnSpc>
              <a:spcBef>
                <a:spcPts val="0"/>
              </a:spcBef>
              <a:spcAft>
                <a:spcPts val="0"/>
              </a:spcAft>
              <a:buNone/>
            </a:pPr>
            <a:r>
              <a:rPr lang="zh-TW" sz="1600">
                <a:solidFill>
                  <a:srgbClr val="333333"/>
                </a:solidFill>
                <a:latin typeface="Microsoft JhengHei"/>
                <a:ea typeface="Microsoft JhengHei"/>
                <a:cs typeface="Microsoft JhengHei"/>
                <a:sym typeface="Microsoft JhengHei"/>
              </a:rPr>
              <a:t>最後將所有更新送回 client</a:t>
            </a:r>
            <a:endParaRPr sz="1600">
              <a:solidFill>
                <a:srgbClr val="333333"/>
              </a:solidFill>
              <a:latin typeface="Microsoft JhengHei"/>
              <a:ea typeface="Microsoft JhengHei"/>
              <a:cs typeface="Microsoft JhengHei"/>
              <a:sym typeface="Microsoft JhengHei"/>
            </a:endParaRPr>
          </a:p>
          <a:p>
            <a:pPr indent="-330200" lvl="0" marL="457200" rtl="0" algn="l">
              <a:lnSpc>
                <a:spcPct val="150000"/>
              </a:lnSpc>
              <a:spcBef>
                <a:spcPts val="0"/>
              </a:spcBef>
              <a:spcAft>
                <a:spcPts val="0"/>
              </a:spcAft>
              <a:buClr>
                <a:srgbClr val="333333"/>
              </a:buClr>
              <a:buSzPts val="1600"/>
              <a:buFont typeface="Roboto"/>
              <a:buChar char="●"/>
            </a:pPr>
            <a:r>
              <a:rPr b="1" lang="zh-TW" sz="1600">
                <a:solidFill>
                  <a:srgbClr val="333333"/>
                </a:solidFill>
                <a:latin typeface="Microsoft JhengHei"/>
                <a:ea typeface="Microsoft JhengHei"/>
                <a:cs typeface="Microsoft JhengHei"/>
                <a:sym typeface="Microsoft JhengHei"/>
              </a:rPr>
              <a:t>Driver</a:t>
            </a:r>
            <a:r>
              <a:rPr lang="zh-TW" sz="1600">
                <a:solidFill>
                  <a:srgbClr val="333333"/>
                </a:solidFill>
                <a:latin typeface="Microsoft JhengHei"/>
                <a:ea typeface="Microsoft JhengHei"/>
                <a:cs typeface="Microsoft JhengHei"/>
                <a:sym typeface="Microsoft JhengHei"/>
              </a:rPr>
              <a:t>: 讀取按鈕狀態</a:t>
            </a:r>
            <a:endParaRPr sz="1600">
              <a:solidFill>
                <a:srgbClr val="333333"/>
              </a:solidFill>
              <a:latin typeface="Microsoft JhengHei"/>
              <a:ea typeface="Microsoft JhengHei"/>
              <a:cs typeface="Microsoft JhengHei"/>
              <a:sym typeface="Microsoft JhengHei"/>
            </a:endParaRPr>
          </a:p>
        </p:txBody>
      </p:sp>
      <p:pic>
        <p:nvPicPr>
          <p:cNvPr id="162" name="Google Shape;162;p22" title="未命名绘图.drawio (1).png"/>
          <p:cNvPicPr preferRelativeResize="0"/>
          <p:nvPr/>
        </p:nvPicPr>
        <p:blipFill rotWithShape="1">
          <a:blip r:embed="rId3">
            <a:alphaModFix/>
          </a:blip>
          <a:srcRect b="0" l="0" r="0" t="61811"/>
          <a:stretch/>
        </p:blipFill>
        <p:spPr>
          <a:xfrm>
            <a:off x="1909400" y="0"/>
            <a:ext cx="2229825" cy="500655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3"/>
          <p:cNvSpPr txBox="1"/>
          <p:nvPr>
            <p:ph type="title"/>
          </p:nvPr>
        </p:nvSpPr>
        <p:spPr>
          <a:xfrm>
            <a:off x="224691" y="20925"/>
            <a:ext cx="4675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solidFill>
                  <a:srgbClr val="002F4A"/>
                </a:solidFill>
              </a:rPr>
              <a:t>軟體設計</a:t>
            </a:r>
            <a:endParaRPr>
              <a:solidFill>
                <a:srgbClr val="002F4A"/>
              </a:solidFill>
            </a:endParaRPr>
          </a:p>
          <a:p>
            <a:pPr indent="0" lvl="0" marL="0" rtl="0" algn="l">
              <a:lnSpc>
                <a:spcPct val="200000"/>
              </a:lnSpc>
              <a:spcBef>
                <a:spcPts val="0"/>
              </a:spcBef>
              <a:spcAft>
                <a:spcPts val="1200"/>
              </a:spcAft>
              <a:buNone/>
            </a:pPr>
            <a:r>
              <a:t/>
            </a:r>
            <a:endParaRPr sz="3000">
              <a:solidFill>
                <a:schemeClr val="dk2"/>
              </a:solidFill>
            </a:endParaRPr>
          </a:p>
        </p:txBody>
      </p:sp>
      <p:pic>
        <p:nvPicPr>
          <p:cNvPr id="168" name="Google Shape;168;p23"/>
          <p:cNvPicPr preferRelativeResize="0"/>
          <p:nvPr/>
        </p:nvPicPr>
        <p:blipFill>
          <a:blip r:embed="rId3">
            <a:alphaModFix/>
          </a:blip>
          <a:stretch>
            <a:fillRect/>
          </a:stretch>
        </p:blipFill>
        <p:spPr>
          <a:xfrm>
            <a:off x="59000" y="727350"/>
            <a:ext cx="2486025" cy="4010025"/>
          </a:xfrm>
          <a:prstGeom prst="rect">
            <a:avLst/>
          </a:prstGeom>
          <a:noFill/>
          <a:ln>
            <a:noFill/>
          </a:ln>
        </p:spPr>
      </p:pic>
      <p:sp>
        <p:nvSpPr>
          <p:cNvPr id="169" name="Google Shape;169;p23"/>
          <p:cNvSpPr txBox="1"/>
          <p:nvPr/>
        </p:nvSpPr>
        <p:spPr>
          <a:xfrm>
            <a:off x="2545025" y="727350"/>
            <a:ext cx="58416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800">
                <a:solidFill>
                  <a:schemeClr val="dk2"/>
                </a:solidFill>
              </a:rPr>
              <a:t>Server: </a:t>
            </a:r>
            <a:endParaRPr sz="1800">
              <a:solidFill>
                <a:schemeClr val="dk2"/>
              </a:solidFill>
            </a:endParaRPr>
          </a:p>
          <a:p>
            <a:pPr indent="0" lvl="0" marL="0" rtl="0" algn="l">
              <a:spcBef>
                <a:spcPts val="0"/>
              </a:spcBef>
              <a:spcAft>
                <a:spcPts val="0"/>
              </a:spcAft>
              <a:buNone/>
            </a:pPr>
            <a:r>
              <a:rPr lang="zh-TW" sz="1800">
                <a:solidFill>
                  <a:schemeClr val="dk2"/>
                </a:solidFill>
              </a:rPr>
              <a:t>   timer thread : 定期 release  </a:t>
            </a:r>
            <a:endParaRPr sz="1800">
              <a:solidFill>
                <a:schemeClr val="dk2"/>
              </a:solidFill>
            </a:endParaRPr>
          </a:p>
          <a:p>
            <a:pPr indent="0" lvl="0" marL="0" rtl="0" algn="l">
              <a:spcBef>
                <a:spcPts val="0"/>
              </a:spcBef>
              <a:spcAft>
                <a:spcPts val="0"/>
              </a:spcAft>
              <a:buNone/>
            </a:pPr>
            <a:r>
              <a:rPr lang="zh-TW" sz="1800">
                <a:solidFill>
                  <a:schemeClr val="dk2"/>
                </a:solidFill>
              </a:rPr>
              <a:t>   button thread: read driver button (block wait)</a:t>
            </a:r>
            <a:endParaRPr sz="1800">
              <a:solidFill>
                <a:schemeClr val="dk2"/>
              </a:solidFill>
            </a:endParaRPr>
          </a:p>
          <a:p>
            <a:pPr indent="0" lvl="0" marL="0" rtl="0" algn="l">
              <a:spcBef>
                <a:spcPts val="0"/>
              </a:spcBef>
              <a:spcAft>
                <a:spcPts val="0"/>
              </a:spcAft>
              <a:buNone/>
            </a:pPr>
            <a:r>
              <a:rPr lang="zh-TW" sz="1800">
                <a:solidFill>
                  <a:schemeClr val="dk2"/>
                </a:solidFill>
              </a:rPr>
              <a:t>   client thread: 接收 client 命令 執行 reserve/checkin…   </a:t>
            </a:r>
            <a:endParaRPr sz="1800">
              <a:solidFill>
                <a:schemeClr val="dk2"/>
              </a:solidFill>
            </a:endParaRPr>
          </a:p>
          <a:p>
            <a:pPr indent="0" lvl="0" marL="0" rtl="0" algn="l">
              <a:spcBef>
                <a:spcPts val="0"/>
              </a:spcBef>
              <a:spcAft>
                <a:spcPts val="0"/>
              </a:spcAft>
              <a:buNone/>
            </a:pPr>
            <a:r>
              <a:rPr lang="zh-TW" sz="1800">
                <a:solidFill>
                  <a:schemeClr val="dk2"/>
                </a:solidFill>
              </a:rPr>
              <a:t>    並 read/write driver 來更新 led/7seg</a:t>
            </a:r>
            <a:endParaRPr sz="1800">
              <a:solidFill>
                <a:schemeClr val="dk2"/>
              </a:solidFill>
            </a:endParaRPr>
          </a:p>
          <a:p>
            <a:pPr indent="0" lvl="0" marL="0" rtl="0" algn="l">
              <a:spcBef>
                <a:spcPts val="0"/>
              </a:spcBef>
              <a:spcAft>
                <a:spcPts val="0"/>
              </a:spcAft>
              <a:buNone/>
            </a:pPr>
            <a:r>
              <a:rPr lang="zh-TW" sz="1800">
                <a:solidFill>
                  <a:schemeClr val="dk2"/>
                </a:solidFill>
              </a:rPr>
              <a:t>Client: 傳送使用者 command 給 server</a:t>
            </a:r>
            <a:endParaRPr sz="1800">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4"/>
          <p:cNvSpPr txBox="1"/>
          <p:nvPr>
            <p:ph type="title"/>
          </p:nvPr>
        </p:nvSpPr>
        <p:spPr>
          <a:xfrm>
            <a:off x="224691" y="20925"/>
            <a:ext cx="4675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solidFill>
                  <a:srgbClr val="002F4A"/>
                </a:solidFill>
              </a:rPr>
              <a:t>結合上課所學</a:t>
            </a:r>
            <a:endParaRPr>
              <a:solidFill>
                <a:srgbClr val="002F4A"/>
              </a:solidFill>
            </a:endParaRPr>
          </a:p>
          <a:p>
            <a:pPr indent="0" lvl="0" marL="0" rtl="0" algn="l">
              <a:lnSpc>
                <a:spcPct val="200000"/>
              </a:lnSpc>
              <a:spcBef>
                <a:spcPts val="0"/>
              </a:spcBef>
              <a:spcAft>
                <a:spcPts val="1200"/>
              </a:spcAft>
              <a:buNone/>
            </a:pPr>
            <a:r>
              <a:t/>
            </a:r>
            <a:endParaRPr sz="3000">
              <a:solidFill>
                <a:schemeClr val="dk2"/>
              </a:solidFill>
            </a:endParaRPr>
          </a:p>
        </p:txBody>
      </p:sp>
      <p:sp>
        <p:nvSpPr>
          <p:cNvPr id="175" name="Google Shape;175;p24"/>
          <p:cNvSpPr txBox="1"/>
          <p:nvPr>
            <p:ph idx="1" type="body"/>
          </p:nvPr>
        </p:nvSpPr>
        <p:spPr>
          <a:xfrm>
            <a:off x="311700" y="907618"/>
            <a:ext cx="8520600" cy="3975300"/>
          </a:xfrm>
          <a:prstGeom prst="rect">
            <a:avLst/>
          </a:prstGeom>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chemeClr val="dk1"/>
              </a:buClr>
              <a:buSzPts val="1400"/>
              <a:buFont typeface="Microsoft JhengHei"/>
              <a:buChar char="●"/>
            </a:pPr>
            <a:r>
              <a:rPr lang="zh-TW" sz="1400">
                <a:solidFill>
                  <a:schemeClr val="dk1"/>
                </a:solidFill>
                <a:latin typeface="Microsoft JhengHei"/>
                <a:ea typeface="Microsoft JhengHei"/>
                <a:cs typeface="Microsoft JhengHei"/>
                <a:sym typeface="Microsoft JhengHei"/>
              </a:rPr>
              <a:t>Sync（Mutex／Semaphore／Spinlock／Cond.）</a:t>
            </a:r>
            <a:endParaRPr sz="1400">
              <a:solidFill>
                <a:schemeClr val="dk1"/>
              </a:solidFill>
              <a:latin typeface="Microsoft JhengHei"/>
              <a:ea typeface="Microsoft JhengHei"/>
              <a:cs typeface="Microsoft JhengHei"/>
              <a:sym typeface="Microsoft JhengHei"/>
            </a:endParaRPr>
          </a:p>
          <a:p>
            <a:pPr indent="-317500" lvl="1" marL="914400" rtl="0" algn="l">
              <a:lnSpc>
                <a:spcPct val="115000"/>
              </a:lnSpc>
              <a:spcBef>
                <a:spcPts val="0"/>
              </a:spcBef>
              <a:spcAft>
                <a:spcPts val="0"/>
              </a:spcAft>
              <a:buClr>
                <a:schemeClr val="dk1"/>
              </a:buClr>
              <a:buSzPts val="1400"/>
              <a:buFont typeface="Microsoft JhengHei"/>
              <a:buChar char="○"/>
            </a:pPr>
            <a:r>
              <a:rPr lang="zh-TW">
                <a:solidFill>
                  <a:schemeClr val="dk1"/>
                </a:solidFill>
                <a:latin typeface="Microsoft JhengHei"/>
                <a:ea typeface="Microsoft JhengHei"/>
                <a:cs typeface="Microsoft JhengHei"/>
                <a:sym typeface="Microsoft JhengHei"/>
              </a:rPr>
              <a:t>以 mutex 保護「讀書室狀態表與使用次數計數」。</a:t>
            </a:r>
            <a:endParaRPr>
              <a:solidFill>
                <a:schemeClr val="dk1"/>
              </a:solidFill>
              <a:latin typeface="Microsoft JhengHei"/>
              <a:ea typeface="Microsoft JhengHei"/>
              <a:cs typeface="Microsoft JhengHei"/>
              <a:sym typeface="Microsoft JhengHei"/>
            </a:endParaRPr>
          </a:p>
          <a:p>
            <a:pPr indent="-317500" lvl="1" marL="914400" rtl="0" algn="l">
              <a:lnSpc>
                <a:spcPct val="115000"/>
              </a:lnSpc>
              <a:spcBef>
                <a:spcPts val="0"/>
              </a:spcBef>
              <a:spcAft>
                <a:spcPts val="0"/>
              </a:spcAft>
              <a:buClr>
                <a:schemeClr val="dk1"/>
              </a:buClr>
              <a:buSzPts val="1400"/>
              <a:buFont typeface="Microsoft JhengHei"/>
              <a:buChar char="○"/>
            </a:pPr>
            <a:r>
              <a:rPr lang="zh-TW">
                <a:solidFill>
                  <a:schemeClr val="dk1"/>
                </a:solidFill>
                <a:latin typeface="Microsoft JhengHei"/>
                <a:ea typeface="Microsoft JhengHei"/>
                <a:cs typeface="Microsoft JhengHei"/>
                <a:sym typeface="Microsoft JhengHei"/>
              </a:rPr>
              <a:t>報到與延長採原子檢查後更新（check-then-act 在同一鎖內）。</a:t>
            </a:r>
            <a:endParaRPr>
              <a:solidFill>
                <a:schemeClr val="dk1"/>
              </a:solidFill>
              <a:latin typeface="Microsoft JhengHei"/>
              <a:ea typeface="Microsoft JhengHei"/>
              <a:cs typeface="Microsoft JhengHei"/>
              <a:sym typeface="Microsoft JhengHei"/>
            </a:endParaRPr>
          </a:p>
          <a:p>
            <a:pPr indent="-317500" lvl="1" marL="914400" rtl="0" algn="l">
              <a:lnSpc>
                <a:spcPct val="115000"/>
              </a:lnSpc>
              <a:spcBef>
                <a:spcPts val="0"/>
              </a:spcBef>
              <a:spcAft>
                <a:spcPts val="0"/>
              </a:spcAft>
              <a:buClr>
                <a:schemeClr val="dk1"/>
              </a:buClr>
              <a:buSzPts val="1400"/>
              <a:buFont typeface="Microsoft JhengHei"/>
              <a:buChar char="○"/>
            </a:pPr>
            <a:r>
              <a:rPr lang="zh-TW">
                <a:solidFill>
                  <a:schemeClr val="dk1"/>
                </a:solidFill>
                <a:latin typeface="Microsoft JhengHei"/>
                <a:ea typeface="Microsoft JhengHei"/>
                <a:cs typeface="Microsoft JhengHei"/>
                <a:sym typeface="Microsoft JhengHei"/>
              </a:rPr>
              <a:t>以條件變數或 wait-queue 喚醒等待端（例如候補清單）。</a:t>
            </a:r>
            <a:endParaRPr>
              <a:solidFill>
                <a:schemeClr val="dk1"/>
              </a:solidFill>
              <a:latin typeface="Microsoft JhengHei"/>
              <a:ea typeface="Microsoft JhengHei"/>
              <a:cs typeface="Microsoft JhengHei"/>
              <a:sym typeface="Microsoft JhengHei"/>
            </a:endParaRPr>
          </a:p>
          <a:p>
            <a:pPr indent="-317500" lvl="0" marL="457200" rtl="0" algn="l">
              <a:lnSpc>
                <a:spcPct val="115000"/>
              </a:lnSpc>
              <a:spcBef>
                <a:spcPts val="0"/>
              </a:spcBef>
              <a:spcAft>
                <a:spcPts val="0"/>
              </a:spcAft>
              <a:buClr>
                <a:schemeClr val="dk1"/>
              </a:buClr>
              <a:buSzPts val="1400"/>
              <a:buFont typeface="Microsoft JhengHei"/>
              <a:buChar char="●"/>
            </a:pPr>
            <a:r>
              <a:rPr lang="zh-TW" sz="1400">
                <a:solidFill>
                  <a:schemeClr val="dk1"/>
                </a:solidFill>
                <a:latin typeface="Microsoft JhengHei"/>
                <a:ea typeface="Microsoft JhengHei"/>
                <a:cs typeface="Microsoft JhengHei"/>
                <a:sym typeface="Microsoft JhengHei"/>
              </a:rPr>
              <a:t>Comm</a:t>
            </a:r>
            <a:endParaRPr sz="1400">
              <a:solidFill>
                <a:schemeClr val="dk1"/>
              </a:solidFill>
              <a:latin typeface="Microsoft JhengHei"/>
              <a:ea typeface="Microsoft JhengHei"/>
              <a:cs typeface="Microsoft JhengHei"/>
              <a:sym typeface="Microsoft JhengHei"/>
            </a:endParaRPr>
          </a:p>
          <a:p>
            <a:pPr indent="-317500" lvl="1" marL="914400" rtl="0" algn="l">
              <a:lnSpc>
                <a:spcPct val="115000"/>
              </a:lnSpc>
              <a:spcBef>
                <a:spcPts val="0"/>
              </a:spcBef>
              <a:spcAft>
                <a:spcPts val="0"/>
              </a:spcAft>
              <a:buClr>
                <a:schemeClr val="dk1"/>
              </a:buClr>
              <a:buSzPts val="1400"/>
              <a:buFont typeface="Microsoft JhengHei"/>
              <a:buChar char="○"/>
            </a:pPr>
            <a:r>
              <a:rPr lang="zh-TW">
                <a:solidFill>
                  <a:schemeClr val="dk1"/>
                </a:solidFill>
                <a:latin typeface="Microsoft JhengHei"/>
                <a:ea typeface="Microsoft JhengHei"/>
                <a:cs typeface="Microsoft JhengHei"/>
                <a:sym typeface="Microsoft JhengHei"/>
              </a:rPr>
              <a:t>狀態讀取 : 透過 cat 或 read() 讀取狀態。</a:t>
            </a:r>
            <a:endParaRPr>
              <a:solidFill>
                <a:schemeClr val="dk1"/>
              </a:solidFill>
              <a:latin typeface="Microsoft JhengHei"/>
              <a:ea typeface="Microsoft JhengHei"/>
              <a:cs typeface="Microsoft JhengHei"/>
              <a:sym typeface="Microsoft JhengHei"/>
            </a:endParaRPr>
          </a:p>
          <a:p>
            <a:pPr indent="-330200" lvl="1" marL="914400" rtl="0" algn="l">
              <a:lnSpc>
                <a:spcPct val="115000"/>
              </a:lnSpc>
              <a:spcBef>
                <a:spcPts val="0"/>
              </a:spcBef>
              <a:spcAft>
                <a:spcPts val="0"/>
              </a:spcAft>
              <a:buClr>
                <a:schemeClr val="dk1"/>
              </a:buClr>
              <a:buSzPts val="1600"/>
              <a:buFont typeface="Microsoft JhengHei"/>
              <a:buChar char="○"/>
            </a:pPr>
            <a:r>
              <a:rPr lang="zh-TW">
                <a:solidFill>
                  <a:schemeClr val="dk1"/>
                </a:solidFill>
                <a:latin typeface="Microsoft JhengHei"/>
                <a:ea typeface="Microsoft JhengHei"/>
                <a:cs typeface="Microsoft JhengHei"/>
                <a:sym typeface="Microsoft JhengHei"/>
              </a:rPr>
              <a:t>指令通道：使用 ioctl() 或 write() 傳送指令 {reserve, checkin, release, extend}</a:t>
            </a:r>
            <a:r>
              <a:rPr lang="zh-TW" sz="1600">
                <a:solidFill>
                  <a:schemeClr val="dk1"/>
                </a:solidFill>
                <a:latin typeface="Microsoft JhengHei"/>
                <a:ea typeface="Microsoft JhengHei"/>
                <a:cs typeface="Microsoft JhengHei"/>
                <a:sym typeface="Microsoft JhengHei"/>
              </a:rPr>
              <a:t>。</a:t>
            </a:r>
            <a:endParaRPr sz="1600">
              <a:solidFill>
                <a:schemeClr val="dk1"/>
              </a:solidFill>
              <a:latin typeface="Microsoft JhengHei"/>
              <a:ea typeface="Microsoft JhengHei"/>
              <a:cs typeface="Microsoft JhengHei"/>
              <a:sym typeface="Microsoft JhengHei"/>
            </a:endParaRPr>
          </a:p>
          <a:p>
            <a:pPr indent="0" lvl="0" marL="0" rtl="0" algn="l">
              <a:lnSpc>
                <a:spcPct val="95000"/>
              </a:lnSpc>
              <a:spcBef>
                <a:spcPts val="0"/>
              </a:spcBef>
              <a:spcAft>
                <a:spcPts val="1200"/>
              </a:spcAft>
              <a:buSzPts val="275"/>
              <a:buNone/>
            </a:pPr>
            <a:r>
              <a:t/>
            </a:r>
            <a:endParaRPr sz="45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5"/>
          <p:cNvSpPr txBox="1"/>
          <p:nvPr>
            <p:ph type="title"/>
          </p:nvPr>
        </p:nvSpPr>
        <p:spPr>
          <a:xfrm>
            <a:off x="224691" y="20925"/>
            <a:ext cx="4675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solidFill>
                  <a:srgbClr val="002F4A"/>
                </a:solidFill>
              </a:rPr>
              <a:t>結合上課所學</a:t>
            </a:r>
            <a:endParaRPr>
              <a:solidFill>
                <a:srgbClr val="002F4A"/>
              </a:solidFill>
            </a:endParaRPr>
          </a:p>
          <a:p>
            <a:pPr indent="0" lvl="0" marL="0" rtl="0" algn="l">
              <a:lnSpc>
                <a:spcPct val="200000"/>
              </a:lnSpc>
              <a:spcBef>
                <a:spcPts val="0"/>
              </a:spcBef>
              <a:spcAft>
                <a:spcPts val="1200"/>
              </a:spcAft>
              <a:buNone/>
            </a:pPr>
            <a:r>
              <a:t/>
            </a:r>
            <a:endParaRPr sz="3000">
              <a:solidFill>
                <a:schemeClr val="dk2"/>
              </a:solidFill>
            </a:endParaRPr>
          </a:p>
        </p:txBody>
      </p:sp>
      <p:sp>
        <p:nvSpPr>
          <p:cNvPr id="181" name="Google Shape;181;p25"/>
          <p:cNvSpPr txBox="1"/>
          <p:nvPr>
            <p:ph idx="1" type="body"/>
          </p:nvPr>
        </p:nvSpPr>
        <p:spPr>
          <a:xfrm>
            <a:off x="311700" y="877720"/>
            <a:ext cx="8520600" cy="33537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Char char="●"/>
            </a:pPr>
            <a:r>
              <a:rPr lang="zh-TW" sz="1400">
                <a:solidFill>
                  <a:schemeClr val="dk1"/>
                </a:solidFill>
              </a:rPr>
              <a:t>I/O（Device driver／Device table）</a:t>
            </a:r>
            <a:endParaRPr sz="1400">
              <a:solidFill>
                <a:schemeClr val="dk1"/>
              </a:solidFill>
            </a:endParaRPr>
          </a:p>
          <a:p>
            <a:pPr indent="-317500" lvl="1" marL="914400" rtl="0" algn="l">
              <a:spcBef>
                <a:spcPts val="0"/>
              </a:spcBef>
              <a:spcAft>
                <a:spcPts val="0"/>
              </a:spcAft>
              <a:buClr>
                <a:schemeClr val="dk1"/>
              </a:buClr>
              <a:buSzPts val="1400"/>
              <a:buChar char="○"/>
            </a:pPr>
            <a:r>
              <a:rPr lang="zh-TW">
                <a:solidFill>
                  <a:schemeClr val="dk1"/>
                </a:solidFill>
              </a:rPr>
              <a:t>GPIO 驅動控制三色 LED；建立 </a:t>
            </a:r>
            <a:r>
              <a:rPr lang="zh-TW">
                <a:solidFill>
                  <a:srgbClr val="188038"/>
                </a:solidFill>
                <a:latin typeface="Roboto Mono"/>
                <a:ea typeface="Roboto Mono"/>
                <a:cs typeface="Roboto Mono"/>
                <a:sym typeface="Roboto Mono"/>
              </a:rPr>
              <a:t>/dev/room</a:t>
            </a:r>
            <a:r>
              <a:rPr lang="zh-TW">
                <a:solidFill>
                  <a:schemeClr val="dk1"/>
                </a:solidFill>
              </a:rPr>
              <a:t> 介面。</a:t>
            </a:r>
            <a:endParaRPr>
              <a:solidFill>
                <a:schemeClr val="dk1"/>
              </a:solidFill>
            </a:endParaRPr>
          </a:p>
          <a:p>
            <a:pPr indent="-317500" lvl="1" marL="914400" rtl="0" algn="l">
              <a:spcBef>
                <a:spcPts val="0"/>
              </a:spcBef>
              <a:spcAft>
                <a:spcPts val="0"/>
              </a:spcAft>
              <a:buClr>
                <a:schemeClr val="dk1"/>
              </a:buClr>
              <a:buSzPts val="1400"/>
              <a:buChar char="○"/>
            </a:pPr>
            <a:r>
              <a:rPr lang="zh-TW">
                <a:solidFill>
                  <a:schemeClr val="dk1"/>
                </a:solidFill>
              </a:rPr>
              <a:t>去抖按鍵更新當前讀書室號碼(讓7seg 顯示下一個)。</a:t>
            </a:r>
            <a:endParaRPr>
              <a:solidFill>
                <a:schemeClr val="dk1"/>
              </a:solidFill>
            </a:endParaRPr>
          </a:p>
          <a:p>
            <a:pPr indent="-317500" lvl="1" marL="914400" rtl="0" algn="l">
              <a:spcBef>
                <a:spcPts val="0"/>
              </a:spcBef>
              <a:spcAft>
                <a:spcPts val="0"/>
              </a:spcAft>
              <a:buClr>
                <a:schemeClr val="dk1"/>
              </a:buClr>
              <a:buSzPts val="1400"/>
              <a:buChar char="○"/>
            </a:pPr>
            <a:r>
              <a:rPr lang="zh-TW">
                <a:solidFill>
                  <a:schemeClr val="dk1"/>
                </a:solidFill>
              </a:rPr>
              <a:t>GPIO 驅動控制七段顯示器顯示當前讀書室號碼</a:t>
            </a:r>
            <a:endParaRPr>
              <a:solidFill>
                <a:schemeClr val="dk1"/>
              </a:solidFill>
            </a:endParaRPr>
          </a:p>
          <a:p>
            <a:pPr indent="-317500" lvl="0" marL="457200" rtl="0" algn="l">
              <a:spcBef>
                <a:spcPts val="0"/>
              </a:spcBef>
              <a:spcAft>
                <a:spcPts val="0"/>
              </a:spcAft>
              <a:buClr>
                <a:schemeClr val="dk1"/>
              </a:buClr>
              <a:buSzPts val="1400"/>
              <a:buChar char="●"/>
            </a:pPr>
            <a:r>
              <a:rPr lang="zh-TW" sz="1400">
                <a:solidFill>
                  <a:schemeClr val="dk1"/>
                </a:solidFill>
              </a:rPr>
              <a:t>INT（Exception／Priority／Context）</a:t>
            </a:r>
            <a:endParaRPr sz="1400">
              <a:solidFill>
                <a:schemeClr val="dk1"/>
              </a:solidFill>
            </a:endParaRPr>
          </a:p>
          <a:p>
            <a:pPr indent="-317500" lvl="1" marL="914400" rtl="0" algn="l">
              <a:spcBef>
                <a:spcPts val="0"/>
              </a:spcBef>
              <a:spcAft>
                <a:spcPts val="0"/>
              </a:spcAft>
              <a:buClr>
                <a:schemeClr val="dk1"/>
              </a:buClr>
              <a:buSzPts val="1400"/>
              <a:buChar char="○"/>
            </a:pPr>
            <a:r>
              <a:rPr lang="zh-TW">
                <a:solidFill>
                  <a:schemeClr val="dk1"/>
                </a:solidFill>
              </a:rPr>
              <a:t>Timer 中斷為 top-half 設定 flag ，底半部(workqueue)更新狀態與排程工作。</a:t>
            </a:r>
            <a:endParaRPr>
              <a:solidFill>
                <a:schemeClr val="dk1"/>
              </a:solidFill>
            </a:endParaRPr>
          </a:p>
          <a:p>
            <a:pPr indent="-317500" lvl="1" marL="914400" rtl="0" algn="l">
              <a:spcBef>
                <a:spcPts val="0"/>
              </a:spcBef>
              <a:spcAft>
                <a:spcPts val="0"/>
              </a:spcAft>
              <a:buClr>
                <a:schemeClr val="dk1"/>
              </a:buClr>
              <a:buSzPts val="1400"/>
              <a:buChar char="○"/>
            </a:pPr>
            <a:r>
              <a:rPr lang="zh-TW">
                <a:solidFill>
                  <a:schemeClr val="dk1"/>
                </a:solidFill>
              </a:rPr>
              <a:t>中斷內不睡眠、不做長耗時操作。</a:t>
            </a:r>
            <a:endParaRPr>
              <a:solidFill>
                <a:schemeClr val="dk1"/>
              </a:solidFill>
            </a:endParaRPr>
          </a:p>
          <a:p>
            <a:pPr indent="-317500" lvl="1" marL="914400" rtl="0" algn="l">
              <a:spcBef>
                <a:spcPts val="0"/>
              </a:spcBef>
              <a:spcAft>
                <a:spcPts val="0"/>
              </a:spcAft>
              <a:buClr>
                <a:schemeClr val="dk1"/>
              </a:buClr>
              <a:buSzPts val="1400"/>
              <a:buChar char="○"/>
            </a:pPr>
            <a:r>
              <a:rPr lang="zh-TW">
                <a:solidFill>
                  <a:schemeClr val="dk1"/>
                </a:solidFill>
              </a:rPr>
              <a:t>Button 中斷也是盡量保持簡短</a:t>
            </a:r>
            <a:endParaRPr>
              <a:solidFill>
                <a:schemeClr val="dk1"/>
              </a:solidFill>
            </a:endParaRPr>
          </a:p>
          <a:p>
            <a:pPr indent="-317500" lvl="0" marL="457200" rtl="0" algn="l">
              <a:spcBef>
                <a:spcPts val="0"/>
              </a:spcBef>
              <a:spcAft>
                <a:spcPts val="0"/>
              </a:spcAft>
              <a:buClr>
                <a:schemeClr val="dk1"/>
              </a:buClr>
              <a:buSzPts val="1400"/>
              <a:buChar char="●"/>
            </a:pPr>
            <a:r>
              <a:rPr lang="zh-TW" sz="1400">
                <a:solidFill>
                  <a:schemeClr val="dk1"/>
                </a:solidFill>
              </a:rPr>
              <a:t>Timer（TINT／Soft timer／Signal）</a:t>
            </a:r>
            <a:endParaRPr sz="1400">
              <a:solidFill>
                <a:schemeClr val="dk1"/>
              </a:solidFill>
            </a:endParaRPr>
          </a:p>
          <a:p>
            <a:pPr indent="-317500" lvl="1" marL="914400" rtl="0" algn="l">
              <a:spcBef>
                <a:spcPts val="0"/>
              </a:spcBef>
              <a:spcAft>
                <a:spcPts val="0"/>
              </a:spcAft>
              <a:buSzPts val="1400"/>
              <a:buChar char="○"/>
            </a:pPr>
            <a:r>
              <a:rPr lang="zh-TW">
                <a:solidFill>
                  <a:srgbClr val="188038"/>
                </a:solidFill>
                <a:latin typeface="Roboto Mono"/>
                <a:ea typeface="Roboto Mono"/>
                <a:cs typeface="Roboto Mono"/>
                <a:sym typeface="Roboto Mono"/>
              </a:rPr>
              <a:t>T_checkin=5 分</a:t>
            </a:r>
            <a:r>
              <a:rPr lang="zh-TW">
                <a:solidFill>
                  <a:schemeClr val="dk1"/>
                </a:solidFill>
              </a:rPr>
              <a:t>：預約後未報到自動取消。</a:t>
            </a:r>
            <a:endParaRPr>
              <a:solidFill>
                <a:schemeClr val="dk1"/>
              </a:solidFill>
            </a:endParaRPr>
          </a:p>
          <a:p>
            <a:pPr indent="-317500" lvl="1" marL="914400" rtl="0" algn="l">
              <a:spcBef>
                <a:spcPts val="0"/>
              </a:spcBef>
              <a:spcAft>
                <a:spcPts val="0"/>
              </a:spcAft>
              <a:buSzPts val="1400"/>
              <a:buChar char="○"/>
            </a:pPr>
            <a:r>
              <a:rPr lang="zh-TW">
                <a:solidFill>
                  <a:srgbClr val="188038"/>
                </a:solidFill>
                <a:latin typeface="Roboto Mono"/>
                <a:ea typeface="Roboto Mono"/>
                <a:cs typeface="Roboto Mono"/>
                <a:sym typeface="Roboto Mono"/>
              </a:rPr>
              <a:t>T_end=30 分</a:t>
            </a:r>
            <a:r>
              <a:rPr lang="zh-TW">
                <a:solidFill>
                  <a:schemeClr val="dk1"/>
                </a:solidFill>
              </a:rPr>
              <a:t>：時段到期自動釋放；到期前 5 分轉 LED=黃並通知。</a:t>
            </a:r>
            <a:endParaRPr>
              <a:solidFill>
                <a:schemeClr val="dk1"/>
              </a:solidFill>
              <a:latin typeface="Microsoft JhengHei"/>
              <a:ea typeface="Microsoft JhengHei"/>
              <a:cs typeface="Microsoft JhengHei"/>
              <a:sym typeface="Microsoft JhengHei"/>
            </a:endParaRPr>
          </a:p>
          <a:p>
            <a:pPr indent="0" lvl="0" marL="0" rtl="0" algn="l">
              <a:lnSpc>
                <a:spcPct val="95000"/>
              </a:lnSpc>
              <a:spcBef>
                <a:spcPts val="1200"/>
              </a:spcBef>
              <a:spcAft>
                <a:spcPts val="1200"/>
              </a:spcAft>
              <a:buSzPts val="275"/>
              <a:buNone/>
            </a:pPr>
            <a:r>
              <a:t/>
            </a:r>
            <a:endParaRPr sz="45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6"/>
          <p:cNvSpPr txBox="1"/>
          <p:nvPr>
            <p:ph type="title"/>
          </p:nvPr>
        </p:nvSpPr>
        <p:spPr>
          <a:xfrm>
            <a:off x="-36475" y="36725"/>
            <a:ext cx="1539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全局變數</a:t>
            </a:r>
            <a:endParaRPr/>
          </a:p>
        </p:txBody>
      </p:sp>
      <p:sp>
        <p:nvSpPr>
          <p:cNvPr id="187" name="Google Shape;187;p26"/>
          <p:cNvSpPr txBox="1"/>
          <p:nvPr>
            <p:ph idx="1" type="body"/>
          </p:nvPr>
        </p:nvSpPr>
        <p:spPr>
          <a:xfrm>
            <a:off x="90100" y="852689"/>
            <a:ext cx="4365000" cy="1947900"/>
          </a:xfrm>
          <a:prstGeom prst="rect">
            <a:avLst/>
          </a:prstGeom>
        </p:spPr>
        <p:txBody>
          <a:bodyPr anchorCtr="0" anchor="t" bIns="91425" lIns="91425" spcFirstLastPara="1" rIns="91425" wrap="square" tIns="91425">
            <a:normAutofit lnSpcReduction="20000"/>
          </a:bodyPr>
          <a:lstStyle/>
          <a:p>
            <a:pPr indent="0" lvl="0" marL="0" rtl="0" algn="l">
              <a:lnSpc>
                <a:spcPct val="95000"/>
              </a:lnSpc>
              <a:spcBef>
                <a:spcPts val="0"/>
              </a:spcBef>
              <a:spcAft>
                <a:spcPts val="0"/>
              </a:spcAft>
              <a:buSzPts val="852"/>
              <a:buNone/>
            </a:pPr>
            <a:r>
              <a:rPr lang="zh-TW" sz="1295"/>
              <a:t>MAX_ROOMS : </a:t>
            </a:r>
            <a:r>
              <a:rPr lang="zh-TW" sz="1295"/>
              <a:t>5</a:t>
            </a:r>
            <a:r>
              <a:rPr lang="zh-TW" sz="1295"/>
              <a:t>   </a:t>
            </a:r>
            <a:endParaRPr sz="1295"/>
          </a:p>
          <a:p>
            <a:pPr indent="0" lvl="0" marL="0" rtl="0" algn="l">
              <a:lnSpc>
                <a:spcPct val="95000"/>
              </a:lnSpc>
              <a:spcBef>
                <a:spcPts val="1200"/>
              </a:spcBef>
              <a:spcAft>
                <a:spcPts val="0"/>
              </a:spcAft>
              <a:buSzPts val="852"/>
              <a:buNone/>
            </a:pPr>
            <a:r>
              <a:rPr lang="zh-TW" sz="1295"/>
              <a:t>SLOT_DURATION : 30 (s)  </a:t>
            </a:r>
            <a:endParaRPr sz="1295"/>
          </a:p>
          <a:p>
            <a:pPr indent="0" lvl="0" marL="0" rtl="0" algn="l">
              <a:lnSpc>
                <a:spcPct val="95000"/>
              </a:lnSpc>
              <a:spcBef>
                <a:spcPts val="1200"/>
              </a:spcBef>
              <a:spcAft>
                <a:spcPts val="0"/>
              </a:spcAft>
              <a:buSzPts val="852"/>
              <a:buNone/>
            </a:pPr>
            <a:r>
              <a:rPr lang="zh-TW" sz="1295"/>
              <a:t>CHECKIN_TIMEOUT: 5 (s)</a:t>
            </a:r>
            <a:endParaRPr sz="1295"/>
          </a:p>
          <a:p>
            <a:pPr indent="0" lvl="0" marL="0" rtl="0" algn="l">
              <a:lnSpc>
                <a:spcPct val="95000"/>
              </a:lnSpc>
              <a:spcBef>
                <a:spcPts val="1200"/>
              </a:spcBef>
              <a:spcAft>
                <a:spcPts val="0"/>
              </a:spcAft>
              <a:buSzPts val="852"/>
              <a:buNone/>
            </a:pPr>
            <a:r>
              <a:rPr lang="zh-TW" sz="1295"/>
              <a:t>TICK_MS : 100 (ms)  </a:t>
            </a:r>
            <a:endParaRPr sz="1295"/>
          </a:p>
          <a:p>
            <a:pPr indent="0" lvl="0" marL="0" rtl="0" algn="l">
              <a:lnSpc>
                <a:spcPct val="95000"/>
              </a:lnSpc>
              <a:spcBef>
                <a:spcPts val="1200"/>
              </a:spcBef>
              <a:spcAft>
                <a:spcPts val="0"/>
              </a:spcAft>
              <a:buSzPts val="852"/>
              <a:buNone/>
            </a:pPr>
            <a:r>
              <a:rPr lang="zh-TW" sz="1295"/>
              <a:t>WARN_REMAIN</a:t>
            </a:r>
            <a:r>
              <a:rPr lang="zh-TW" sz="1295"/>
              <a:t>_SEC 5(s)</a:t>
            </a:r>
            <a:endParaRPr sz="1295"/>
          </a:p>
          <a:p>
            <a:pPr indent="0" lvl="0" marL="0" rtl="0" algn="l">
              <a:lnSpc>
                <a:spcPct val="95000"/>
              </a:lnSpc>
              <a:spcBef>
                <a:spcPts val="1200"/>
              </a:spcBef>
              <a:spcAft>
                <a:spcPts val="1200"/>
              </a:spcAft>
              <a:buSzPts val="852"/>
              <a:buNone/>
            </a:pPr>
            <a:r>
              <a:rPr lang="zh-TW" sz="1295"/>
              <a:t>room_status_t: Free </a:t>
            </a:r>
            <a:r>
              <a:rPr lang="zh-TW" sz="1400">
                <a:solidFill>
                  <a:schemeClr val="dk1"/>
                </a:solidFill>
              </a:rPr>
              <a:t>🟢</a:t>
            </a:r>
            <a:r>
              <a:rPr lang="zh-TW" sz="1295"/>
              <a:t>, Reserved </a:t>
            </a:r>
            <a:r>
              <a:rPr lang="zh-TW" sz="1400">
                <a:solidFill>
                  <a:schemeClr val="dk1"/>
                </a:solidFill>
              </a:rPr>
              <a:t>🟡</a:t>
            </a:r>
            <a:r>
              <a:rPr lang="zh-TW" sz="1295"/>
              <a:t>, In_use </a:t>
            </a:r>
            <a:r>
              <a:rPr lang="zh-TW" sz="1400">
                <a:solidFill>
                  <a:schemeClr val="dk1"/>
                </a:solidFill>
              </a:rPr>
              <a:t>🔴</a:t>
            </a:r>
            <a:r>
              <a:rPr lang="zh-TW" sz="1295"/>
              <a:t>   </a:t>
            </a:r>
            <a:endParaRPr sz="1295"/>
          </a:p>
        </p:txBody>
      </p:sp>
      <p:sp>
        <p:nvSpPr>
          <p:cNvPr id="188" name="Google Shape;188;p26"/>
          <p:cNvSpPr txBox="1"/>
          <p:nvPr>
            <p:ph idx="1" type="body"/>
          </p:nvPr>
        </p:nvSpPr>
        <p:spPr>
          <a:xfrm>
            <a:off x="4027750" y="193875"/>
            <a:ext cx="4969500" cy="22551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zh-TW"/>
              <a:t>struct room_t {</a:t>
            </a:r>
            <a:endParaRPr/>
          </a:p>
          <a:p>
            <a:pPr indent="0" lvl="0" marL="0" rtl="0" algn="l">
              <a:spcBef>
                <a:spcPts val="1200"/>
              </a:spcBef>
              <a:spcAft>
                <a:spcPts val="0"/>
              </a:spcAft>
              <a:buNone/>
            </a:pPr>
            <a:r>
              <a:rPr lang="zh-TW"/>
              <a:t>   int id; </a:t>
            </a:r>
            <a:endParaRPr/>
          </a:p>
          <a:p>
            <a:pPr indent="0" lvl="0" marL="0" rtl="0" algn="l">
              <a:spcBef>
                <a:spcPts val="1200"/>
              </a:spcBef>
              <a:spcAft>
                <a:spcPts val="0"/>
              </a:spcAft>
              <a:buNone/>
            </a:pPr>
            <a:r>
              <a:rPr lang="zh-TW"/>
              <a:t>   room_status_t status;</a:t>
            </a:r>
            <a:endParaRPr/>
          </a:p>
          <a:p>
            <a:pPr indent="0" lvl="0" marL="0" rtl="0" algn="l">
              <a:spcBef>
                <a:spcPts val="1200"/>
              </a:spcBef>
              <a:spcAft>
                <a:spcPts val="0"/>
              </a:spcAft>
              <a:buNone/>
            </a:pPr>
            <a:r>
              <a:rPr lang="zh-TW"/>
              <a:t>   uint64_t reserve_tick; //tick when reserved/checkin </a:t>
            </a:r>
            <a:endParaRPr/>
          </a:p>
          <a:p>
            <a:pPr indent="0" lvl="0" marL="0" rtl="0" algn="l">
              <a:spcBef>
                <a:spcPts val="1200"/>
              </a:spcBef>
              <a:spcAft>
                <a:spcPts val="0"/>
              </a:spcAft>
              <a:buNone/>
            </a:pPr>
            <a:r>
              <a:rPr lang="zh-TW"/>
              <a:t>   int extend_used; //0: not extended, 1:extended</a:t>
            </a:r>
            <a:endParaRPr/>
          </a:p>
          <a:p>
            <a:pPr indent="0" lvl="0" marL="0" rtl="0" algn="l">
              <a:spcBef>
                <a:spcPts val="1200"/>
              </a:spcBef>
              <a:spcAft>
                <a:spcPts val="1200"/>
              </a:spcAft>
              <a:buNone/>
            </a:pPr>
            <a:r>
              <a:rPr lang="zh-TW"/>
              <a:t>}</a:t>
            </a:r>
            <a:endParaRPr/>
          </a:p>
        </p:txBody>
      </p:sp>
      <p:sp>
        <p:nvSpPr>
          <p:cNvPr id="189" name="Google Shape;189;p26"/>
          <p:cNvSpPr txBox="1"/>
          <p:nvPr>
            <p:ph idx="1" type="body"/>
          </p:nvPr>
        </p:nvSpPr>
        <p:spPr>
          <a:xfrm>
            <a:off x="3748150" y="2800600"/>
            <a:ext cx="5249100" cy="18702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0"/>
              </a:spcAft>
              <a:buSzPts val="852"/>
              <a:buNone/>
            </a:pPr>
            <a:r>
              <a:rPr lang="zh-TW" sz="1295"/>
              <a:t>room_t rooms[MAX_ROOMS]  </a:t>
            </a:r>
            <a:endParaRPr sz="1295"/>
          </a:p>
          <a:p>
            <a:pPr indent="0" lvl="0" marL="0" rtl="0" algn="l">
              <a:lnSpc>
                <a:spcPct val="95000"/>
              </a:lnSpc>
              <a:spcBef>
                <a:spcPts val="1200"/>
              </a:spcBef>
              <a:spcAft>
                <a:spcPts val="0"/>
              </a:spcAft>
              <a:buSzPts val="852"/>
              <a:buNone/>
            </a:pPr>
            <a:r>
              <a:rPr lang="zh-TW" sz="1295"/>
              <a:t>pthread_mutex_t room_mutex;   </a:t>
            </a:r>
            <a:endParaRPr sz="1295"/>
          </a:p>
          <a:p>
            <a:pPr indent="0" lvl="0" marL="0" rtl="0" algn="l">
              <a:lnSpc>
                <a:spcPct val="95000"/>
              </a:lnSpc>
              <a:spcBef>
                <a:spcPts val="1200"/>
              </a:spcBef>
              <a:spcAft>
                <a:spcPts val="0"/>
              </a:spcAft>
              <a:buSzPts val="852"/>
              <a:buNone/>
            </a:pPr>
            <a:r>
              <a:rPr lang="zh-TW" sz="1295"/>
              <a:t>int room_reservations_tody[MAX_ROOMS];//單日預約數量限制2次</a:t>
            </a:r>
            <a:endParaRPr sz="1295"/>
          </a:p>
          <a:p>
            <a:pPr indent="0" lvl="0" marL="0" rtl="0" algn="l">
              <a:lnSpc>
                <a:spcPct val="95000"/>
              </a:lnSpc>
              <a:spcBef>
                <a:spcPts val="1200"/>
              </a:spcBef>
              <a:spcAft>
                <a:spcPts val="0"/>
              </a:spcAft>
              <a:buSzPts val="852"/>
              <a:buNone/>
            </a:pPr>
            <a:r>
              <a:rPr lang="zh-TW" sz="1295"/>
              <a:t>sig_atomic_t g_tick; //global tick counter    </a:t>
            </a:r>
            <a:endParaRPr sz="1295"/>
          </a:p>
          <a:p>
            <a:pPr indent="0" lvl="0" marL="0" rtl="0" algn="l">
              <a:lnSpc>
                <a:spcPct val="95000"/>
              </a:lnSpc>
              <a:spcBef>
                <a:spcPts val="1200"/>
              </a:spcBef>
              <a:spcAft>
                <a:spcPts val="1200"/>
              </a:spcAft>
              <a:buSzPts val="852"/>
              <a:buNone/>
            </a:pPr>
            <a:r>
              <a:t/>
            </a:r>
            <a:endParaRPr sz="1295"/>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7"/>
          <p:cNvSpPr txBox="1"/>
          <p:nvPr>
            <p:ph type="title"/>
          </p:nvPr>
        </p:nvSpPr>
        <p:spPr>
          <a:xfrm>
            <a:off x="5634025" y="62675"/>
            <a:ext cx="2846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Server functions</a:t>
            </a:r>
            <a:endParaRPr/>
          </a:p>
        </p:txBody>
      </p:sp>
      <p:sp>
        <p:nvSpPr>
          <p:cNvPr id="195" name="Google Shape;195;p27"/>
          <p:cNvSpPr txBox="1"/>
          <p:nvPr>
            <p:ph idx="1" type="body"/>
          </p:nvPr>
        </p:nvSpPr>
        <p:spPr>
          <a:xfrm>
            <a:off x="4701600" y="635375"/>
            <a:ext cx="4442400" cy="4294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t>                 room_actions.h   </a:t>
            </a:r>
            <a:endParaRPr/>
          </a:p>
          <a:p>
            <a:pPr indent="0" lvl="0" marL="0" rtl="0" algn="l">
              <a:spcBef>
                <a:spcPts val="1200"/>
              </a:spcBef>
              <a:spcAft>
                <a:spcPts val="0"/>
              </a:spcAft>
              <a:buNone/>
            </a:pPr>
            <a:r>
              <a:rPr lang="zh-TW"/>
              <a:t>get_all_status(): 取得所有房間的 status</a:t>
            </a:r>
            <a:endParaRPr/>
          </a:p>
          <a:p>
            <a:pPr indent="0" lvl="0" marL="0" rtl="0" algn="l">
              <a:spcBef>
                <a:spcPts val="1200"/>
              </a:spcBef>
              <a:spcAft>
                <a:spcPts val="0"/>
              </a:spcAft>
              <a:buNone/>
            </a:pPr>
            <a:r>
              <a:rPr lang="zh-TW" sz="1000"/>
              <a:t>Room 0 |FREE (🟢) | Room 1 | FREE (🟢) | Room 2 | FREE (🟢) | </a:t>
            </a:r>
            <a:endParaRPr sz="1000"/>
          </a:p>
          <a:p>
            <a:pPr indent="0" lvl="0" marL="0" rtl="0" algn="l">
              <a:spcBef>
                <a:spcPts val="1200"/>
              </a:spcBef>
              <a:spcAft>
                <a:spcPts val="0"/>
              </a:spcAft>
              <a:buNone/>
            </a:pPr>
            <a:r>
              <a:rPr lang="zh-TW"/>
              <a:t>reserve_room(room_id): 預約房間</a:t>
            </a:r>
            <a:endParaRPr/>
          </a:p>
          <a:p>
            <a:pPr indent="0" lvl="0" marL="0" rtl="0" algn="l">
              <a:spcBef>
                <a:spcPts val="1200"/>
              </a:spcBef>
              <a:spcAft>
                <a:spcPts val="0"/>
              </a:spcAft>
              <a:buNone/>
            </a:pPr>
            <a:r>
              <a:rPr lang="zh-TW" sz="1000"/>
              <a:t>Room 0 |FREE (</a:t>
            </a:r>
            <a:r>
              <a:rPr lang="zh-TW" sz="1400">
                <a:solidFill>
                  <a:schemeClr val="dk1"/>
                </a:solidFill>
              </a:rPr>
              <a:t>🟡</a:t>
            </a:r>
            <a:r>
              <a:rPr lang="zh-TW" sz="1000"/>
              <a:t>) | Room 1 | FREE (🟢) | Room 2 | FREE (🟢) | </a:t>
            </a:r>
            <a:endParaRPr/>
          </a:p>
          <a:p>
            <a:pPr indent="0" lvl="0" marL="0" rtl="0" algn="l">
              <a:spcBef>
                <a:spcPts val="1200"/>
              </a:spcBef>
              <a:spcAft>
                <a:spcPts val="0"/>
              </a:spcAft>
              <a:buNone/>
            </a:pPr>
            <a:r>
              <a:rPr lang="zh-TW"/>
              <a:t>check_in(room_id): 現場完成報到</a:t>
            </a:r>
            <a:endParaRPr/>
          </a:p>
          <a:p>
            <a:pPr indent="0" lvl="0" marL="0" rtl="0" algn="l">
              <a:spcBef>
                <a:spcPts val="1200"/>
              </a:spcBef>
              <a:spcAft>
                <a:spcPts val="0"/>
              </a:spcAft>
              <a:buNone/>
            </a:pPr>
            <a:r>
              <a:rPr lang="zh-TW" sz="1000"/>
              <a:t>Room 0 |FREE (</a:t>
            </a:r>
            <a:r>
              <a:rPr lang="zh-TW" sz="1400">
                <a:solidFill>
                  <a:schemeClr val="dk1"/>
                </a:solidFill>
              </a:rPr>
              <a:t>🔴</a:t>
            </a:r>
            <a:r>
              <a:rPr lang="zh-TW" sz="1000"/>
              <a:t>) | Room 1 | FREE (🟢) | Room 2 | FREE (🟢) | </a:t>
            </a:r>
            <a:endParaRPr/>
          </a:p>
          <a:p>
            <a:pPr indent="0" lvl="0" marL="0" rtl="0" algn="l">
              <a:spcBef>
                <a:spcPts val="1200"/>
              </a:spcBef>
              <a:spcAft>
                <a:spcPts val="0"/>
              </a:spcAft>
              <a:buNone/>
            </a:pPr>
            <a:r>
              <a:rPr lang="zh-TW"/>
              <a:t>release_room(room_id): 歸還房間</a:t>
            </a:r>
            <a:endParaRPr/>
          </a:p>
          <a:p>
            <a:pPr indent="0" lvl="0" marL="0" rtl="0" algn="l">
              <a:spcBef>
                <a:spcPts val="1200"/>
              </a:spcBef>
              <a:spcAft>
                <a:spcPts val="0"/>
              </a:spcAft>
              <a:buNone/>
            </a:pPr>
            <a:r>
              <a:rPr lang="zh-TW" sz="1000"/>
              <a:t>Room 0 |FREE (🟢) | Room 1 | FREE (🟢) | Room 2 | FREE (🟢) | </a:t>
            </a:r>
            <a:endParaRPr/>
          </a:p>
          <a:p>
            <a:pPr indent="0" lvl="0" marL="0" rtl="0" algn="l">
              <a:spcBef>
                <a:spcPts val="1200"/>
              </a:spcBef>
              <a:spcAft>
                <a:spcPts val="1200"/>
              </a:spcAft>
              <a:buClr>
                <a:schemeClr val="dk1"/>
              </a:buClr>
              <a:buSzPts val="1100"/>
              <a:buFont typeface="Arial"/>
              <a:buNone/>
            </a:pPr>
            <a:r>
              <a:rPr lang="zh-TW"/>
              <a:t>extend_room(room_id): 延長時間</a:t>
            </a:r>
            <a:endParaRPr/>
          </a:p>
        </p:txBody>
      </p:sp>
      <p:sp>
        <p:nvSpPr>
          <p:cNvPr id="196" name="Google Shape;196;p27"/>
          <p:cNvSpPr txBox="1"/>
          <p:nvPr>
            <p:ph type="title"/>
          </p:nvPr>
        </p:nvSpPr>
        <p:spPr>
          <a:xfrm>
            <a:off x="489175" y="129959"/>
            <a:ext cx="2846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Client command</a:t>
            </a:r>
            <a:endParaRPr/>
          </a:p>
        </p:txBody>
      </p:sp>
      <p:sp>
        <p:nvSpPr>
          <p:cNvPr id="197" name="Google Shape;197;p27"/>
          <p:cNvSpPr txBox="1"/>
          <p:nvPr>
            <p:ph idx="1" type="body"/>
          </p:nvPr>
        </p:nvSpPr>
        <p:spPr>
          <a:xfrm>
            <a:off x="209375" y="695797"/>
            <a:ext cx="44424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t>                 room_client.c   </a:t>
            </a:r>
            <a:endParaRPr/>
          </a:p>
          <a:p>
            <a:pPr indent="0" lvl="0" marL="0" rtl="0" algn="l">
              <a:spcBef>
                <a:spcPts val="1200"/>
              </a:spcBef>
              <a:spcAft>
                <a:spcPts val="0"/>
              </a:spcAft>
              <a:buNone/>
            </a:pPr>
            <a:r>
              <a:rPr lang="zh-TW"/>
              <a:t>status              : 取得所有房間的 status</a:t>
            </a:r>
            <a:endParaRPr sz="1000"/>
          </a:p>
          <a:p>
            <a:pPr indent="0" lvl="0" marL="0" rtl="0" algn="l">
              <a:spcBef>
                <a:spcPts val="1200"/>
              </a:spcBef>
              <a:spcAft>
                <a:spcPts val="0"/>
              </a:spcAft>
              <a:buNone/>
            </a:pPr>
            <a:r>
              <a:rPr lang="zh-TW"/>
              <a:t>reserve   &lt;id&gt; :  預約房間</a:t>
            </a:r>
            <a:endParaRPr/>
          </a:p>
          <a:p>
            <a:pPr indent="0" lvl="0" marL="0" rtl="0" algn="l">
              <a:spcBef>
                <a:spcPts val="1200"/>
              </a:spcBef>
              <a:spcAft>
                <a:spcPts val="0"/>
              </a:spcAft>
              <a:buNone/>
            </a:pPr>
            <a:r>
              <a:rPr lang="zh-TW"/>
              <a:t>checkin   &lt;id&gt; : 現場完成報到</a:t>
            </a:r>
            <a:endParaRPr/>
          </a:p>
          <a:p>
            <a:pPr indent="0" lvl="0" marL="0" rtl="0" algn="l">
              <a:spcBef>
                <a:spcPts val="1200"/>
              </a:spcBef>
              <a:spcAft>
                <a:spcPts val="0"/>
              </a:spcAft>
              <a:buNone/>
            </a:pPr>
            <a:r>
              <a:rPr lang="zh-TW"/>
              <a:t>release    &lt;id&gt;: 歸還房間</a:t>
            </a:r>
            <a:endParaRPr/>
          </a:p>
          <a:p>
            <a:pPr indent="0" lvl="0" marL="0" rtl="0" algn="l">
              <a:spcBef>
                <a:spcPts val="1200"/>
              </a:spcBef>
              <a:spcAft>
                <a:spcPts val="1200"/>
              </a:spcAft>
              <a:buNone/>
            </a:pPr>
            <a:r>
              <a:rPr lang="zh-TW"/>
              <a:t>extend     &lt;id&gt;: 延長時間</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細部設計: 按鈕 interrupt </a:t>
            </a:r>
            <a:endParaRPr/>
          </a:p>
        </p:txBody>
      </p:sp>
      <p:pic>
        <p:nvPicPr>
          <p:cNvPr id="203" name="Google Shape;203;p28"/>
          <p:cNvPicPr preferRelativeResize="0"/>
          <p:nvPr/>
        </p:nvPicPr>
        <p:blipFill>
          <a:blip r:embed="rId3">
            <a:alphaModFix/>
          </a:blip>
          <a:stretch>
            <a:fillRect/>
          </a:stretch>
        </p:blipFill>
        <p:spPr>
          <a:xfrm>
            <a:off x="218650" y="2626738"/>
            <a:ext cx="5878425" cy="1768075"/>
          </a:xfrm>
          <a:prstGeom prst="rect">
            <a:avLst/>
          </a:prstGeom>
          <a:noFill/>
          <a:ln>
            <a:noFill/>
          </a:ln>
        </p:spPr>
      </p:pic>
      <p:sp>
        <p:nvSpPr>
          <p:cNvPr id="204" name="Google Shape;204;p28"/>
          <p:cNvSpPr txBox="1"/>
          <p:nvPr/>
        </p:nvSpPr>
        <p:spPr>
          <a:xfrm>
            <a:off x="339100" y="1287275"/>
            <a:ext cx="48729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800">
                <a:solidFill>
                  <a:schemeClr val="dk2"/>
                </a:solidFill>
              </a:rPr>
              <a:t>按鈕按下時倒通 vdd, 放開時斷路   </a:t>
            </a:r>
            <a:endParaRPr sz="1800">
              <a:solidFill>
                <a:schemeClr val="dk2"/>
              </a:solidFill>
            </a:endParaRPr>
          </a:p>
          <a:p>
            <a:pPr indent="0" lvl="0" marL="0" rtl="0" algn="l">
              <a:spcBef>
                <a:spcPts val="0"/>
              </a:spcBef>
              <a:spcAft>
                <a:spcPts val="0"/>
              </a:spcAft>
              <a:buNone/>
            </a:pPr>
            <a:r>
              <a:rPr lang="zh-TW" sz="1800">
                <a:solidFill>
                  <a:schemeClr val="dk2"/>
                </a:solidFill>
              </a:rPr>
              <a:t>所以我們使用 TRIGGER_RISING 在電壓上升的時候觸發 IRQ, 並呼叫 button_isr function</a:t>
            </a:r>
            <a:endParaRPr sz="1800">
              <a:solidFill>
                <a:schemeClr val="dk2"/>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9"/>
          <p:cNvSpPr txBox="1"/>
          <p:nvPr>
            <p:ph type="title"/>
          </p:nvPr>
        </p:nvSpPr>
        <p:spPr>
          <a:xfrm>
            <a:off x="140075" y="528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細部設計: </a:t>
            </a:r>
            <a:r>
              <a:rPr lang="zh-TW"/>
              <a:t>按鈕 interrupt </a:t>
            </a:r>
            <a:endParaRPr/>
          </a:p>
        </p:txBody>
      </p:sp>
      <p:pic>
        <p:nvPicPr>
          <p:cNvPr id="210" name="Google Shape;210;p29"/>
          <p:cNvPicPr preferRelativeResize="0"/>
          <p:nvPr/>
        </p:nvPicPr>
        <p:blipFill rotWithShape="1">
          <a:blip r:embed="rId3">
            <a:alphaModFix/>
          </a:blip>
          <a:srcRect b="0" l="0" r="3577" t="0"/>
          <a:stretch/>
        </p:blipFill>
        <p:spPr>
          <a:xfrm>
            <a:off x="4653600" y="1978925"/>
            <a:ext cx="4490400" cy="2900125"/>
          </a:xfrm>
          <a:prstGeom prst="rect">
            <a:avLst/>
          </a:prstGeom>
          <a:noFill/>
          <a:ln>
            <a:noFill/>
          </a:ln>
        </p:spPr>
      </p:pic>
      <p:sp>
        <p:nvSpPr>
          <p:cNvPr id="211" name="Google Shape;211;p29"/>
          <p:cNvSpPr txBox="1"/>
          <p:nvPr/>
        </p:nvSpPr>
        <p:spPr>
          <a:xfrm>
            <a:off x="4352400" y="665825"/>
            <a:ext cx="47100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800">
                <a:solidFill>
                  <a:schemeClr val="dk2"/>
                </a:solidFill>
              </a:rPr>
              <a:t>button_isr function 使用去抖機制</a:t>
            </a:r>
            <a:endParaRPr sz="1800">
              <a:solidFill>
                <a:schemeClr val="dk2"/>
              </a:solidFill>
            </a:endParaRPr>
          </a:p>
          <a:p>
            <a:pPr indent="0" lvl="0" marL="0" rtl="0" algn="l">
              <a:spcBef>
                <a:spcPts val="0"/>
              </a:spcBef>
              <a:spcAft>
                <a:spcPts val="0"/>
              </a:spcAft>
              <a:buClr>
                <a:schemeClr val="dk1"/>
              </a:buClr>
              <a:buSzPts val="1100"/>
              <a:buFont typeface="Arial"/>
              <a:buNone/>
            </a:pPr>
            <a:r>
              <a:rPr lang="zh-TW" sz="1800">
                <a:solidFill>
                  <a:schemeClr val="dk2"/>
                </a:solidFill>
              </a:rPr>
              <a:t>如果按下後會將 btn_press 設成 1, 並啟動Read 的 block wait </a:t>
            </a:r>
            <a:endParaRPr sz="1800">
              <a:solidFill>
                <a:schemeClr val="dk2"/>
              </a:solidFill>
            </a:endParaRPr>
          </a:p>
        </p:txBody>
      </p:sp>
      <p:pic>
        <p:nvPicPr>
          <p:cNvPr id="212" name="Google Shape;212;p29"/>
          <p:cNvPicPr preferRelativeResize="0"/>
          <p:nvPr/>
        </p:nvPicPr>
        <p:blipFill rotWithShape="1">
          <a:blip r:embed="rId4">
            <a:alphaModFix/>
          </a:blip>
          <a:srcRect b="0" l="0" r="6208" t="0"/>
          <a:stretch/>
        </p:blipFill>
        <p:spPr>
          <a:xfrm>
            <a:off x="81600" y="2104150"/>
            <a:ext cx="4572000" cy="2192450"/>
          </a:xfrm>
          <a:prstGeom prst="rect">
            <a:avLst/>
          </a:prstGeom>
          <a:noFill/>
          <a:ln>
            <a:noFill/>
          </a:ln>
        </p:spPr>
      </p:pic>
      <p:sp>
        <p:nvSpPr>
          <p:cNvPr id="213" name="Google Shape;213;p29"/>
          <p:cNvSpPr txBox="1"/>
          <p:nvPr/>
        </p:nvSpPr>
        <p:spPr>
          <a:xfrm>
            <a:off x="12600" y="794325"/>
            <a:ext cx="42465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800">
                <a:solidFill>
                  <a:schemeClr val="dk2"/>
                </a:solidFill>
              </a:rPr>
              <a:t>使用者呼叫 read 之後, 如果btn_pressed</a:t>
            </a:r>
            <a:endParaRPr sz="1800">
              <a:solidFill>
                <a:schemeClr val="dk2"/>
              </a:solidFill>
            </a:endParaRPr>
          </a:p>
          <a:p>
            <a:pPr indent="0" lvl="0" marL="0" rtl="0" algn="l">
              <a:spcBef>
                <a:spcPts val="0"/>
              </a:spcBef>
              <a:spcAft>
                <a:spcPts val="0"/>
              </a:spcAft>
              <a:buNone/>
            </a:pPr>
            <a:r>
              <a:rPr lang="zh-TW" sz="1800">
                <a:solidFill>
                  <a:schemeClr val="dk2"/>
                </a:solidFill>
              </a:rPr>
              <a:t>為0, 會block wait, 直到按鈕按下再回傳 “BTN:1” 給使用者</a:t>
            </a:r>
            <a:endParaRPr sz="1800">
              <a:solidFill>
                <a:schemeClr val="dk2"/>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zh-TW"/>
              <a:t>細部設計: waiting queue</a:t>
            </a:r>
            <a:endParaRPr/>
          </a:p>
        </p:txBody>
      </p:sp>
      <p:pic>
        <p:nvPicPr>
          <p:cNvPr id="219" name="Google Shape;219;p30"/>
          <p:cNvPicPr preferRelativeResize="0"/>
          <p:nvPr/>
        </p:nvPicPr>
        <p:blipFill>
          <a:blip r:embed="rId3">
            <a:alphaModFix/>
          </a:blip>
          <a:stretch>
            <a:fillRect/>
          </a:stretch>
        </p:blipFill>
        <p:spPr>
          <a:xfrm>
            <a:off x="4521675" y="540825"/>
            <a:ext cx="3864850" cy="3166700"/>
          </a:xfrm>
          <a:prstGeom prst="rect">
            <a:avLst/>
          </a:prstGeom>
          <a:noFill/>
          <a:ln>
            <a:noFill/>
          </a:ln>
        </p:spPr>
      </p:pic>
      <p:sp>
        <p:nvSpPr>
          <p:cNvPr id="220" name="Google Shape;220;p30"/>
          <p:cNvSpPr txBox="1"/>
          <p:nvPr/>
        </p:nvSpPr>
        <p:spPr>
          <a:xfrm>
            <a:off x="187525" y="1530700"/>
            <a:ext cx="47100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800">
                <a:solidFill>
                  <a:schemeClr val="dk2"/>
                </a:solidFill>
              </a:rPr>
              <a:t>一個簡單的 waiting queue  </a:t>
            </a:r>
            <a:endParaRPr sz="1800">
              <a:solidFill>
                <a:schemeClr val="dk2"/>
              </a:solidFill>
            </a:endParaRPr>
          </a:p>
          <a:p>
            <a:pPr indent="0" lvl="0" marL="0" rtl="0" algn="l">
              <a:spcBef>
                <a:spcPts val="0"/>
              </a:spcBef>
              <a:spcAft>
                <a:spcPts val="0"/>
              </a:spcAft>
              <a:buNone/>
            </a:pPr>
            <a:r>
              <a:rPr lang="zh-TW" sz="1800">
                <a:solidFill>
                  <a:schemeClr val="dk2"/>
                </a:solidFill>
              </a:rPr>
              <a:t>reserve 如果所有房間都是滿的  </a:t>
            </a:r>
            <a:endParaRPr sz="1800">
              <a:solidFill>
                <a:schemeClr val="dk2"/>
              </a:solidFill>
            </a:endParaRPr>
          </a:p>
          <a:p>
            <a:pPr indent="0" lvl="0" marL="0" rtl="0" algn="l">
              <a:spcBef>
                <a:spcPts val="0"/>
              </a:spcBef>
              <a:spcAft>
                <a:spcPts val="0"/>
              </a:spcAft>
              <a:buNone/>
            </a:pPr>
            <a:r>
              <a:rPr lang="zh-TW" sz="1800">
                <a:solidFill>
                  <a:schemeClr val="dk2"/>
                </a:solidFill>
              </a:rPr>
              <a:t>就會把該名使用者加入 wait queue</a:t>
            </a:r>
            <a:endParaRPr sz="1800">
              <a:solidFill>
                <a:schemeClr val="dk2"/>
              </a:solidFill>
            </a:endParaRPr>
          </a:p>
          <a:p>
            <a:pPr indent="0" lvl="0" marL="0" rtl="0" algn="l">
              <a:spcBef>
                <a:spcPts val="0"/>
              </a:spcBef>
              <a:spcAft>
                <a:spcPts val="0"/>
              </a:spcAft>
              <a:buNone/>
            </a:pPr>
            <a:r>
              <a:rPr lang="zh-TW" sz="1800">
                <a:solidFill>
                  <a:schemeClr val="dk2"/>
                </a:solidFill>
              </a:rPr>
              <a:t>FIFO, 等到房間空出後再加入</a:t>
            </a:r>
            <a:endParaRPr sz="1800">
              <a:solidFill>
                <a:schemeClr val="dk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細部設計: waiting queue</a:t>
            </a:r>
            <a:endParaRPr/>
          </a:p>
        </p:txBody>
      </p:sp>
      <p:pic>
        <p:nvPicPr>
          <p:cNvPr id="226" name="Google Shape;226;p31"/>
          <p:cNvPicPr preferRelativeResize="0"/>
          <p:nvPr/>
        </p:nvPicPr>
        <p:blipFill rotWithShape="1">
          <a:blip r:embed="rId3">
            <a:alphaModFix/>
          </a:blip>
          <a:srcRect b="0" l="0" r="0" t="0"/>
          <a:stretch/>
        </p:blipFill>
        <p:spPr>
          <a:xfrm>
            <a:off x="4572000" y="199150"/>
            <a:ext cx="4492774" cy="1452950"/>
          </a:xfrm>
          <a:prstGeom prst="rect">
            <a:avLst/>
          </a:prstGeom>
          <a:noFill/>
          <a:ln>
            <a:noFill/>
          </a:ln>
        </p:spPr>
      </p:pic>
      <p:sp>
        <p:nvSpPr>
          <p:cNvPr id="227" name="Google Shape;227;p31"/>
          <p:cNvSpPr txBox="1"/>
          <p:nvPr/>
        </p:nvSpPr>
        <p:spPr>
          <a:xfrm>
            <a:off x="0" y="1131800"/>
            <a:ext cx="42072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800">
                <a:solidFill>
                  <a:schemeClr val="dk2"/>
                </a:solidFill>
              </a:rPr>
              <a:t>房間都是滿的情況下, Jame(555),Jenny(444) </a:t>
            </a:r>
            <a:r>
              <a:rPr lang="zh-TW" sz="1800">
                <a:solidFill>
                  <a:schemeClr val="dk2"/>
                </a:solidFill>
              </a:rPr>
              <a:t>預約房間0 會被加入 waiting queue</a:t>
            </a:r>
            <a:r>
              <a:rPr lang="zh-TW" sz="1800">
                <a:solidFill>
                  <a:schemeClr val="dk2"/>
                </a:solidFill>
              </a:rPr>
              <a:t> </a:t>
            </a:r>
            <a:endParaRPr sz="1800">
              <a:solidFill>
                <a:schemeClr val="dk2"/>
              </a:solidFill>
            </a:endParaRPr>
          </a:p>
        </p:txBody>
      </p:sp>
      <p:pic>
        <p:nvPicPr>
          <p:cNvPr id="228" name="Google Shape;228;p31"/>
          <p:cNvPicPr preferRelativeResize="0"/>
          <p:nvPr/>
        </p:nvPicPr>
        <p:blipFill>
          <a:blip r:embed="rId4">
            <a:alphaModFix/>
          </a:blip>
          <a:stretch>
            <a:fillRect/>
          </a:stretch>
        </p:blipFill>
        <p:spPr>
          <a:xfrm>
            <a:off x="4354775" y="1702593"/>
            <a:ext cx="4710001" cy="1523204"/>
          </a:xfrm>
          <a:prstGeom prst="rect">
            <a:avLst/>
          </a:prstGeom>
          <a:noFill/>
          <a:ln>
            <a:noFill/>
          </a:ln>
        </p:spPr>
      </p:pic>
      <p:pic>
        <p:nvPicPr>
          <p:cNvPr id="229" name="Google Shape;229;p31"/>
          <p:cNvPicPr preferRelativeResize="0"/>
          <p:nvPr/>
        </p:nvPicPr>
        <p:blipFill>
          <a:blip r:embed="rId5">
            <a:alphaModFix/>
          </a:blip>
          <a:stretch>
            <a:fillRect/>
          </a:stretch>
        </p:blipFill>
        <p:spPr>
          <a:xfrm>
            <a:off x="3939075" y="3341672"/>
            <a:ext cx="5204924" cy="1612903"/>
          </a:xfrm>
          <a:prstGeom prst="rect">
            <a:avLst/>
          </a:prstGeom>
          <a:noFill/>
          <a:ln>
            <a:noFill/>
          </a:ln>
        </p:spPr>
      </p:pic>
      <p:sp>
        <p:nvSpPr>
          <p:cNvPr id="230" name="Google Shape;230;p31"/>
          <p:cNvSpPr txBox="1"/>
          <p:nvPr/>
        </p:nvSpPr>
        <p:spPr>
          <a:xfrm>
            <a:off x="0" y="2571750"/>
            <a:ext cx="4571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800">
                <a:solidFill>
                  <a:schemeClr val="dk2"/>
                </a:solidFill>
              </a:rPr>
              <a:t>房間0 </a:t>
            </a:r>
            <a:r>
              <a:rPr lang="zh-TW" sz="1800">
                <a:solidFill>
                  <a:schemeClr val="dk2"/>
                </a:solidFill>
              </a:rPr>
              <a:t>空了之後</a:t>
            </a:r>
            <a:r>
              <a:rPr lang="zh-TW" sz="1800">
                <a:solidFill>
                  <a:schemeClr val="dk2"/>
                </a:solidFill>
              </a:rPr>
              <a:t>, Jame(555) 從waiting </a:t>
            </a:r>
            <a:endParaRPr sz="1800">
              <a:solidFill>
                <a:schemeClr val="dk2"/>
              </a:solidFill>
            </a:endParaRPr>
          </a:p>
          <a:p>
            <a:pPr indent="0" lvl="0" marL="0" rtl="0" algn="l">
              <a:spcBef>
                <a:spcPts val="0"/>
              </a:spcBef>
              <a:spcAft>
                <a:spcPts val="0"/>
              </a:spcAft>
              <a:buNone/>
            </a:pPr>
            <a:r>
              <a:rPr lang="zh-TW" sz="1800">
                <a:solidFill>
                  <a:schemeClr val="dk2"/>
                </a:solidFill>
              </a:rPr>
              <a:t>queue </a:t>
            </a:r>
            <a:r>
              <a:rPr lang="zh-TW" sz="1800">
                <a:solidFill>
                  <a:schemeClr val="dk2"/>
                </a:solidFill>
              </a:rPr>
              <a:t>中被 deque 並進入 reserve 狀態</a:t>
            </a:r>
            <a:endParaRPr sz="1800">
              <a:solidFill>
                <a:schemeClr val="dk2"/>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2"/>
          <p:cNvSpPr txBox="1"/>
          <p:nvPr>
            <p:ph type="title"/>
          </p:nvPr>
        </p:nvSpPr>
        <p:spPr>
          <a:xfrm>
            <a:off x="193250" y="1912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細部設計  semaphore </a:t>
            </a:r>
            <a:endParaRPr/>
          </a:p>
        </p:txBody>
      </p:sp>
      <p:sp>
        <p:nvSpPr>
          <p:cNvPr id="236" name="Google Shape;236;p32"/>
          <p:cNvSpPr txBox="1"/>
          <p:nvPr>
            <p:ph idx="1" type="body"/>
          </p:nvPr>
        </p:nvSpPr>
        <p:spPr>
          <a:xfrm>
            <a:off x="311700" y="763950"/>
            <a:ext cx="8520600" cy="101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t>使用 mutex_lock避免多個thread (使用者)存取房間狀態的時候 race condition</a:t>
            </a:r>
            <a:endParaRPr/>
          </a:p>
          <a:p>
            <a:pPr indent="0" lvl="0" marL="0" rtl="0" algn="l">
              <a:spcBef>
                <a:spcPts val="1200"/>
              </a:spcBef>
              <a:spcAft>
                <a:spcPts val="1200"/>
              </a:spcAft>
              <a:buNone/>
            </a:pPr>
            <a:r>
              <a:rPr lang="zh-TW"/>
              <a:t>example : reserve_room</a:t>
            </a:r>
            <a:endParaRPr/>
          </a:p>
        </p:txBody>
      </p:sp>
      <p:pic>
        <p:nvPicPr>
          <p:cNvPr id="237" name="Google Shape;237;p32"/>
          <p:cNvPicPr preferRelativeResize="0"/>
          <p:nvPr/>
        </p:nvPicPr>
        <p:blipFill>
          <a:blip r:embed="rId3">
            <a:alphaModFix/>
          </a:blip>
          <a:stretch>
            <a:fillRect/>
          </a:stretch>
        </p:blipFill>
        <p:spPr>
          <a:xfrm>
            <a:off x="515050" y="1740775"/>
            <a:ext cx="5238251" cy="32981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細部設計  timer  </a:t>
            </a:r>
            <a:endParaRPr/>
          </a:p>
        </p:txBody>
      </p:sp>
      <p:sp>
        <p:nvSpPr>
          <p:cNvPr id="243" name="Google Shape;243;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t>volatile sig_atomic_t g_tick  // global tick counter</a:t>
            </a:r>
            <a:endParaRPr/>
          </a:p>
          <a:p>
            <a:pPr indent="0" lvl="0" marL="0" rtl="0" algn="l">
              <a:spcBef>
                <a:spcPts val="1200"/>
              </a:spcBef>
              <a:spcAft>
                <a:spcPts val="0"/>
              </a:spcAft>
              <a:buNone/>
            </a:pPr>
            <a:r>
              <a:rPr lang="zh-TW"/>
              <a:t>tick_handler: 100ms 被呼叫一次</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zh-TW"/>
              <a:t>使用 ITIMER_REAL</a:t>
            </a:r>
            <a:endParaRPr/>
          </a:p>
        </p:txBody>
      </p:sp>
      <p:pic>
        <p:nvPicPr>
          <p:cNvPr id="244" name="Google Shape;244;p33"/>
          <p:cNvPicPr preferRelativeResize="0"/>
          <p:nvPr/>
        </p:nvPicPr>
        <p:blipFill>
          <a:blip r:embed="rId3">
            <a:alphaModFix/>
          </a:blip>
          <a:stretch>
            <a:fillRect/>
          </a:stretch>
        </p:blipFill>
        <p:spPr>
          <a:xfrm>
            <a:off x="311700" y="2050662"/>
            <a:ext cx="4483626" cy="999026"/>
          </a:xfrm>
          <a:prstGeom prst="rect">
            <a:avLst/>
          </a:prstGeom>
          <a:noFill/>
          <a:ln>
            <a:noFill/>
          </a:ln>
        </p:spPr>
      </p:pic>
      <p:pic>
        <p:nvPicPr>
          <p:cNvPr id="245" name="Google Shape;245;p33"/>
          <p:cNvPicPr preferRelativeResize="0"/>
          <p:nvPr/>
        </p:nvPicPr>
        <p:blipFill>
          <a:blip r:embed="rId4">
            <a:alphaModFix/>
          </a:blip>
          <a:stretch>
            <a:fillRect/>
          </a:stretch>
        </p:blipFill>
        <p:spPr>
          <a:xfrm>
            <a:off x="4522713" y="2050638"/>
            <a:ext cx="3819525" cy="771525"/>
          </a:xfrm>
          <a:prstGeom prst="rect">
            <a:avLst/>
          </a:prstGeom>
          <a:noFill/>
          <a:ln>
            <a:noFill/>
          </a:ln>
        </p:spPr>
      </p:pic>
      <p:pic>
        <p:nvPicPr>
          <p:cNvPr id="246" name="Google Shape;246;p33"/>
          <p:cNvPicPr preferRelativeResize="0"/>
          <p:nvPr/>
        </p:nvPicPr>
        <p:blipFill>
          <a:blip r:embed="rId5">
            <a:alphaModFix/>
          </a:blip>
          <a:stretch>
            <a:fillRect/>
          </a:stretch>
        </p:blipFill>
        <p:spPr>
          <a:xfrm>
            <a:off x="366713" y="3423875"/>
            <a:ext cx="6448425" cy="11049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細部設計  timer  </a:t>
            </a:r>
            <a:endParaRPr/>
          </a:p>
        </p:txBody>
      </p:sp>
      <p:sp>
        <p:nvSpPr>
          <p:cNvPr id="252" name="Google Shape;252;p34"/>
          <p:cNvSpPr txBox="1"/>
          <p:nvPr>
            <p:ph idx="1" type="body"/>
          </p:nvPr>
        </p:nvSpPr>
        <p:spPr>
          <a:xfrm>
            <a:off x="311700" y="1152475"/>
            <a:ext cx="8520600" cy="37593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zh-TW"/>
              <a:t>timer worker thread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zh-TW"/>
              <a:t>timer_worker   : while loop , 每隔10ms scan 每個房間的狀態 </a:t>
            </a:r>
            <a:endParaRPr/>
          </a:p>
          <a:p>
            <a:pPr indent="0" lvl="0" marL="0" rtl="0" algn="l">
              <a:spcBef>
                <a:spcPts val="1200"/>
              </a:spcBef>
              <a:spcAft>
                <a:spcPts val="0"/>
              </a:spcAft>
              <a:buNone/>
            </a:pPr>
            <a:r>
              <a:rPr lang="zh-TW"/>
              <a:t>如果 reserve 超過 5s 沒有check in 就會被自動 release </a:t>
            </a:r>
            <a:endParaRPr/>
          </a:p>
          <a:p>
            <a:pPr indent="0" lvl="0" marL="0" rtl="0" algn="l">
              <a:spcBef>
                <a:spcPts val="1200"/>
              </a:spcBef>
              <a:spcAft>
                <a:spcPts val="0"/>
              </a:spcAft>
              <a:buNone/>
            </a:pPr>
            <a:r>
              <a:rPr lang="zh-TW"/>
              <a:t>候補機制:</a:t>
            </a:r>
            <a:r>
              <a:rPr lang="zh-TW"/>
              <a:t> </a:t>
            </a:r>
            <a:r>
              <a:rPr lang="zh-TW"/>
              <a:t>如果讀書是在使用中並且當前沒有任何空讀書室，</a:t>
            </a:r>
            <a:r>
              <a:rPr lang="zh-TW"/>
              <a:t>reserve會進入到waiting list</a:t>
            </a:r>
            <a:endParaRPr/>
          </a:p>
          <a:p>
            <a:pPr indent="0" lvl="0" marL="0" rtl="0" algn="l">
              <a:spcBef>
                <a:spcPts val="1200"/>
              </a:spcBef>
              <a:spcAft>
                <a:spcPts val="0"/>
              </a:spcAft>
              <a:buNone/>
            </a:pPr>
            <a:r>
              <a:rPr lang="zh-TW"/>
              <a:t>當房間釋放時候補名單中以(FIFO)依序checkin</a:t>
            </a:r>
            <a:endParaRPr/>
          </a:p>
          <a:p>
            <a:pPr indent="0" lvl="0" marL="0" rtl="0" algn="l">
              <a:spcBef>
                <a:spcPts val="1200"/>
              </a:spcBef>
              <a:spcAft>
                <a:spcPts val="0"/>
              </a:spcAft>
              <a:buNone/>
            </a:pPr>
            <a:r>
              <a:rPr lang="zh-TW"/>
              <a:t>如果 in_use &amp;&amp; (extend==0) 超過 30s 就會被自動 release</a:t>
            </a:r>
            <a:endParaRPr/>
          </a:p>
          <a:p>
            <a:pPr indent="0" lvl="0" marL="0" rtl="0" algn="l">
              <a:spcBef>
                <a:spcPts val="1200"/>
              </a:spcBef>
              <a:spcAft>
                <a:spcPts val="0"/>
              </a:spcAft>
              <a:buNone/>
            </a:pPr>
            <a:r>
              <a:rPr lang="zh-TW"/>
              <a:t>        in_use &amp;&amp; (extend==1) 超過 60s 就會被自動 release</a:t>
            </a:r>
            <a:endParaRPr/>
          </a:p>
          <a:p>
            <a:pPr indent="0" lvl="0" marL="0" rtl="0" algn="l">
              <a:spcBef>
                <a:spcPts val="1200"/>
              </a:spcBef>
              <a:spcAft>
                <a:spcPts val="1200"/>
              </a:spcAft>
              <a:buNone/>
            </a:pPr>
            <a:r>
              <a:t/>
            </a:r>
            <a:endParaRPr/>
          </a:p>
        </p:txBody>
      </p:sp>
      <p:pic>
        <p:nvPicPr>
          <p:cNvPr id="253" name="Google Shape;253;p34"/>
          <p:cNvPicPr preferRelativeResize="0"/>
          <p:nvPr/>
        </p:nvPicPr>
        <p:blipFill rotWithShape="1">
          <a:blip r:embed="rId3">
            <a:alphaModFix/>
          </a:blip>
          <a:srcRect b="9877" l="0" r="44481" t="0"/>
          <a:stretch/>
        </p:blipFill>
        <p:spPr>
          <a:xfrm>
            <a:off x="516025" y="1547275"/>
            <a:ext cx="5076524" cy="5352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type="title"/>
          </p:nvPr>
        </p:nvSpPr>
        <p:spPr>
          <a:xfrm>
            <a:off x="66375"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細部設計  timer  </a:t>
            </a:r>
            <a:endParaRPr/>
          </a:p>
        </p:txBody>
      </p:sp>
      <p:pic>
        <p:nvPicPr>
          <p:cNvPr id="259" name="Google Shape;259;p35"/>
          <p:cNvPicPr preferRelativeResize="0"/>
          <p:nvPr/>
        </p:nvPicPr>
        <p:blipFill>
          <a:blip r:embed="rId3">
            <a:alphaModFix/>
          </a:blip>
          <a:stretch>
            <a:fillRect/>
          </a:stretch>
        </p:blipFill>
        <p:spPr>
          <a:xfrm>
            <a:off x="186225" y="572700"/>
            <a:ext cx="5002675" cy="1617750"/>
          </a:xfrm>
          <a:prstGeom prst="rect">
            <a:avLst/>
          </a:prstGeom>
          <a:noFill/>
          <a:ln>
            <a:noFill/>
          </a:ln>
        </p:spPr>
      </p:pic>
      <p:pic>
        <p:nvPicPr>
          <p:cNvPr id="260" name="Google Shape;260;p35"/>
          <p:cNvPicPr preferRelativeResize="0"/>
          <p:nvPr/>
        </p:nvPicPr>
        <p:blipFill>
          <a:blip r:embed="rId4">
            <a:alphaModFix/>
          </a:blip>
          <a:stretch>
            <a:fillRect/>
          </a:stretch>
        </p:blipFill>
        <p:spPr>
          <a:xfrm>
            <a:off x="186225" y="2190450"/>
            <a:ext cx="6334574" cy="2912450"/>
          </a:xfrm>
          <a:prstGeom prst="rect">
            <a:avLst/>
          </a:prstGeom>
          <a:noFill/>
          <a:ln>
            <a:noFill/>
          </a:ln>
        </p:spPr>
      </p:pic>
      <p:sp>
        <p:nvSpPr>
          <p:cNvPr id="261" name="Google Shape;261;p35"/>
          <p:cNvSpPr txBox="1"/>
          <p:nvPr/>
        </p:nvSpPr>
        <p:spPr>
          <a:xfrm>
            <a:off x="5188900" y="1164675"/>
            <a:ext cx="39696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800">
                <a:solidFill>
                  <a:schemeClr val="dk2"/>
                </a:solidFill>
              </a:rPr>
              <a:t>nano sleep 10ms 避免busy loop, </a:t>
            </a:r>
            <a:endParaRPr sz="1800">
              <a:solidFill>
                <a:schemeClr val="dk2"/>
              </a:solidFill>
            </a:endParaRPr>
          </a:p>
          <a:p>
            <a:pPr indent="0" lvl="0" marL="0" rtl="0" algn="l">
              <a:spcBef>
                <a:spcPts val="0"/>
              </a:spcBef>
              <a:spcAft>
                <a:spcPts val="0"/>
              </a:spcAft>
              <a:buNone/>
            </a:pPr>
            <a:r>
              <a:rPr lang="zh-TW" sz="1800">
                <a:solidFill>
                  <a:schemeClr val="dk2"/>
                </a:solidFill>
              </a:rPr>
              <a:t>每 10ms 確認房間狀態</a:t>
            </a:r>
            <a:endParaRPr sz="1800">
              <a:solidFill>
                <a:schemeClr val="dk2"/>
              </a:solidFill>
            </a:endParaRPr>
          </a:p>
        </p:txBody>
      </p:sp>
      <p:sp>
        <p:nvSpPr>
          <p:cNvPr id="262" name="Google Shape;262;p35"/>
          <p:cNvSpPr txBox="1"/>
          <p:nvPr/>
        </p:nvSpPr>
        <p:spPr>
          <a:xfrm>
            <a:off x="6520800" y="2278725"/>
            <a:ext cx="25746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800">
                <a:solidFill>
                  <a:schemeClr val="dk2"/>
                </a:solidFill>
              </a:rPr>
              <a:t>scan 每個房間 state, 如果超過時間就release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ncurse gui</a:t>
            </a:r>
            <a:endParaRPr/>
          </a:p>
        </p:txBody>
      </p:sp>
      <p:pic>
        <p:nvPicPr>
          <p:cNvPr id="268" name="Google Shape;268;p36"/>
          <p:cNvPicPr preferRelativeResize="0"/>
          <p:nvPr/>
        </p:nvPicPr>
        <p:blipFill>
          <a:blip r:embed="rId3">
            <a:alphaModFix/>
          </a:blip>
          <a:stretch>
            <a:fillRect/>
          </a:stretch>
        </p:blipFill>
        <p:spPr>
          <a:xfrm>
            <a:off x="152400" y="2269875"/>
            <a:ext cx="2438400" cy="1828800"/>
          </a:xfrm>
          <a:prstGeom prst="rect">
            <a:avLst/>
          </a:prstGeom>
          <a:noFill/>
          <a:ln>
            <a:noFill/>
          </a:ln>
        </p:spPr>
      </p:pic>
      <p:pic>
        <p:nvPicPr>
          <p:cNvPr id="269" name="Google Shape;269;p36"/>
          <p:cNvPicPr preferRelativeResize="0"/>
          <p:nvPr/>
        </p:nvPicPr>
        <p:blipFill>
          <a:blip r:embed="rId4">
            <a:alphaModFix/>
          </a:blip>
          <a:stretch>
            <a:fillRect/>
          </a:stretch>
        </p:blipFill>
        <p:spPr>
          <a:xfrm>
            <a:off x="2760125" y="2269875"/>
            <a:ext cx="2438400" cy="1828800"/>
          </a:xfrm>
          <a:prstGeom prst="rect">
            <a:avLst/>
          </a:prstGeom>
          <a:noFill/>
          <a:ln>
            <a:noFill/>
          </a:ln>
        </p:spPr>
      </p:pic>
      <p:pic>
        <p:nvPicPr>
          <p:cNvPr id="270" name="Google Shape;270;p36"/>
          <p:cNvPicPr preferRelativeResize="0"/>
          <p:nvPr/>
        </p:nvPicPr>
        <p:blipFill>
          <a:blip r:embed="rId5">
            <a:alphaModFix/>
          </a:blip>
          <a:stretch>
            <a:fillRect/>
          </a:stretch>
        </p:blipFill>
        <p:spPr>
          <a:xfrm>
            <a:off x="5541225" y="2269875"/>
            <a:ext cx="2438400" cy="1828800"/>
          </a:xfrm>
          <a:prstGeom prst="rect">
            <a:avLst/>
          </a:prstGeom>
          <a:noFill/>
          <a:ln>
            <a:noFill/>
          </a:ln>
        </p:spPr>
      </p:pic>
      <p:sp>
        <p:nvSpPr>
          <p:cNvPr id="271" name="Google Shape;271;p36"/>
          <p:cNvSpPr txBox="1"/>
          <p:nvPr/>
        </p:nvSpPr>
        <p:spPr>
          <a:xfrm>
            <a:off x="559050" y="1151925"/>
            <a:ext cx="48729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800">
                <a:solidFill>
                  <a:schemeClr val="dk2"/>
                </a:solidFill>
              </a:rPr>
              <a:t>在 client 使用 ncurse gui 的下拉選單來發送 command 到 server</a:t>
            </a:r>
            <a:endParaRPr sz="1800">
              <a:solidFill>
                <a:schemeClr val="dk2"/>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7"/>
          <p:cNvSpPr txBox="1"/>
          <p:nvPr>
            <p:ph type="title"/>
          </p:nvPr>
        </p:nvSpPr>
        <p:spPr>
          <a:xfrm>
            <a:off x="224705" y="20925"/>
            <a:ext cx="7263600" cy="572700"/>
          </a:xfrm>
          <a:prstGeom prst="rect">
            <a:avLst/>
          </a:prstGeom>
        </p:spPr>
        <p:txBody>
          <a:bodyPr anchorCtr="0" anchor="t" bIns="91425" lIns="91425" spcFirstLastPara="1" rIns="91425" wrap="square" tIns="91425">
            <a:noAutofit/>
          </a:bodyPr>
          <a:lstStyle/>
          <a:p>
            <a:pPr indent="0" lvl="0" marL="0" rtl="0" algn="l">
              <a:lnSpc>
                <a:spcPct val="200000"/>
              </a:lnSpc>
              <a:spcBef>
                <a:spcPts val="0"/>
              </a:spcBef>
              <a:spcAft>
                <a:spcPts val="1200"/>
              </a:spcAft>
              <a:buNone/>
            </a:pPr>
            <a:r>
              <a:rPr lang="zh-TW">
                <a:solidFill>
                  <a:srgbClr val="002F4A"/>
                </a:solidFill>
                <a:latin typeface="Microsoft JhengHei"/>
                <a:ea typeface="Microsoft JhengHei"/>
                <a:cs typeface="Microsoft JhengHei"/>
                <a:sym typeface="Microsoft JhengHei"/>
              </a:rPr>
              <a:t>過程中遇到的困難與解決方法</a:t>
            </a:r>
            <a:endParaRPr sz="2100">
              <a:solidFill>
                <a:schemeClr val="dk2"/>
              </a:solidFill>
            </a:endParaRPr>
          </a:p>
        </p:txBody>
      </p:sp>
      <p:sp>
        <p:nvSpPr>
          <p:cNvPr id="277" name="Google Shape;277;p37"/>
          <p:cNvSpPr txBox="1"/>
          <p:nvPr>
            <p:ph idx="1" type="body"/>
          </p:nvPr>
        </p:nvSpPr>
        <p:spPr>
          <a:xfrm>
            <a:off x="224700" y="995394"/>
            <a:ext cx="8520600" cy="4148100"/>
          </a:xfrm>
          <a:prstGeom prst="rect">
            <a:avLst/>
          </a:prstGeom>
        </p:spPr>
        <p:txBody>
          <a:bodyPr anchorCtr="0" anchor="t" bIns="91425" lIns="91425" spcFirstLastPara="1" rIns="91425" wrap="square" tIns="91425">
            <a:normAutofit/>
          </a:bodyPr>
          <a:lstStyle/>
          <a:p>
            <a:pPr indent="-317500" lvl="0" marL="457200" rtl="0" algn="l">
              <a:lnSpc>
                <a:spcPct val="95000"/>
              </a:lnSpc>
              <a:spcBef>
                <a:spcPts val="0"/>
              </a:spcBef>
              <a:spcAft>
                <a:spcPts val="0"/>
              </a:spcAft>
              <a:buSzPts val="1400"/>
              <a:buChar char="●"/>
            </a:pPr>
            <a:r>
              <a:rPr b="1" lang="zh-TW" sz="1400"/>
              <a:t>問題 1：多使用者同時預約導致 race condition</a:t>
            </a:r>
            <a:endParaRPr b="1" sz="1400"/>
          </a:p>
          <a:p>
            <a:pPr indent="0" lvl="0" marL="0" rtl="0" algn="l">
              <a:lnSpc>
                <a:spcPct val="95000"/>
              </a:lnSpc>
              <a:spcBef>
                <a:spcPts val="1200"/>
              </a:spcBef>
              <a:spcAft>
                <a:spcPts val="0"/>
              </a:spcAft>
              <a:buSzPts val="275"/>
              <a:buNone/>
            </a:pPr>
            <a:r>
              <a:rPr lang="zh-TW" sz="1400"/>
              <a:t>　Solution: 使用 mutex 鎖定房間表，確保僅一個任務可修改狀態</a:t>
            </a:r>
            <a:endParaRPr sz="1400"/>
          </a:p>
          <a:p>
            <a:pPr indent="-317500" lvl="0" marL="457200" rtl="0" algn="l">
              <a:lnSpc>
                <a:spcPct val="95000"/>
              </a:lnSpc>
              <a:spcBef>
                <a:spcPts val="1200"/>
              </a:spcBef>
              <a:spcAft>
                <a:spcPts val="0"/>
              </a:spcAft>
              <a:buSzPts val="1400"/>
              <a:buChar char="●"/>
            </a:pPr>
            <a:r>
              <a:rPr b="1" lang="zh-TW" sz="1400"/>
              <a:t>問題 2：</a:t>
            </a:r>
            <a:r>
              <a:rPr b="1" lang="zh-TW" sz="1400"/>
              <a:t>多人合作的挑戰</a:t>
            </a:r>
            <a:endParaRPr b="1" sz="1400"/>
          </a:p>
          <a:p>
            <a:pPr indent="0" lvl="0" marL="0" rtl="0" algn="l">
              <a:lnSpc>
                <a:spcPct val="95000"/>
              </a:lnSpc>
              <a:spcBef>
                <a:spcPts val="1200"/>
              </a:spcBef>
              <a:spcAft>
                <a:spcPts val="0"/>
              </a:spcAft>
              <a:buNone/>
            </a:pPr>
            <a:r>
              <a:rPr b="1" lang="zh-TW" sz="1400"/>
              <a:t>   </a:t>
            </a:r>
            <a:r>
              <a:rPr lang="zh-TW" sz="1400"/>
              <a:t>Solution: 盡量負責不會互相干擾的功能</a:t>
            </a:r>
            <a:endParaRPr sz="1400"/>
          </a:p>
          <a:p>
            <a:pPr indent="-317500" lvl="0" marL="457200" rtl="0" algn="l">
              <a:lnSpc>
                <a:spcPct val="95000"/>
              </a:lnSpc>
              <a:spcBef>
                <a:spcPts val="1200"/>
              </a:spcBef>
              <a:spcAft>
                <a:spcPts val="0"/>
              </a:spcAft>
              <a:buSzPts val="1400"/>
              <a:buChar char="●"/>
            </a:pPr>
            <a:r>
              <a:rPr b="1" lang="zh-TW" sz="1400"/>
              <a:t>問題 3：按鈕抖動造成重複觸發</a:t>
            </a:r>
            <a:endParaRPr b="1" sz="1400"/>
          </a:p>
          <a:p>
            <a:pPr indent="0" lvl="0" marL="0" rtl="0" algn="l">
              <a:lnSpc>
                <a:spcPct val="95000"/>
              </a:lnSpc>
              <a:spcBef>
                <a:spcPts val="1200"/>
              </a:spcBef>
              <a:spcAft>
                <a:spcPts val="0"/>
              </a:spcAft>
              <a:buSzPts val="275"/>
              <a:buNone/>
            </a:pPr>
            <a:r>
              <a:rPr lang="zh-TW" sz="1400"/>
              <a:t>　Solution</a:t>
            </a:r>
            <a:r>
              <a:rPr lang="zh-TW" sz="1400"/>
              <a:t> :  </a:t>
            </a:r>
            <a:r>
              <a:rPr lang="zh-TW" sz="1400"/>
              <a:t>軟體除抖機制：在 ISR 中加入 ignore window (50~100 ms)</a:t>
            </a:r>
            <a:endParaRPr sz="1400"/>
          </a:p>
          <a:p>
            <a:pPr indent="-317500" lvl="0" marL="457200" rtl="0" algn="l">
              <a:lnSpc>
                <a:spcPct val="95000"/>
              </a:lnSpc>
              <a:spcBef>
                <a:spcPts val="1200"/>
              </a:spcBef>
              <a:spcAft>
                <a:spcPts val="0"/>
              </a:spcAft>
              <a:buSzPts val="1400"/>
              <a:buChar char="●"/>
            </a:pPr>
            <a:r>
              <a:rPr b="1" lang="zh-TW" sz="1400"/>
              <a:t>問題 4：RFID  </a:t>
            </a:r>
            <a:endParaRPr b="1" sz="1400"/>
          </a:p>
          <a:p>
            <a:pPr indent="0" lvl="0" marL="0" rtl="0" algn="l">
              <a:lnSpc>
                <a:spcPct val="95000"/>
              </a:lnSpc>
              <a:spcBef>
                <a:spcPts val="1200"/>
              </a:spcBef>
              <a:spcAft>
                <a:spcPts val="1200"/>
              </a:spcAft>
              <a:buNone/>
            </a:pPr>
            <a:r>
              <a:rPr b="1" lang="zh-TW" sz="1400"/>
              <a:t>   </a:t>
            </a:r>
            <a:r>
              <a:rPr lang="zh-TW" sz="1400"/>
              <a:t>我們原本直接在driver 加入 RFID 但是 RFID 的設計複雜, 沒有時間實做, 所以最後RFID 是用python 串接到server</a:t>
            </a:r>
            <a:endParaRPr b="1" sz="14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pic>
        <p:nvPicPr>
          <p:cNvPr id="282" name="Google Shape;282;p38"/>
          <p:cNvPicPr preferRelativeResize="0"/>
          <p:nvPr/>
        </p:nvPicPr>
        <p:blipFill>
          <a:blip r:embed="rId3">
            <a:alphaModFix/>
          </a:blip>
          <a:stretch>
            <a:fillRect/>
          </a:stretch>
        </p:blipFill>
        <p:spPr>
          <a:xfrm>
            <a:off x="152400" y="152400"/>
            <a:ext cx="4335125" cy="4838700"/>
          </a:xfrm>
          <a:prstGeom prst="rect">
            <a:avLst/>
          </a:prstGeom>
          <a:noFill/>
          <a:ln>
            <a:noFill/>
          </a:ln>
        </p:spPr>
      </p:pic>
      <p:sp>
        <p:nvSpPr>
          <p:cNvPr id="283" name="Google Shape;283;p38"/>
          <p:cNvSpPr txBox="1"/>
          <p:nvPr/>
        </p:nvSpPr>
        <p:spPr>
          <a:xfrm>
            <a:off x="5000400" y="424400"/>
            <a:ext cx="41616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800">
                <a:solidFill>
                  <a:schemeClr val="dk2"/>
                </a:solidFill>
              </a:rPr>
              <a:t>RFID 要設定一堆 register  </a:t>
            </a:r>
            <a:endParaRPr sz="1800">
              <a:solidFill>
                <a:schemeClr val="dk2"/>
              </a:solidFill>
            </a:endParaRPr>
          </a:p>
          <a:p>
            <a:pPr indent="0" lvl="0" marL="0" rtl="0" algn="l">
              <a:spcBef>
                <a:spcPts val="0"/>
              </a:spcBef>
              <a:spcAft>
                <a:spcPts val="0"/>
              </a:spcAft>
              <a:buNone/>
            </a:pPr>
            <a:r>
              <a:rPr lang="zh-TW" sz="1800">
                <a:solidFill>
                  <a:schemeClr val="dk2"/>
                </a:solidFill>
              </a:rPr>
              <a:t>python 大概 兩百多行  </a:t>
            </a:r>
            <a:endParaRPr sz="1800">
              <a:solidFill>
                <a:schemeClr val="dk2"/>
              </a:solidFill>
            </a:endParaRPr>
          </a:p>
          <a:p>
            <a:pPr indent="0" lvl="0" marL="0" rtl="0" algn="l">
              <a:spcBef>
                <a:spcPts val="0"/>
              </a:spcBef>
              <a:spcAft>
                <a:spcPts val="0"/>
              </a:spcAft>
              <a:buNone/>
            </a:pPr>
            <a:r>
              <a:rPr lang="zh-TW" sz="1800">
                <a:solidFill>
                  <a:schemeClr val="dk2"/>
                </a:solidFill>
              </a:rPr>
              <a:t>當然要一行一行翻譯成 c 也是可行的</a:t>
            </a:r>
            <a:endParaRPr sz="1800">
              <a:solidFill>
                <a:schemeClr val="dk2"/>
              </a:solidFill>
            </a:endParaRPr>
          </a:p>
          <a:p>
            <a:pPr indent="0" lvl="0" marL="0" rtl="0" algn="l">
              <a:spcBef>
                <a:spcPts val="0"/>
              </a:spcBef>
              <a:spcAft>
                <a:spcPts val="0"/>
              </a:spcAft>
              <a:buNone/>
            </a:pPr>
            <a:r>
              <a:rPr lang="zh-TW" sz="1800">
                <a:solidFill>
                  <a:schemeClr val="dk2"/>
                </a:solidFill>
              </a:rPr>
              <a:t>不過因為來不及做完所以就直接呼叫現成的python library 了 </a:t>
            </a:r>
            <a:endParaRPr sz="1800">
              <a:solidFill>
                <a:schemeClr val="dk2"/>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9"/>
          <p:cNvSpPr txBox="1"/>
          <p:nvPr>
            <p:ph type="title"/>
          </p:nvPr>
        </p:nvSpPr>
        <p:spPr>
          <a:xfrm>
            <a:off x="224705" y="20925"/>
            <a:ext cx="7263600" cy="572700"/>
          </a:xfrm>
          <a:prstGeom prst="rect">
            <a:avLst/>
          </a:prstGeom>
        </p:spPr>
        <p:txBody>
          <a:bodyPr anchorCtr="0" anchor="t" bIns="91425" lIns="91425" spcFirstLastPara="1" rIns="91425" wrap="square" tIns="91425">
            <a:noAutofit/>
          </a:bodyPr>
          <a:lstStyle/>
          <a:p>
            <a:pPr indent="0" lvl="0" marL="0" rtl="0" algn="l">
              <a:lnSpc>
                <a:spcPct val="200000"/>
              </a:lnSpc>
              <a:spcBef>
                <a:spcPts val="0"/>
              </a:spcBef>
              <a:spcAft>
                <a:spcPts val="1200"/>
              </a:spcAft>
              <a:buNone/>
            </a:pPr>
            <a:r>
              <a:rPr lang="zh-TW">
                <a:solidFill>
                  <a:srgbClr val="002F4A"/>
                </a:solidFill>
                <a:latin typeface="Microsoft JhengHei"/>
                <a:ea typeface="Microsoft JhengHei"/>
                <a:cs typeface="Microsoft JhengHei"/>
                <a:sym typeface="Microsoft JhengHei"/>
              </a:rPr>
              <a:t>團隊分工</a:t>
            </a:r>
            <a:endParaRPr sz="2100">
              <a:solidFill>
                <a:schemeClr val="dk2"/>
              </a:solidFill>
            </a:endParaRPr>
          </a:p>
        </p:txBody>
      </p:sp>
      <p:sp>
        <p:nvSpPr>
          <p:cNvPr id="289" name="Google Shape;289;p39"/>
          <p:cNvSpPr txBox="1"/>
          <p:nvPr/>
        </p:nvSpPr>
        <p:spPr>
          <a:xfrm>
            <a:off x="880524" y="1338050"/>
            <a:ext cx="7170600" cy="2016000"/>
          </a:xfrm>
          <a:prstGeom prst="rect">
            <a:avLst/>
          </a:prstGeom>
          <a:noFill/>
          <a:ln>
            <a:noFill/>
          </a:ln>
        </p:spPr>
        <p:txBody>
          <a:bodyPr anchorCtr="0" anchor="t" bIns="34275" lIns="68575" spcFirstLastPara="1" rIns="68575" wrap="square" tIns="34275">
            <a:normAutofit fontScale="92500"/>
          </a:bodyPr>
          <a:lstStyle/>
          <a:p>
            <a:pPr indent="-322580" lvl="0" marL="457200" rtl="0" algn="just">
              <a:lnSpc>
                <a:spcPct val="200000"/>
              </a:lnSpc>
              <a:spcBef>
                <a:spcPts val="0"/>
              </a:spcBef>
              <a:spcAft>
                <a:spcPts val="0"/>
              </a:spcAft>
              <a:buClr>
                <a:srgbClr val="31394D"/>
              </a:buClr>
              <a:buSzPct val="100000"/>
              <a:buChar char="●"/>
            </a:pPr>
            <a:r>
              <a:rPr lang="zh-TW" sz="1600">
                <a:solidFill>
                  <a:srgbClr val="31394D"/>
                </a:solidFill>
              </a:rPr>
              <a:t>洪翊庭:client/server/driver </a:t>
            </a:r>
            <a:r>
              <a:rPr lang="zh-TW" sz="1600">
                <a:solidFill>
                  <a:srgbClr val="31394D"/>
                </a:solidFill>
              </a:rPr>
              <a:t>最初版本設計, 7seg,led, 按鈕</a:t>
            </a:r>
            <a:r>
              <a:rPr lang="zh-TW" sz="1600">
                <a:solidFill>
                  <a:srgbClr val="31394D"/>
                </a:solidFill>
              </a:rPr>
              <a:t>串接,ncurse, user waiting queue</a:t>
            </a:r>
            <a:endParaRPr sz="1600"/>
          </a:p>
          <a:p>
            <a:pPr indent="-322580" lvl="0" marL="457200" rtl="0" algn="just">
              <a:lnSpc>
                <a:spcPct val="200000"/>
              </a:lnSpc>
              <a:spcBef>
                <a:spcPts val="0"/>
              </a:spcBef>
              <a:spcAft>
                <a:spcPts val="0"/>
              </a:spcAft>
              <a:buClr>
                <a:srgbClr val="31394D"/>
              </a:buClr>
              <a:buSzPct val="100000"/>
              <a:buChar char="●"/>
            </a:pPr>
            <a:r>
              <a:rPr lang="zh-TW" sz="1600">
                <a:solidFill>
                  <a:srgbClr val="31394D"/>
                </a:solidFill>
              </a:rPr>
              <a:t>朱嘉祥: 7seg </a:t>
            </a:r>
            <a:r>
              <a:rPr lang="zh-TW" sz="1600">
                <a:solidFill>
                  <a:srgbClr val="31394D"/>
                </a:solidFill>
              </a:rPr>
              <a:t>更新, 等待機制, 單日預約限制, ncurse, share memory</a:t>
            </a:r>
            <a:endParaRPr sz="1600"/>
          </a:p>
          <a:p>
            <a:pPr indent="-322580" lvl="0" marL="457200" rtl="0" algn="just">
              <a:lnSpc>
                <a:spcPct val="200000"/>
              </a:lnSpc>
              <a:spcBef>
                <a:spcPts val="0"/>
              </a:spcBef>
              <a:spcAft>
                <a:spcPts val="0"/>
              </a:spcAft>
              <a:buClr>
                <a:srgbClr val="31394D"/>
              </a:buClr>
              <a:buSzPct val="100000"/>
              <a:buChar char="●"/>
            </a:pPr>
            <a:r>
              <a:rPr lang="zh-TW" sz="1600">
                <a:solidFill>
                  <a:srgbClr val="31394D"/>
                </a:solidFill>
              </a:rPr>
              <a:t>謝佳鴻: </a:t>
            </a:r>
            <a:r>
              <a:rPr lang="zh-TW" sz="1600">
                <a:solidFill>
                  <a:srgbClr val="31394D"/>
                </a:solidFill>
              </a:rPr>
              <a:t>rfid 串接, 新增register 機制, 使用者避免重複 reserve, share memory</a:t>
            </a:r>
            <a:endParaRPr sz="1600">
              <a:solidFill>
                <a:srgbClr val="666666"/>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